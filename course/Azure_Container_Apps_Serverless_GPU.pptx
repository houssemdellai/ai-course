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service as a bring-your-own-container GPU execution platform, not a hosted model API. Audience: developers and cloud architects. The deck focuses on inference and production decisions, not distributed model training.</a:t>
            </a:r>
          </a:p>
          <a:p/>
          <a:p>
            <a:r>
              <a:t>Sources consulted 20 October 2026:</a:t>
            </a:r>
          </a:p>
          <a:p>
            <a:r>
              <a:t>GPU overview: https://learn.microsoft.com/en-us/azure/container-apps/gpu-serverless-overview</a:t>
            </a:r>
          </a:p>
          <a:p/>
          <a:p>
            <a:r>
              <a:t>Availability, quotas, prices and platform software can change. Validate the target environment before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examples such as internal assistants, image generation, transcription and periodic batch inference. Avoid promising a specific startup time or unlimited GPU capacity. The developer still owns runtime compatibility, model licensing and application security.</a:t>
            </a:r>
          </a:p>
          <a:p/>
          <a:p>
            <a:r>
              <a:t>Sources consulted 20 October 2026:</a:t>
            </a:r>
          </a:p>
          <a:p>
            <a:r>
              <a:t>GPU overview: https://learn.microsoft.com/en-us/azure/container-apps/gpu-serverless-overview</a:t>
            </a:r>
          </a:p>
          <a:p/>
          <a:p>
            <a:r>
              <a:t>Availability, quotas, prices and platform software can change. Validate the target environment before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middle-layer position described in Microsoft documentation. Hosted APIs may have token or other service-specific billing; do not compare them using GPU rates alone. AKS/VM positioning is architectural guidance. Benchmark sustained workloads against dedicated options before making a cost claim.</a:t>
            </a:r>
          </a:p>
          <a:p/>
          <a:p>
            <a:r>
              <a:t>Sources consulted 20 October 2026:</a:t>
            </a:r>
          </a:p>
          <a:p>
            <a:r>
              <a:t>GPU overview: https://learn.microsoft.com/en-us/azure/container-apps/gpu-serverless-overview</a:t>
            </a:r>
          </a:p>
          <a:p>
            <a:r>
              <a:t>Workload profiles: https://learn.microsoft.com/en-us/azure/container-apps/workload-profiles-overview</a:t>
            </a:r>
          </a:p>
          <a:p/>
          <a:p>
            <a:r>
              <a:t>Availability, quotas, prices and platform software can change. Validate the target environment before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Distinguish the environment type from the billing/profile type: this service uses Consumption GPU profiles, but it requires a workload-profiles environment. The platform's runtime does not remove the need to test the container's own CUDA libraries.</a:t>
            </a:r>
          </a:p>
          <a:p/>
          <a:p>
            <a:r>
              <a:t>Sources consulted 20 October 2026:</a:t>
            </a:r>
          </a:p>
          <a:p>
            <a:r>
              <a:t>GPU overview: https://learn.microsoft.com/en-us/azure/container-apps/gpu-serverless-overview</a:t>
            </a:r>
          </a:p>
          <a:p>
            <a:r>
              <a:t>Workload profiles: https://learn.microsoft.com/en-us/azure/container-apps/workload-profiles-overview</a:t>
            </a:r>
          </a:p>
          <a:p/>
          <a:p>
            <a:r>
              <a:t>Availability, quotas, prices and platform software can change. Validate the target environment before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Memory capacities and profile names come from the GPU comparison and workload profile documentation. Do not turn model file size into a hard fit guarantee. Quantization, context length, batch size and the inference engine all affect memory. A100 being faster does not automatically mean lower total cost for every workload.</a:t>
            </a:r>
          </a:p>
          <a:p/>
          <a:p>
            <a:r>
              <a:t>Sources consulted 20 October 2026:</a:t>
            </a:r>
          </a:p>
          <a:p>
            <a:r>
              <a:t>GPU comparison: https://learn.microsoft.com/en-us/azure/container-apps/gpu-types</a:t>
            </a:r>
          </a:p>
          <a:p>
            <a:r>
              <a:t>Workload profiles: https://learn.microsoft.com/en-us/azure/container-apps/workload-profiles-overview</a:t>
            </a:r>
          </a:p>
          <a:p/>
          <a:p>
            <a:r>
              <a:t>Availability, quotas, prices and platform software can change. Validate the target environment before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listed regions are examples, not the entire regional matrix. The full current matrix is linked in the GPU overview. The docs say enterprise agreement and pay-as-you-go customers have default A100/T4 quota enabled, but always check the actual environment. Quota and available regional capacity are separate planning concerns.</a:t>
            </a:r>
          </a:p>
          <a:p/>
          <a:p>
            <a:r>
              <a:t>Sources consulted 20 October 2026:</a:t>
            </a:r>
          </a:p>
          <a:p>
            <a:r>
              <a:t>GPU overview: https://learn.microsoft.com/en-us/azure/container-apps/gpu-serverless-overview</a:t>
            </a:r>
          </a:p>
          <a:p/>
          <a:p>
            <a:r>
              <a:t>Availability, quotas, prices and platform software can change. Validate the target environment before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architectural recommendation, not an automatically deployed topology. The CPU API can remain independently available while GPU replicas scale to zero. Use internal ingress where appropriate and configure caller authorization. The two GPU replicas shown illustrate scale-out; they are not a minimum requirement. Persistent model artifacts and generated outputs belong outside ephemeral replica storage.</a:t>
            </a:r>
          </a:p>
          <a:p/>
          <a:p>
            <a:r>
              <a:t>Sources consulted 20 October 2026:</a:t>
            </a:r>
          </a:p>
          <a:p>
            <a:r>
              <a:t>GPU overview: https://learn.microsoft.com/en-us/azure/container-apps/gpu-serverless-overview</a:t>
            </a:r>
          </a:p>
          <a:p>
            <a:r>
              <a:t>Scaling: https://learn.microsoft.com/en-us/azure/container-apps/scale-app</a:t>
            </a:r>
          </a:p>
          <a:p/>
          <a:p>
            <a:r>
              <a:t>Availability, quotas, prices and platform software can change. Validate the target environment before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KEDA-backed rules scale replicas. HTTP concurrency is a scaling signal, not a guaranteed per-GPU concurrency setting or an admission-control mechanism. Use HTTP or an appropriate external event scaler for zero-to-one activation. Tune runtime scheduling and queueing separately. Caps constrain exposure but are not a complete budget control, particularly with multiple active revisions.</a:t>
            </a:r>
          </a:p>
          <a:p/>
          <a:p>
            <a:r>
              <a:t>Sources consulted 20 October 2026:</a:t>
            </a:r>
          </a:p>
          <a:p>
            <a:r>
              <a:t>Scaling: https://learn.microsoft.com/en-us/azure/container-apps/scale-app</a:t>
            </a:r>
          </a:p>
          <a:p>
            <a:r>
              <a:t>GPU overview: https://learn.microsoft.com/en-us/azure/container-apps/gpu-serverless-overview</a:t>
            </a:r>
          </a:p>
          <a:p/>
          <a:p>
            <a:r>
              <a:t>Availability, quotas, prices and platform software can change. Validate the target environment before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phases are conceptual, not a guaranteed platform sequence. Artifact streaming requires Azure Container Registry Premium. Storage mounts can reduce repeated internet downloads; benchmark actual mount throughput. GPU workload profiles are excluded from the portal's automatic default probe setup, so configure probes explicitly. Warm minimum replicas reduce cold-start risk but remain billed at active GPU rates.</a:t>
            </a:r>
          </a:p>
          <a:p/>
          <a:p>
            <a:r>
              <a:t>Sources consulted 20 October 2026:</a:t>
            </a:r>
          </a:p>
          <a:p>
            <a:r>
              <a:t>Cold starts: https://learn.microsoft.com/en-us/azure/container-apps/cold-start</a:t>
            </a:r>
          </a:p>
          <a:p>
            <a:r>
              <a:t>GPU overview: https://learn.microsoft.com/en-us/azure/container-apps/gpu-serverless-overview</a:t>
            </a:r>
          </a:p>
          <a:p>
            <a:r>
              <a:t>Health probes: https://learn.microsoft.com/en-us/azure/container-apps/health-probes</a:t>
            </a:r>
          </a:p>
          <a:p>
            <a:r>
              <a:t>Billing: https://learn.microsoft.com/en-us/azure/container-apps/billing</a:t>
            </a:r>
          </a:p>
          <a:p/>
          <a:p>
            <a:r>
              <a:t>Availability, quotas, prices and platform software can change. Validate the target environment before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recommends application patterns, not a particular service deployment. A GPU worker can be a queue-driven Container App. Choose a supported scaler and configure authentication for that event source. Durable task status, poison-message handling and retry policies are application responsibilities. Streaming alone does not make arbitrarily long requests safe.</a:t>
            </a:r>
          </a:p>
          <a:p/>
          <a:p>
            <a:r>
              <a:t>Sources consulted 20 October 2026:</a:t>
            </a:r>
          </a:p>
          <a:p>
            <a:r>
              <a:t>Scaling: https://learn.microsoft.com/en-us/azure/container-apps/scale-app</a:t>
            </a:r>
          </a:p>
          <a:p>
            <a:r>
              <a:t>Cold starts: https://learn.microsoft.com/en-us/azure/container-apps/cold-start</a:t>
            </a:r>
          </a:p>
          <a:p/>
          <a:p>
            <a:r>
              <a:t>Availability, quotas, prices and platform software can change. Validate the target environment before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demo runbook, not a claim that a live Azure deployment was executed. Prepare access to the subscription and a registry in advance. Avoid a huge model download during a live demo. Use a least-privilege identity for image/artifact access. The GPU checkbox and GPU type selection are documented in the serverless overview.</a:t>
            </a:r>
          </a:p>
          <a:p/>
          <a:p>
            <a:r>
              <a:t>Sources consulted 20 October 2026:</a:t>
            </a:r>
          </a:p>
          <a:p>
            <a:r>
              <a:t>GPU overview: https://learn.microsoft.com/en-us/azure/container-apps/gpu-serverless-overview</a:t>
            </a:r>
          </a:p>
          <a:p>
            <a:r>
              <a:t>Health probes: https://learn.microsoft.com/en-us/azure/container-apps/health-probes</a:t>
            </a:r>
          </a:p>
          <a:p>
            <a:r>
              <a:t>Scaling: https://learn.microsoft.com/en-us/azure/container-apps/scale-app</a:t>
            </a:r>
          </a:p>
          <a:p/>
          <a:p>
            <a:r>
              <a:t>Availability, quotas, prices and platform software can change. Validate the target environment before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Capture timestamps for activation, model-ready, first token/result and completion. Record the scale rule and replica count alongside latency; a success response alone does not establish GPU execution. Check billing meters separately; they may lag. The chart and cost example elsewhere in this deck are illustrative, not benchmark results.</a:t>
            </a:r>
          </a:p>
          <a:p/>
          <a:p>
            <a:r>
              <a:t>Sources consulted 20 October 2026:</a:t>
            </a:r>
          </a:p>
          <a:p>
            <a:r>
              <a:t>Scaling: https://learn.microsoft.com/en-us/azure/container-apps/scale-app</a:t>
            </a:r>
          </a:p>
          <a:p>
            <a:r>
              <a:t>Health probes: https://learn.microsoft.com/en-us/azure/container-apps/health-probes</a:t>
            </a:r>
          </a:p>
          <a:p>
            <a:r>
              <a:t>Billing: https://learn.microsoft.com/en-us/azure/container-apps/billing</a:t>
            </a:r>
          </a:p>
          <a:p/>
          <a:p>
            <a:r>
              <a:t>Availability, quotas, prices and platform software can change. Validate the target environment before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arithmetic assumes exactly one allocated GPU for either 24 hours or 2 hours: (86400 - 7200) / 86400 = 91.6667%. It does not assert a 91.7% total bill saving. GPU-seconds, vCPU-seconds and GiB-seconds are distinct consumption meters. Free CPU/memory/request grants do not imply a free GPU grant. No GPU idle-rate discount applies. At zero replicas compute consumption stops, but storage, registry, logs, networking and certain feature fees can remain. Check current rates for the region and agreement.</a:t>
            </a:r>
          </a:p>
          <a:p/>
          <a:p>
            <a:r>
              <a:t>Sources consulted 20 October 2026:</a:t>
            </a:r>
          </a:p>
          <a:p>
            <a:r>
              <a:t>Billing: https://learn.microsoft.com/en-us/azure/container-apps/billing</a:t>
            </a:r>
          </a:p>
          <a:p>
            <a:r>
              <a:t>Pricing: https://azure.microsoft.com/en-us/pricing/details/container-apps/</a:t>
            </a:r>
          </a:p>
          <a:p/>
          <a:p>
            <a:r>
              <a:t>Availability, quotas, prices and platform software can change. Validate the target environment before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recommended application controls, not an audit of a particular deployment. The documentation's container-boundary governance language should not be read as a guarantee that an application's outbound network calls or logging cannot transmit data. Check feature-specific support, charges and networking prerequisites in the target environment.</a:t>
            </a:r>
          </a:p>
          <a:p/>
          <a:p>
            <a:r>
              <a:t>Sources consulted 20 October 2026:</a:t>
            </a:r>
          </a:p>
          <a:p>
            <a:r>
              <a:t>GPU overview: https://learn.microsoft.com/en-us/azure/container-apps/gpu-serverless-overview</a:t>
            </a:r>
          </a:p>
          <a:p>
            <a:r>
              <a:t>Workload profiles: https://learn.microsoft.com/en-us/azure/container-apps/workload-profiles-overview</a:t>
            </a:r>
          </a:p>
          <a:p/>
          <a:p>
            <a:r>
              <a:t>Availability, quotas, prices and platform software can change. Validate the target environment before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GPU utilization and memory, instrument the inference runtime or an appropriate collector; do not assume those metrics appear automatically in Azure Monitor. Separate model inference latency from queue wait and cold-start time. Watch readiness failures, OOMs, image pull errors and rollout regressions. Alert thresholds should be derived from measured workload service objectives.</a:t>
            </a:r>
          </a:p>
          <a:p/>
          <a:p>
            <a:r>
              <a:t>Sources consulted 20 October 2026:</a:t>
            </a:r>
          </a:p>
          <a:p>
            <a:r>
              <a:t>Cold starts: https://learn.microsoft.com/en-us/azure/container-apps/cold-start</a:t>
            </a:r>
          </a:p>
          <a:p>
            <a:r>
              <a:t>Scaling: https://learn.microsoft.com/en-us/azure/container-apps/scale-app</a:t>
            </a:r>
          </a:p>
          <a:p>
            <a:r>
              <a:t>Health probes: https://learn.microsoft.com/en-us/azure/container-apps/health-probes</a:t>
            </a:r>
          </a:p>
          <a:p/>
          <a:p>
            <a:r>
              <a:t>Availability, quotas, prices and platform software can change. Validate the target environment before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constraints are documented for serverless GPUs. The fetched documentation contains a driver/CUDA transition table, so the deck intentionally avoids freezing a particular driver or CUDA version as universally current. Inspect the actual runtime and the live software-stack guidance. Configure startup and readiness probes explicitly on GPU profiles; the portal does not add its standard defaults there.</a:t>
            </a:r>
          </a:p>
          <a:p/>
          <a:p>
            <a:r>
              <a:t>Sources consulted 20 October 2026:</a:t>
            </a:r>
          </a:p>
          <a:p>
            <a:r>
              <a:t>GPU overview: https://learn.microsoft.com/en-us/azure/container-apps/gpu-serverless-overview</a:t>
            </a:r>
          </a:p>
          <a:p>
            <a:r>
              <a:t>Health probes: https://learn.microsoft.com/en-us/azure/container-apps/health-probes</a:t>
            </a:r>
          </a:p>
          <a:p/>
          <a:p>
            <a:r>
              <a:t>Availability, quotas, prices and platform software can change. Validate the target environment before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expresses evaluation directions, not blanket product recommendations. Steady workloads may still favor ACA depending on operational savings and rates. Strict latency objectives require warm capacity and measured tail behavior. ACA serverless GPU does not support multi-GPU replicas; distributed training deserves a platform comparison rather than an assumption of support.</a:t>
            </a:r>
          </a:p>
          <a:p/>
          <a:p>
            <a:r>
              <a:t>Sources consulted 20 October 2026:</a:t>
            </a:r>
          </a:p>
          <a:p>
            <a:r>
              <a:t>GPU overview: https://learn.microsoft.com/en-us/azure/container-apps/gpu-serverless-overview</a:t>
            </a:r>
          </a:p>
          <a:p>
            <a:r>
              <a:t>Workload profiles: https://learn.microsoft.com/en-us/azure/container-apps/workload-profiles-overview</a:t>
            </a:r>
          </a:p>
          <a:p/>
          <a:p>
            <a:r>
              <a:t>Availability, quotas, prices and platform software can change. Validate the target environment before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 these gates into a runbook with owners and workload-specific thresholds. A capacity quota is necessary but cannot by itself guarantee placement. Check scale caps on every serving revision. For strict latency, decide how much warm capacity to pay for. Use representative input sizes and concurrent requests.</a:t>
            </a:r>
          </a:p>
          <a:p/>
          <a:p>
            <a:r>
              <a:t>Sources consulted 20 October 2026:</a:t>
            </a:r>
          </a:p>
          <a:p>
            <a:r>
              <a:t>GPU overview: https://learn.microsoft.com/en-us/azure/container-apps/gpu-serverless-overview</a:t>
            </a:r>
          </a:p>
          <a:p>
            <a:r>
              <a:t>Scaling: https://learn.microsoft.com/en-us/azure/container-apps/scale-app</a:t>
            </a:r>
          </a:p>
          <a:p>
            <a:r>
              <a:t>Billing: https://learn.microsoft.com/en-us/azure/container-apps/billing</a:t>
            </a:r>
          </a:p>
          <a:p>
            <a:r>
              <a:t>Health probes: https://learn.microsoft.com/en-us/azure/container-apps/health-probes</a:t>
            </a:r>
          </a:p>
          <a:p/>
          <a:p>
            <a:r>
              <a:t>Availability, quotas, prices and platform software can change. Validate the target environment before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a bounded proof of concept: start with one licensed model that fits the chosen GPU, a supported region and realistic load. Compare cold-start experience, warm throughput, reliability and cost per successful unit of work. Invite discussion of audience workloads and latency requirements.</a:t>
            </a:r>
          </a:p>
          <a:p/>
          <a:p>
            <a:r>
              <a:t>Sources consulted 20 October 2026:</a:t>
            </a:r>
          </a:p>
          <a:p>
            <a:r>
              <a:t>GPU overview: https://learn.microsoft.com/en-us/azure/container-apps/gpu-serverless-overview</a:t>
            </a:r>
          </a:p>
          <a:p>
            <a:r>
              <a:t>Billing: https://learn.microsoft.com/en-us/azure/container-apps/billing</a:t>
            </a:r>
          </a:p>
          <a:p/>
          <a:p>
            <a:r>
              <a:t>Availability, quotas, prices and platform software can change. Validate the target environment before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factual platform claims in this presentation are grounded in the linked Microsoft sources. Architectural patterns, the acceptance checklist and selection guidance are recommendations. The scaling chart and GPU-seconds example are illustrative. No customer data, live resource identifiers, pricing quotes or fabricated benchmarks are used.</a:t>
            </a:r>
          </a:p>
          <a:p/>
          <a:p>
            <a:r>
              <a:t>Sources consulted 20 October 2026:</a:t>
            </a:r>
          </a:p>
          <a:p>
            <a:r>
              <a:t>GPU overview: https://learn.microsoft.com/en-us/azure/container-apps/gpu-serverless-overview</a:t>
            </a:r>
          </a:p>
          <a:p>
            <a:r>
              <a:t>GPU comparison: https://learn.microsoft.com/en-us/azure/container-apps/gpu-types</a:t>
            </a:r>
          </a:p>
          <a:p>
            <a:r>
              <a:t>Workload profiles: https://learn.microsoft.com/en-us/azure/container-apps/workload-profiles-overview</a:t>
            </a:r>
          </a:p>
          <a:p>
            <a:r>
              <a:t>Scaling: https://learn.microsoft.com/en-us/azure/container-apps/scale-app</a:t>
            </a:r>
          </a:p>
          <a:p>
            <a:r>
              <a:t>Cold starts: https://learn.microsoft.com/en-us/azure/container-apps/cold-start</a:t>
            </a:r>
          </a:p>
          <a:p>
            <a:r>
              <a:t>Billing: https://learn.microsoft.com/en-us/azure/container-apps/billing</a:t>
            </a:r>
          </a:p>
          <a:p>
            <a:r>
              <a:t>Health probes: https://learn.microsoft.com/en-us/azure/container-apps/health-probes</a:t>
            </a:r>
          </a:p>
          <a:p>
            <a:r>
              <a:t>Pricing: https://azure.microsoft.com/en-us/pricing/details/container-apps/</a:t>
            </a:r>
          </a:p>
          <a:p/>
          <a:p>
            <a:r>
              <a:t>Availability, quotas, prices and platform software can change. Validate the target environment before deployment.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azure/container-apps/gpu-serverless-overview"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azure/container-apps/gpu-serverless-overview" TargetMode="Externa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azure/container-apps/gpu-serverless-overview"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azure/container-apps/gpu-serverless-overview" TargetMode="Externa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azure/container-apps/gpu-types"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azure/container-apps/gpu-serverless-overview"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azure/container-apps/gpu-serverless-overview" TargetMode="Externa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azure/container-apps/scale-app" TargetMode="Externa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azure/container-apps/cold-start" TargetMode="Externa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azure/container-apps/scale-app" TargetMode="Externa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azure/container-apps/gpu-serverless-overview" TargetMode="Externa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azure/container-apps/scale-app" TargetMode="Externa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azure/container-apps/billing" TargetMode="Externa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azure/container-apps/gpu-serverless-overview" TargetMode="Externa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azure/container-apps/cold-start" TargetMode="Externa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azure/container-apps/gpu-serverless-overview" TargetMode="Externa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azure/container-apps/gpu-serverless-overview" TargetMode="Externa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azure/container-apps/gpu-serverless-overview" TargetMode="Externa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azure/container-apps/gpu-serverless-overview" TargetMode="Externa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earn.microsoft.com/en-us/azure/container-apps/gpu-serverless-overview" TargetMode="External"/><Relationship Id="rId3" Type="http://schemas.openxmlformats.org/officeDocument/2006/relationships/hyperlink" Target="https://learn.microsoft.com/en-us/azure/container-apps/gpu-types" TargetMode="External"/><Relationship Id="rId4" Type="http://schemas.openxmlformats.org/officeDocument/2006/relationships/hyperlink" Target="https://learn.microsoft.com/en-us/azure/container-apps/workload-profiles-overview" TargetMode="External"/><Relationship Id="rId5" Type="http://schemas.openxmlformats.org/officeDocument/2006/relationships/hyperlink" Target="https://learn.microsoft.com/en-us/azure/container-apps/scale-app" TargetMode="External"/><Relationship Id="rId6" Type="http://schemas.openxmlformats.org/officeDocument/2006/relationships/hyperlink" Target="https://learn.microsoft.com/en-us/azure/container-apps/cold-start" TargetMode="External"/><Relationship Id="rId7" Type="http://schemas.openxmlformats.org/officeDocument/2006/relationships/hyperlink" Target="https://learn.microsoft.com/en-us/azure/container-apps/billing" TargetMode="External"/><Relationship Id="rId8" Type="http://schemas.openxmlformats.org/officeDocument/2006/relationships/hyperlink" Target="https://learn.microsoft.com/en-us/azure/container-apps/health-probes" TargetMode="External"/><Relationship Id="rId9" Type="http://schemas.openxmlformats.org/officeDocument/2006/relationships/hyperlink" Target="https://azure.microsoft.com/en-us/pricing/details/container-apps/" TargetMode="External"/><Relationship Id="rId10"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182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548640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53D5F5"/>
                </a:solidFill>
                <a:latin typeface="Segoe UI"/>
              </a:rPr>
              <a:t>DEVELOPER &amp; ARCHITECT BRIEFING</a:t>
            </a:r>
          </a:p>
        </p:txBody>
      </p:sp>
      <p:sp>
        <p:nvSpPr>
          <p:cNvPr id="4" name="TextBox 3"/>
          <p:cNvSpPr txBox="1"/>
          <p:nvPr/>
        </p:nvSpPr>
        <p:spPr>
          <a:xfrm>
            <a:off x="502920" y="786384"/>
            <a:ext cx="11109960" cy="658368"/>
          </a:xfrm>
          <a:prstGeom prst="rect">
            <a:avLst/>
          </a:prstGeom>
          <a:noFill/>
        </p:spPr>
        <p:txBody>
          <a:bodyPr wrap="square" lIns="9144" rIns="9144" tIns="18288" bIns="18288">
            <a:spAutoFit/>
          </a:bodyPr>
          <a:lstStyle/>
          <a:p>
            <a:pPr algn="l">
              <a:lnSpc>
                <a:spcPct val="112000"/>
              </a:lnSpc>
              <a:spcAft>
                <a:spcPts val="400"/>
              </a:spcAft>
            </a:pPr>
            <a:r>
              <a:rPr sz="3100" b="1">
                <a:solidFill>
                  <a:srgbClr val="F4F8FF"/>
                </a:solidFill>
                <a:latin typeface="Segoe UI"/>
              </a:rPr>
              <a:t>Azure Container Apps</a:t>
            </a:r>
          </a:p>
        </p:txBody>
      </p:sp>
      <p:cxnSp>
        <p:nvCxnSpPr>
          <p:cNvPr id="5" name="Connector 4"/>
          <p:cNvCxnSpPr/>
          <p:nvPr/>
        </p:nvCxnSpPr>
        <p:spPr>
          <a:xfrm>
            <a:off x="502920" y="6327648"/>
            <a:ext cx="11155680" cy="0"/>
          </a:xfrm>
          <a:prstGeom prst="line">
            <a:avLst/>
          </a:prstGeom>
          <a:ln w="10160">
            <a:solidFill>
              <a:srgbClr val="2943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21207" y="6473952"/>
            <a:ext cx="5303520" cy="201168"/>
          </a:xfrm>
          <a:prstGeom prst="rect">
            <a:avLst/>
          </a:prstGeom>
          <a:noFill/>
        </p:spPr>
        <p:txBody>
          <a:bodyPr wrap="square" lIns="9144" rIns="9144" tIns="18288" bIns="18288">
            <a:spAutoFit/>
          </a:bodyPr>
          <a:lstStyle/>
          <a:p>
            <a:pPr algn="l">
              <a:lnSpc>
                <a:spcPct val="112000"/>
              </a:lnSpc>
              <a:spcAft>
                <a:spcPts val="400"/>
              </a:spcAft>
            </a:pPr>
            <a:r>
              <a:rPr sz="900" b="0">
                <a:solidFill>
                  <a:srgbClr val="A5B9D0"/>
                </a:solidFill>
                <a:latin typeface="Segoe UI"/>
              </a:rPr>
              <a:t>AZURE CONTAINER APPS  /  SERVERLESS GPU</a:t>
            </a:r>
          </a:p>
        </p:txBody>
      </p:sp>
      <p:sp>
        <p:nvSpPr>
          <p:cNvPr id="7" name="TextBox 6"/>
          <p:cNvSpPr txBox="1"/>
          <p:nvPr/>
        </p:nvSpPr>
        <p:spPr>
          <a:xfrm>
            <a:off x="5486400" y="6455664"/>
            <a:ext cx="5303520" cy="256032"/>
          </a:xfrm>
          <a:prstGeom prst="rect">
            <a:avLst/>
          </a:prstGeom>
          <a:noFill/>
        </p:spPr>
        <p:txBody>
          <a:bodyPr wrap="square" lIns="9144" rIns="9144" tIns="18288" bIns="18288">
            <a:spAutoFit/>
          </a:bodyPr>
          <a:lstStyle/>
          <a:p>
            <a:pPr algn="r">
              <a:lnSpc>
                <a:spcPct val="112000"/>
              </a:lnSpc>
              <a:spcAft>
                <a:spcPts val="400"/>
              </a:spcAft>
            </a:pPr>
            <a:r>
              <a:rPr sz="900" b="0">
                <a:solidFill>
                  <a:srgbClr val="A5B9D0"/>
                </a:solidFill>
                <a:latin typeface="Segoe UI"/>
                <a:hlinkClick r:id="rId2"/>
              </a:rPr>
              <a:t>Source: GPU overview</a:t>
            </a:r>
          </a:p>
        </p:txBody>
      </p:sp>
      <p:sp>
        <p:nvSpPr>
          <p:cNvPr id="8" name="TextBox 7"/>
          <p:cNvSpPr txBox="1"/>
          <p:nvPr/>
        </p:nvSpPr>
        <p:spPr>
          <a:xfrm>
            <a:off x="11082528" y="6428232"/>
            <a:ext cx="548640" cy="274320"/>
          </a:xfrm>
          <a:prstGeom prst="rect">
            <a:avLst/>
          </a:prstGeom>
          <a:noFill/>
        </p:spPr>
        <p:txBody>
          <a:bodyPr wrap="square" lIns="9144" rIns="9144" tIns="18288" bIns="18288">
            <a:spAutoFit/>
          </a:bodyPr>
          <a:lstStyle/>
          <a:p>
            <a:pPr algn="r">
              <a:lnSpc>
                <a:spcPct val="112000"/>
              </a:lnSpc>
              <a:spcAft>
                <a:spcPts val="400"/>
              </a:spcAft>
            </a:pPr>
            <a:r>
              <a:rPr sz="1200" b="0">
                <a:solidFill>
                  <a:srgbClr val="53D5F5"/>
                </a:solidFill>
                <a:latin typeface="Segoe UI"/>
              </a:rPr>
              <a:t>01</a:t>
            </a:r>
          </a:p>
        </p:txBody>
      </p:sp>
      <p:sp>
        <p:nvSpPr>
          <p:cNvPr id="9" name="TextBox 8"/>
          <p:cNvSpPr txBox="1"/>
          <p:nvPr/>
        </p:nvSpPr>
        <p:spPr>
          <a:xfrm>
            <a:off x="502920" y="1737360"/>
            <a:ext cx="7772400" cy="1508760"/>
          </a:xfrm>
          <a:prstGeom prst="rect">
            <a:avLst/>
          </a:prstGeom>
          <a:noFill/>
        </p:spPr>
        <p:txBody>
          <a:bodyPr wrap="square" lIns="9144" rIns="9144" tIns="18288" bIns="18288">
            <a:spAutoFit/>
          </a:bodyPr>
          <a:lstStyle/>
          <a:p>
            <a:pPr algn="l">
              <a:lnSpc>
                <a:spcPct val="112000"/>
              </a:lnSpc>
              <a:spcAft>
                <a:spcPts val="400"/>
              </a:spcAft>
            </a:pPr>
            <a:r>
              <a:rPr sz="6000" b="1">
                <a:solidFill>
                  <a:srgbClr val="F4F8FF"/>
                </a:solidFill>
                <a:latin typeface="Segoe UI"/>
              </a:rPr>
              <a:t>Serverless GPU</a:t>
            </a:r>
          </a:p>
        </p:txBody>
      </p:sp>
      <p:sp>
        <p:nvSpPr>
          <p:cNvPr id="10" name="TextBox 9"/>
          <p:cNvSpPr txBox="1"/>
          <p:nvPr/>
        </p:nvSpPr>
        <p:spPr>
          <a:xfrm>
            <a:off x="548640" y="3291840"/>
            <a:ext cx="6675120" cy="914400"/>
          </a:xfrm>
          <a:prstGeom prst="rect">
            <a:avLst/>
          </a:prstGeom>
          <a:noFill/>
        </p:spPr>
        <p:txBody>
          <a:bodyPr wrap="square" lIns="9144" rIns="9144" tIns="18288" bIns="18288">
            <a:spAutoFit/>
          </a:bodyPr>
          <a:lstStyle/>
          <a:p>
            <a:pPr algn="l">
              <a:lnSpc>
                <a:spcPct val="112000"/>
              </a:lnSpc>
              <a:spcAft>
                <a:spcPts val="400"/>
              </a:spcAft>
            </a:pPr>
            <a:r>
              <a:rPr sz="2500" b="0">
                <a:solidFill>
                  <a:srgbClr val="A5B9D0"/>
                </a:solidFill>
                <a:latin typeface="Segoe UI"/>
              </a:rPr>
              <a:t>Bring your model.</a:t>
            </a:r>
          </a:p>
          <a:p>
            <a:pPr algn="l">
              <a:lnSpc>
                <a:spcPct val="112000"/>
              </a:lnSpc>
              <a:spcAft>
                <a:spcPts val="400"/>
              </a:spcAft>
            </a:pPr>
            <a:r>
              <a:rPr sz="2500" b="0">
                <a:solidFill>
                  <a:srgbClr val="A5B9D0"/>
                </a:solidFill>
                <a:latin typeface="Segoe UI"/>
              </a:rPr>
              <a:t>Keep the GPU. Lose the cluster management.</a:t>
            </a:r>
          </a:p>
        </p:txBody>
      </p:sp>
      <p:sp>
        <p:nvSpPr>
          <p:cNvPr id="11" name="TextBox 10"/>
          <p:cNvSpPr txBox="1"/>
          <p:nvPr/>
        </p:nvSpPr>
        <p:spPr>
          <a:xfrm>
            <a:off x="548640" y="4846320"/>
            <a:ext cx="237744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53D5F5"/>
                </a:solidFill>
                <a:latin typeface="Segoe UI"/>
              </a:rPr>
              <a:t>ON DEMAND</a:t>
            </a:r>
          </a:p>
        </p:txBody>
      </p:sp>
      <p:sp>
        <p:nvSpPr>
          <p:cNvPr id="12" name="TextBox 11"/>
          <p:cNvSpPr txBox="1"/>
          <p:nvPr/>
        </p:nvSpPr>
        <p:spPr>
          <a:xfrm>
            <a:off x="548640" y="5257800"/>
            <a:ext cx="2423160" cy="502920"/>
          </a:xfrm>
          <a:prstGeom prst="rect">
            <a:avLst/>
          </a:prstGeom>
          <a:noFill/>
        </p:spPr>
        <p:txBody>
          <a:bodyPr wrap="square" lIns="9144" rIns="9144" tIns="18288" bIns="18288">
            <a:spAutoFit/>
          </a:bodyPr>
          <a:lstStyle/>
          <a:p>
            <a:pPr algn="l">
              <a:lnSpc>
                <a:spcPct val="112000"/>
              </a:lnSpc>
              <a:spcAft>
                <a:spcPts val="400"/>
              </a:spcAft>
            </a:pPr>
            <a:r>
              <a:rPr sz="1700" b="0">
                <a:solidFill>
                  <a:srgbClr val="F4F8FF"/>
                </a:solidFill>
                <a:latin typeface="Segoe UI"/>
              </a:rPr>
              <a:t>NVIDIA T4 / A100</a:t>
            </a:r>
          </a:p>
        </p:txBody>
      </p:sp>
      <p:sp>
        <p:nvSpPr>
          <p:cNvPr id="13" name="TextBox 12"/>
          <p:cNvSpPr txBox="1"/>
          <p:nvPr/>
        </p:nvSpPr>
        <p:spPr>
          <a:xfrm>
            <a:off x="3108960" y="4846320"/>
            <a:ext cx="237744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53D5F5"/>
                </a:solidFill>
                <a:latin typeface="Segoe UI"/>
              </a:rPr>
              <a:t>ELASTIC</a:t>
            </a:r>
          </a:p>
        </p:txBody>
      </p:sp>
      <p:sp>
        <p:nvSpPr>
          <p:cNvPr id="14" name="TextBox 13"/>
          <p:cNvSpPr txBox="1"/>
          <p:nvPr/>
        </p:nvSpPr>
        <p:spPr>
          <a:xfrm>
            <a:off x="3108960" y="5257800"/>
            <a:ext cx="2423160" cy="502920"/>
          </a:xfrm>
          <a:prstGeom prst="rect">
            <a:avLst/>
          </a:prstGeom>
          <a:noFill/>
        </p:spPr>
        <p:txBody>
          <a:bodyPr wrap="square" lIns="9144" rIns="9144" tIns="18288" bIns="18288">
            <a:spAutoFit/>
          </a:bodyPr>
          <a:lstStyle/>
          <a:p>
            <a:pPr algn="l">
              <a:lnSpc>
                <a:spcPct val="112000"/>
              </a:lnSpc>
              <a:spcAft>
                <a:spcPts val="400"/>
              </a:spcAft>
            </a:pPr>
            <a:r>
              <a:rPr sz="1700" b="0">
                <a:solidFill>
                  <a:srgbClr val="F4F8FF"/>
                </a:solidFill>
                <a:latin typeface="Segoe UI"/>
              </a:rPr>
              <a:t>Scale to zero</a:t>
            </a:r>
          </a:p>
        </p:txBody>
      </p:sp>
      <p:sp>
        <p:nvSpPr>
          <p:cNvPr id="15" name="TextBox 14"/>
          <p:cNvSpPr txBox="1"/>
          <p:nvPr/>
        </p:nvSpPr>
        <p:spPr>
          <a:xfrm>
            <a:off x="5669279" y="4846320"/>
            <a:ext cx="237744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53D5F5"/>
                </a:solidFill>
                <a:latin typeface="Segoe UI"/>
              </a:rPr>
              <a:t>USAGE BASED</a:t>
            </a:r>
          </a:p>
        </p:txBody>
      </p:sp>
      <p:sp>
        <p:nvSpPr>
          <p:cNvPr id="16" name="TextBox 15"/>
          <p:cNvSpPr txBox="1"/>
          <p:nvPr/>
        </p:nvSpPr>
        <p:spPr>
          <a:xfrm>
            <a:off x="5669279" y="5257800"/>
            <a:ext cx="2423160" cy="502920"/>
          </a:xfrm>
          <a:prstGeom prst="rect">
            <a:avLst/>
          </a:prstGeom>
          <a:noFill/>
        </p:spPr>
        <p:txBody>
          <a:bodyPr wrap="square" lIns="9144" rIns="9144" tIns="18288" bIns="18288">
            <a:spAutoFit/>
          </a:bodyPr>
          <a:lstStyle/>
          <a:p>
            <a:pPr algn="l">
              <a:lnSpc>
                <a:spcPct val="112000"/>
              </a:lnSpc>
              <a:spcAft>
                <a:spcPts val="400"/>
              </a:spcAft>
            </a:pPr>
            <a:r>
              <a:rPr sz="1700" b="0">
                <a:solidFill>
                  <a:srgbClr val="F4F8FF"/>
                </a:solidFill>
                <a:latin typeface="Segoe UI"/>
              </a:rPr>
              <a:t>Per-second compute</a:t>
            </a:r>
          </a:p>
        </p:txBody>
      </p:sp>
      <p:sp>
        <p:nvSpPr>
          <p:cNvPr id="17" name="Rounded Rectangle 16"/>
          <p:cNvSpPr/>
          <p:nvPr/>
        </p:nvSpPr>
        <p:spPr>
          <a:xfrm>
            <a:off x="8595360" y="2240280"/>
            <a:ext cx="2468880" cy="2468880"/>
          </a:xfrm>
          <a:prstGeom prst="roundRect">
            <a:avLst>
              <a:gd name="adj" fmla="val 8000"/>
            </a:avLst>
          </a:prstGeom>
          <a:solidFill>
            <a:srgbClr val="11263F"/>
          </a:solidFill>
          <a:ln w="12700">
            <a:solidFill>
              <a:srgbClr val="53D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180576" y="2816352"/>
            <a:ext cx="1298448" cy="1298448"/>
          </a:xfrm>
          <a:prstGeom prst="roundRect">
            <a:avLst>
              <a:gd name="adj" fmla="val 8000"/>
            </a:avLst>
          </a:prstGeom>
          <a:solidFill>
            <a:srgbClr val="0078D4"/>
          </a:solidFill>
          <a:ln w="12700">
            <a:solidFill>
              <a:srgbClr val="53D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80576" y="3191256"/>
            <a:ext cx="1298448" cy="548640"/>
          </a:xfrm>
          <a:prstGeom prst="rect">
            <a:avLst/>
          </a:prstGeom>
          <a:noFill/>
        </p:spPr>
        <p:txBody>
          <a:bodyPr wrap="square" lIns="9144" rIns="9144" tIns="18288" bIns="18288">
            <a:spAutoFit/>
          </a:bodyPr>
          <a:lstStyle/>
          <a:p>
            <a:pPr algn="ctr">
              <a:lnSpc>
                <a:spcPct val="112000"/>
              </a:lnSpc>
              <a:spcAft>
                <a:spcPts val="400"/>
              </a:spcAft>
            </a:pPr>
            <a:r>
              <a:rPr sz="2900" b="1">
                <a:solidFill>
                  <a:srgbClr val="F4F8FF"/>
                </a:solidFill>
                <a:latin typeface="Segoe UI"/>
              </a:rPr>
              <a:t>GPU</a:t>
            </a:r>
          </a:p>
        </p:txBody>
      </p:sp>
      <p:cxnSp>
        <p:nvCxnSpPr>
          <p:cNvPr id="20" name="Connector 19"/>
          <p:cNvCxnSpPr/>
          <p:nvPr/>
        </p:nvCxnSpPr>
        <p:spPr>
          <a:xfrm>
            <a:off x="8933688" y="1975104"/>
            <a:ext cx="0" cy="265176"/>
          </a:xfrm>
          <a:prstGeom prst="line">
            <a:avLst/>
          </a:prstGeom>
          <a:ln w="25400">
            <a:solidFill>
              <a:srgbClr val="53D5F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933688" y="4709160"/>
            <a:ext cx="0" cy="265176"/>
          </a:xfrm>
          <a:prstGeom prst="line">
            <a:avLst/>
          </a:prstGeom>
          <a:ln w="25400">
            <a:solidFill>
              <a:srgbClr val="53D5F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381744" y="1975104"/>
            <a:ext cx="0" cy="265176"/>
          </a:xfrm>
          <a:prstGeom prst="line">
            <a:avLst/>
          </a:prstGeom>
          <a:ln w="25400">
            <a:solidFill>
              <a:srgbClr val="53D5F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381744" y="4709160"/>
            <a:ext cx="0" cy="265176"/>
          </a:xfrm>
          <a:prstGeom prst="line">
            <a:avLst/>
          </a:prstGeom>
          <a:ln w="25400">
            <a:solidFill>
              <a:srgbClr val="53D5F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829800" y="1975104"/>
            <a:ext cx="0" cy="265176"/>
          </a:xfrm>
          <a:prstGeom prst="line">
            <a:avLst/>
          </a:prstGeom>
          <a:ln w="25400">
            <a:solidFill>
              <a:srgbClr val="53D5F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829800" y="4709160"/>
            <a:ext cx="0" cy="265176"/>
          </a:xfrm>
          <a:prstGeom prst="line">
            <a:avLst/>
          </a:prstGeom>
          <a:ln w="25400">
            <a:solidFill>
              <a:srgbClr val="53D5F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0277856" y="1975104"/>
            <a:ext cx="0" cy="265176"/>
          </a:xfrm>
          <a:prstGeom prst="line">
            <a:avLst/>
          </a:prstGeom>
          <a:ln w="25400">
            <a:solidFill>
              <a:srgbClr val="53D5F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0277856" y="4709160"/>
            <a:ext cx="0" cy="265176"/>
          </a:xfrm>
          <a:prstGeom prst="line">
            <a:avLst/>
          </a:prstGeom>
          <a:ln w="25400">
            <a:solidFill>
              <a:srgbClr val="53D5F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0725912" y="1975104"/>
            <a:ext cx="0" cy="265176"/>
          </a:xfrm>
          <a:prstGeom prst="line">
            <a:avLst/>
          </a:prstGeom>
          <a:ln w="25400">
            <a:solidFill>
              <a:srgbClr val="53D5F5"/>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0725912" y="4709160"/>
            <a:ext cx="0" cy="265176"/>
          </a:xfrm>
          <a:prstGeom prst="line">
            <a:avLst/>
          </a:prstGeom>
          <a:ln w="25400">
            <a:solidFill>
              <a:srgbClr val="53D5F5"/>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48640" y="5989320"/>
            <a:ext cx="822960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A5B9D0"/>
                </a:solidFill>
                <a:latin typeface="Segoe UI"/>
              </a:rPr>
              <a:t>25-30 MINUTES  |  TECHNICAL OVERVIEW  |  20 OCT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9182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548640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53D5F5"/>
                </a:solidFill>
                <a:latin typeface="Segoe UI"/>
              </a:rPr>
              <a:t>01 / OPPORTUNITY</a:t>
            </a:r>
          </a:p>
        </p:txBody>
      </p:sp>
      <p:sp>
        <p:nvSpPr>
          <p:cNvPr id="4" name="TextBox 3"/>
          <p:cNvSpPr txBox="1"/>
          <p:nvPr/>
        </p:nvSpPr>
        <p:spPr>
          <a:xfrm>
            <a:off x="502920" y="786384"/>
            <a:ext cx="11109960" cy="658368"/>
          </a:xfrm>
          <a:prstGeom prst="rect">
            <a:avLst/>
          </a:prstGeom>
          <a:noFill/>
        </p:spPr>
        <p:txBody>
          <a:bodyPr wrap="square" lIns="9144" rIns="9144" tIns="18288" bIns="18288">
            <a:spAutoFit/>
          </a:bodyPr>
          <a:lstStyle/>
          <a:p>
            <a:pPr algn="l">
              <a:lnSpc>
                <a:spcPct val="112000"/>
              </a:lnSpc>
              <a:spcAft>
                <a:spcPts val="400"/>
              </a:spcAft>
            </a:pPr>
            <a:r>
              <a:rPr sz="3100" b="1">
                <a:solidFill>
                  <a:srgbClr val="F4F8FF"/>
                </a:solidFill>
                <a:latin typeface="Segoe UI"/>
              </a:rPr>
              <a:t>GPU acceleration without an always-on GPU fleet</a:t>
            </a:r>
          </a:p>
        </p:txBody>
      </p:sp>
      <p:sp>
        <p:nvSpPr>
          <p:cNvPr id="5" name="TextBox 4"/>
          <p:cNvSpPr txBox="1"/>
          <p:nvPr/>
        </p:nvSpPr>
        <p:spPr>
          <a:xfrm>
            <a:off x="521207" y="1508760"/>
            <a:ext cx="11064240" cy="576072"/>
          </a:xfrm>
          <a:prstGeom prst="rect">
            <a:avLst/>
          </a:prstGeom>
          <a:noFill/>
        </p:spPr>
        <p:txBody>
          <a:bodyPr wrap="square" lIns="9144" rIns="9144" tIns="18288" bIns="18288">
            <a:spAutoFit/>
          </a:bodyPr>
          <a:lstStyle/>
          <a:p>
            <a:pPr algn="l">
              <a:lnSpc>
                <a:spcPct val="112000"/>
              </a:lnSpc>
              <a:spcAft>
                <a:spcPts val="400"/>
              </a:spcAft>
            </a:pPr>
            <a:r>
              <a:rPr sz="1700" b="0">
                <a:solidFill>
                  <a:srgbClr val="A5B9D0"/>
                </a:solidFill>
                <a:latin typeface="Segoe UI"/>
              </a:rPr>
              <a:t>Best fit: variable demand, custom inference, and teams that want less infrastructure to operate.</a:t>
            </a:r>
          </a:p>
        </p:txBody>
      </p:sp>
      <p:cxnSp>
        <p:nvCxnSpPr>
          <p:cNvPr id="6" name="Connector 5"/>
          <p:cNvCxnSpPr/>
          <p:nvPr/>
        </p:nvCxnSpPr>
        <p:spPr>
          <a:xfrm>
            <a:off x="502920" y="6327648"/>
            <a:ext cx="11155680" cy="0"/>
          </a:xfrm>
          <a:prstGeom prst="line">
            <a:avLst/>
          </a:prstGeom>
          <a:ln w="10160">
            <a:solidFill>
              <a:srgbClr val="29435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21207" y="6473952"/>
            <a:ext cx="5303520" cy="201168"/>
          </a:xfrm>
          <a:prstGeom prst="rect">
            <a:avLst/>
          </a:prstGeom>
          <a:noFill/>
        </p:spPr>
        <p:txBody>
          <a:bodyPr wrap="square" lIns="9144" rIns="9144" tIns="18288" bIns="18288">
            <a:spAutoFit/>
          </a:bodyPr>
          <a:lstStyle/>
          <a:p>
            <a:pPr algn="l">
              <a:lnSpc>
                <a:spcPct val="112000"/>
              </a:lnSpc>
              <a:spcAft>
                <a:spcPts val="400"/>
              </a:spcAft>
            </a:pPr>
            <a:r>
              <a:rPr sz="900" b="0">
                <a:solidFill>
                  <a:srgbClr val="A5B9D0"/>
                </a:solidFill>
                <a:latin typeface="Segoe UI"/>
              </a:rPr>
              <a:t>AZURE CONTAINER APPS  /  SERVERLESS GPU</a:t>
            </a:r>
          </a:p>
        </p:txBody>
      </p:sp>
      <p:sp>
        <p:nvSpPr>
          <p:cNvPr id="8" name="TextBox 7"/>
          <p:cNvSpPr txBox="1"/>
          <p:nvPr/>
        </p:nvSpPr>
        <p:spPr>
          <a:xfrm>
            <a:off x="5486400" y="6455664"/>
            <a:ext cx="5303520" cy="256032"/>
          </a:xfrm>
          <a:prstGeom prst="rect">
            <a:avLst/>
          </a:prstGeom>
          <a:noFill/>
        </p:spPr>
        <p:txBody>
          <a:bodyPr wrap="square" lIns="9144" rIns="9144" tIns="18288" bIns="18288">
            <a:spAutoFit/>
          </a:bodyPr>
          <a:lstStyle/>
          <a:p>
            <a:pPr algn="r">
              <a:lnSpc>
                <a:spcPct val="112000"/>
              </a:lnSpc>
              <a:spcAft>
                <a:spcPts val="400"/>
              </a:spcAft>
            </a:pPr>
            <a:r>
              <a:rPr sz="900" b="0">
                <a:solidFill>
                  <a:srgbClr val="A5B9D0"/>
                </a:solidFill>
                <a:latin typeface="Segoe UI"/>
                <a:hlinkClick r:id="rId2"/>
              </a:rPr>
              <a:t>Source: GPU overview</a:t>
            </a:r>
          </a:p>
        </p:txBody>
      </p:sp>
      <p:sp>
        <p:nvSpPr>
          <p:cNvPr id="9" name="TextBox 8"/>
          <p:cNvSpPr txBox="1"/>
          <p:nvPr/>
        </p:nvSpPr>
        <p:spPr>
          <a:xfrm>
            <a:off x="11082528" y="6428232"/>
            <a:ext cx="548640" cy="274320"/>
          </a:xfrm>
          <a:prstGeom prst="rect">
            <a:avLst/>
          </a:prstGeom>
          <a:noFill/>
        </p:spPr>
        <p:txBody>
          <a:bodyPr wrap="square" lIns="9144" rIns="9144" tIns="18288" bIns="18288">
            <a:spAutoFit/>
          </a:bodyPr>
          <a:lstStyle/>
          <a:p>
            <a:pPr algn="r">
              <a:lnSpc>
                <a:spcPct val="112000"/>
              </a:lnSpc>
              <a:spcAft>
                <a:spcPts val="400"/>
              </a:spcAft>
            </a:pPr>
            <a:r>
              <a:rPr sz="1200" b="0">
                <a:solidFill>
                  <a:srgbClr val="53D5F5"/>
                </a:solidFill>
                <a:latin typeface="Segoe UI"/>
              </a:rPr>
              <a:t>02</a:t>
            </a:r>
          </a:p>
        </p:txBody>
      </p:sp>
      <p:sp>
        <p:nvSpPr>
          <p:cNvPr id="10" name="Rounded Rectangle 9"/>
          <p:cNvSpPr/>
          <p:nvPr/>
        </p:nvSpPr>
        <p:spPr>
          <a:xfrm>
            <a:off x="512064" y="2286000"/>
            <a:ext cx="3547872" cy="301752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487168"/>
            <a:ext cx="310896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53D5F5"/>
                </a:solidFill>
                <a:latin typeface="Segoe UI"/>
              </a:rPr>
              <a:t>CONTROL</a:t>
            </a:r>
          </a:p>
        </p:txBody>
      </p:sp>
      <p:sp>
        <p:nvSpPr>
          <p:cNvPr id="12" name="TextBox 11"/>
          <p:cNvSpPr txBox="1"/>
          <p:nvPr/>
        </p:nvSpPr>
        <p:spPr>
          <a:xfrm>
            <a:off x="731520" y="2990088"/>
            <a:ext cx="3108960" cy="850392"/>
          </a:xfrm>
          <a:prstGeom prst="rect">
            <a:avLst/>
          </a:prstGeom>
          <a:noFill/>
        </p:spPr>
        <p:txBody>
          <a:bodyPr wrap="square" lIns="9144" rIns="9144" tIns="18288" bIns="18288">
            <a:spAutoFit/>
          </a:bodyPr>
          <a:lstStyle/>
          <a:p>
            <a:pPr algn="l">
              <a:lnSpc>
                <a:spcPct val="112000"/>
              </a:lnSpc>
              <a:spcAft>
                <a:spcPts val="400"/>
              </a:spcAft>
            </a:pPr>
            <a:r>
              <a:rPr sz="2300" b="1">
                <a:solidFill>
                  <a:srgbClr val="F4F8FF"/>
                </a:solidFill>
                <a:latin typeface="Segoe UI"/>
              </a:rPr>
              <a:t>Bring your stack</a:t>
            </a:r>
          </a:p>
        </p:txBody>
      </p:sp>
      <p:sp>
        <p:nvSpPr>
          <p:cNvPr id="13" name="TextBox 12"/>
          <p:cNvSpPr txBox="1"/>
          <p:nvPr/>
        </p:nvSpPr>
        <p:spPr>
          <a:xfrm>
            <a:off x="731520" y="3895344"/>
            <a:ext cx="3108960" cy="1335023"/>
          </a:xfrm>
          <a:prstGeom prst="rect">
            <a:avLst/>
          </a:prstGeom>
          <a:noFill/>
        </p:spPr>
        <p:txBody>
          <a:bodyPr wrap="square" lIns="9144" rIns="9144" tIns="18288" bIns="18288">
            <a:spAutoFit/>
          </a:bodyPr>
          <a:lstStyle/>
          <a:p>
            <a:pPr algn="l">
              <a:lnSpc>
                <a:spcPct val="112000"/>
              </a:lnSpc>
              <a:spcAft>
                <a:spcPts val="400"/>
              </a:spcAft>
            </a:pPr>
            <a:r>
              <a:rPr sz="1700" b="0">
                <a:solidFill>
                  <a:srgbClr val="A5B9D0"/>
                </a:solidFill>
                <a:latin typeface="Segoe UI"/>
              </a:rPr>
              <a:t>Own the container image,</a:t>
            </a:r>
          </a:p>
          <a:p>
            <a:pPr algn="l">
              <a:lnSpc>
                <a:spcPct val="112000"/>
              </a:lnSpc>
              <a:spcAft>
                <a:spcPts val="400"/>
              </a:spcAft>
            </a:pPr>
            <a:r>
              <a:rPr sz="1700" b="0">
                <a:solidFill>
                  <a:srgbClr val="A5B9D0"/>
                </a:solidFill>
                <a:latin typeface="Segoe UI"/>
              </a:rPr>
              <a:t>model weights, inference</a:t>
            </a:r>
          </a:p>
          <a:p>
            <a:pPr algn="l">
              <a:lnSpc>
                <a:spcPct val="112000"/>
              </a:lnSpc>
              <a:spcAft>
                <a:spcPts val="400"/>
              </a:spcAft>
            </a:pPr>
            <a:r>
              <a:rPr sz="1700" b="0">
                <a:solidFill>
                  <a:srgbClr val="A5B9D0"/>
                </a:solidFill>
                <a:latin typeface="Segoe UI"/>
              </a:rPr>
              <a:t>runtime and API contract.</a:t>
            </a:r>
          </a:p>
        </p:txBody>
      </p:sp>
      <p:sp>
        <p:nvSpPr>
          <p:cNvPr id="14" name="Rounded Rectangle 13"/>
          <p:cNvSpPr/>
          <p:nvPr/>
        </p:nvSpPr>
        <p:spPr>
          <a:xfrm>
            <a:off x="4315968" y="2286000"/>
            <a:ext cx="3547872" cy="301752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35424" y="2487168"/>
            <a:ext cx="310896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70E0BA"/>
                </a:solidFill>
                <a:latin typeface="Segoe UI"/>
              </a:rPr>
              <a:t>ELASTICITY</a:t>
            </a:r>
          </a:p>
        </p:txBody>
      </p:sp>
      <p:sp>
        <p:nvSpPr>
          <p:cNvPr id="16" name="TextBox 15"/>
          <p:cNvSpPr txBox="1"/>
          <p:nvPr/>
        </p:nvSpPr>
        <p:spPr>
          <a:xfrm>
            <a:off x="4535424" y="2990088"/>
            <a:ext cx="3108960" cy="850392"/>
          </a:xfrm>
          <a:prstGeom prst="rect">
            <a:avLst/>
          </a:prstGeom>
          <a:noFill/>
        </p:spPr>
        <p:txBody>
          <a:bodyPr wrap="square" lIns="9144" rIns="9144" tIns="18288" bIns="18288">
            <a:spAutoFit/>
          </a:bodyPr>
          <a:lstStyle/>
          <a:p>
            <a:pPr algn="l">
              <a:lnSpc>
                <a:spcPct val="112000"/>
              </a:lnSpc>
              <a:spcAft>
                <a:spcPts val="400"/>
              </a:spcAft>
            </a:pPr>
            <a:r>
              <a:rPr sz="2300" b="1">
                <a:solidFill>
                  <a:srgbClr val="F4F8FF"/>
                </a:solidFill>
                <a:latin typeface="Segoe UI"/>
              </a:rPr>
              <a:t>Follow demand</a:t>
            </a:r>
          </a:p>
        </p:txBody>
      </p:sp>
      <p:sp>
        <p:nvSpPr>
          <p:cNvPr id="17" name="TextBox 16"/>
          <p:cNvSpPr txBox="1"/>
          <p:nvPr/>
        </p:nvSpPr>
        <p:spPr>
          <a:xfrm>
            <a:off x="4535424" y="3895344"/>
            <a:ext cx="3108960" cy="1335023"/>
          </a:xfrm>
          <a:prstGeom prst="rect">
            <a:avLst/>
          </a:prstGeom>
          <a:noFill/>
        </p:spPr>
        <p:txBody>
          <a:bodyPr wrap="square" lIns="9144" rIns="9144" tIns="18288" bIns="18288">
            <a:spAutoFit/>
          </a:bodyPr>
          <a:lstStyle/>
          <a:p>
            <a:pPr algn="l">
              <a:lnSpc>
                <a:spcPct val="112000"/>
              </a:lnSpc>
              <a:spcAft>
                <a:spcPts val="400"/>
              </a:spcAft>
            </a:pPr>
            <a:r>
              <a:rPr sz="1700" b="0">
                <a:solidFill>
                  <a:srgbClr val="A5B9D0"/>
                </a:solidFill>
                <a:latin typeface="Segoe UI"/>
              </a:rPr>
              <a:t>Scale GPU replicas out</a:t>
            </a:r>
          </a:p>
          <a:p>
            <a:pPr algn="l">
              <a:lnSpc>
                <a:spcPct val="112000"/>
              </a:lnSpc>
              <a:spcAft>
                <a:spcPts val="400"/>
              </a:spcAft>
            </a:pPr>
            <a:r>
              <a:rPr sz="1700" b="0">
                <a:solidFill>
                  <a:srgbClr val="A5B9D0"/>
                </a:solidFill>
                <a:latin typeface="Segoe UI"/>
              </a:rPr>
              <a:t>for bursts and back to zero</a:t>
            </a:r>
          </a:p>
          <a:p>
            <a:pPr algn="l">
              <a:lnSpc>
                <a:spcPct val="112000"/>
              </a:lnSpc>
              <a:spcAft>
                <a:spcPts val="400"/>
              </a:spcAft>
            </a:pPr>
            <a:r>
              <a:rPr sz="1700" b="0">
                <a:solidFill>
                  <a:srgbClr val="A5B9D0"/>
                </a:solidFill>
                <a:latin typeface="Segoe UI"/>
              </a:rPr>
              <a:t>when there is no work.</a:t>
            </a:r>
          </a:p>
        </p:txBody>
      </p:sp>
      <p:sp>
        <p:nvSpPr>
          <p:cNvPr id="18" name="Rounded Rectangle 17"/>
          <p:cNvSpPr/>
          <p:nvPr/>
        </p:nvSpPr>
        <p:spPr>
          <a:xfrm>
            <a:off x="8119872" y="2286000"/>
            <a:ext cx="3502152" cy="301752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39328" y="2487168"/>
            <a:ext cx="306324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FFC66D"/>
                </a:solidFill>
                <a:latin typeface="Segoe UI"/>
              </a:rPr>
              <a:t>OPERATIONS</a:t>
            </a:r>
          </a:p>
        </p:txBody>
      </p:sp>
      <p:sp>
        <p:nvSpPr>
          <p:cNvPr id="20" name="TextBox 19"/>
          <p:cNvSpPr txBox="1"/>
          <p:nvPr/>
        </p:nvSpPr>
        <p:spPr>
          <a:xfrm>
            <a:off x="8339328" y="2990088"/>
            <a:ext cx="3063240" cy="850392"/>
          </a:xfrm>
          <a:prstGeom prst="rect">
            <a:avLst/>
          </a:prstGeom>
          <a:noFill/>
        </p:spPr>
        <p:txBody>
          <a:bodyPr wrap="square" lIns="9144" rIns="9144" tIns="18288" bIns="18288">
            <a:spAutoFit/>
          </a:bodyPr>
          <a:lstStyle/>
          <a:p>
            <a:pPr algn="l">
              <a:lnSpc>
                <a:spcPct val="112000"/>
              </a:lnSpc>
              <a:spcAft>
                <a:spcPts val="400"/>
              </a:spcAft>
            </a:pPr>
            <a:r>
              <a:rPr sz="2300" b="1">
                <a:solidFill>
                  <a:srgbClr val="F4F8FF"/>
                </a:solidFill>
                <a:latin typeface="Segoe UI"/>
              </a:rPr>
              <a:t>Focus on the app</a:t>
            </a:r>
          </a:p>
        </p:txBody>
      </p:sp>
      <p:sp>
        <p:nvSpPr>
          <p:cNvPr id="21" name="TextBox 20"/>
          <p:cNvSpPr txBox="1"/>
          <p:nvPr/>
        </p:nvSpPr>
        <p:spPr>
          <a:xfrm>
            <a:off x="8339328" y="3895344"/>
            <a:ext cx="3063240" cy="1335023"/>
          </a:xfrm>
          <a:prstGeom prst="rect">
            <a:avLst/>
          </a:prstGeom>
          <a:noFill/>
        </p:spPr>
        <p:txBody>
          <a:bodyPr wrap="square" lIns="9144" rIns="9144" tIns="18288" bIns="18288">
            <a:spAutoFit/>
          </a:bodyPr>
          <a:lstStyle/>
          <a:p>
            <a:pPr algn="l">
              <a:lnSpc>
                <a:spcPct val="112000"/>
              </a:lnSpc>
              <a:spcAft>
                <a:spcPts val="400"/>
              </a:spcAft>
            </a:pPr>
            <a:r>
              <a:rPr sz="1700" b="0">
                <a:solidFill>
                  <a:srgbClr val="A5B9D0"/>
                </a:solidFill>
                <a:latin typeface="Segoe UI"/>
              </a:rPr>
              <a:t>Azure manages the host</a:t>
            </a:r>
          </a:p>
          <a:p>
            <a:pPr algn="l">
              <a:lnSpc>
                <a:spcPct val="112000"/>
              </a:lnSpc>
              <a:spcAft>
                <a:spcPts val="400"/>
              </a:spcAft>
            </a:pPr>
            <a:r>
              <a:rPr sz="1700" b="0">
                <a:solidFill>
                  <a:srgbClr val="A5B9D0"/>
                </a:solidFill>
                <a:latin typeface="Segoe UI"/>
              </a:rPr>
              <a:t>infrastructure; you manage</a:t>
            </a:r>
          </a:p>
          <a:p>
            <a:pPr algn="l">
              <a:lnSpc>
                <a:spcPct val="112000"/>
              </a:lnSpc>
              <a:spcAft>
                <a:spcPts val="400"/>
              </a:spcAft>
            </a:pPr>
            <a:r>
              <a:rPr sz="1700" b="0">
                <a:solidFill>
                  <a:srgbClr val="A5B9D0"/>
                </a:solidFill>
                <a:latin typeface="Segoe UI"/>
              </a:rPr>
              <a:t>model quality and behavior.</a:t>
            </a:r>
          </a:p>
        </p:txBody>
      </p:sp>
      <p:sp>
        <p:nvSpPr>
          <p:cNvPr id="22" name="Rounded Rectangle 21"/>
          <p:cNvSpPr/>
          <p:nvPr/>
        </p:nvSpPr>
        <p:spPr>
          <a:xfrm>
            <a:off x="512064" y="5623560"/>
            <a:ext cx="11109960" cy="45720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687568"/>
            <a:ext cx="10744200" cy="310896"/>
          </a:xfrm>
          <a:prstGeom prst="rect">
            <a:avLst/>
          </a:prstGeom>
          <a:noFill/>
        </p:spPr>
        <p:txBody>
          <a:bodyPr wrap="square" lIns="9144" rIns="9144" tIns="18288" bIns="18288">
            <a:spAutoFit/>
          </a:bodyPr>
          <a:lstStyle/>
          <a:p>
            <a:pPr algn="l">
              <a:lnSpc>
                <a:spcPct val="112000"/>
              </a:lnSpc>
              <a:spcAft>
                <a:spcPts val="400"/>
              </a:spcAft>
            </a:pPr>
            <a:r>
              <a:rPr sz="1500" b="1">
                <a:solidFill>
                  <a:srgbClr val="53D5F5"/>
                </a:solidFill>
                <a:latin typeface="Segoe UI"/>
              </a:rPr>
              <a:t>Serverless removes host management, not model operations or latency engineering.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9182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548640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53D5F5"/>
                </a:solidFill>
                <a:latin typeface="Segoe UI"/>
              </a:rPr>
              <a:t>02 / POSITIONING</a:t>
            </a:r>
          </a:p>
        </p:txBody>
      </p:sp>
      <p:sp>
        <p:nvSpPr>
          <p:cNvPr id="4" name="TextBox 3"/>
          <p:cNvSpPr txBox="1"/>
          <p:nvPr/>
        </p:nvSpPr>
        <p:spPr>
          <a:xfrm>
            <a:off x="502920" y="786384"/>
            <a:ext cx="11109960" cy="658368"/>
          </a:xfrm>
          <a:prstGeom prst="rect">
            <a:avLst/>
          </a:prstGeom>
          <a:noFill/>
        </p:spPr>
        <p:txBody>
          <a:bodyPr wrap="square" lIns="9144" rIns="9144" tIns="18288" bIns="18288">
            <a:spAutoFit/>
          </a:bodyPr>
          <a:lstStyle/>
          <a:p>
            <a:pPr algn="l">
              <a:lnSpc>
                <a:spcPct val="112000"/>
              </a:lnSpc>
              <a:spcAft>
                <a:spcPts val="400"/>
              </a:spcAft>
            </a:pPr>
            <a:r>
              <a:rPr sz="3100" b="1">
                <a:solidFill>
                  <a:srgbClr val="F4F8FF"/>
                </a:solidFill>
                <a:latin typeface="Segoe UI"/>
              </a:rPr>
              <a:t>Choose how much of the AI stack you want to own</a:t>
            </a:r>
          </a:p>
        </p:txBody>
      </p:sp>
      <p:sp>
        <p:nvSpPr>
          <p:cNvPr id="5" name="TextBox 4"/>
          <p:cNvSpPr txBox="1"/>
          <p:nvPr/>
        </p:nvSpPr>
        <p:spPr>
          <a:xfrm>
            <a:off x="521207" y="1508760"/>
            <a:ext cx="11064240" cy="576072"/>
          </a:xfrm>
          <a:prstGeom prst="rect">
            <a:avLst/>
          </a:prstGeom>
          <a:noFill/>
        </p:spPr>
        <p:txBody>
          <a:bodyPr wrap="square" lIns="9144" rIns="9144" tIns="18288" bIns="18288">
            <a:spAutoFit/>
          </a:bodyPr>
          <a:lstStyle/>
          <a:p>
            <a:pPr algn="l">
              <a:lnSpc>
                <a:spcPct val="112000"/>
              </a:lnSpc>
              <a:spcAft>
                <a:spcPts val="400"/>
              </a:spcAft>
            </a:pPr>
            <a:r>
              <a:rPr sz="1700" b="0">
                <a:solidFill>
                  <a:srgbClr val="A5B9D0"/>
                </a:solidFill>
                <a:latin typeface="Segoe UI"/>
              </a:rPr>
              <a:t>These are operating models, not a universal ranking of price or performance.</a:t>
            </a:r>
          </a:p>
        </p:txBody>
      </p:sp>
      <p:cxnSp>
        <p:nvCxnSpPr>
          <p:cNvPr id="6" name="Connector 5"/>
          <p:cNvCxnSpPr/>
          <p:nvPr/>
        </p:nvCxnSpPr>
        <p:spPr>
          <a:xfrm>
            <a:off x="502920" y="6327648"/>
            <a:ext cx="11155680" cy="0"/>
          </a:xfrm>
          <a:prstGeom prst="line">
            <a:avLst/>
          </a:prstGeom>
          <a:ln w="10160">
            <a:solidFill>
              <a:srgbClr val="29435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21207" y="6473952"/>
            <a:ext cx="5303520" cy="201168"/>
          </a:xfrm>
          <a:prstGeom prst="rect">
            <a:avLst/>
          </a:prstGeom>
          <a:noFill/>
        </p:spPr>
        <p:txBody>
          <a:bodyPr wrap="square" lIns="9144" rIns="9144" tIns="18288" bIns="18288">
            <a:spAutoFit/>
          </a:bodyPr>
          <a:lstStyle/>
          <a:p>
            <a:pPr algn="l">
              <a:lnSpc>
                <a:spcPct val="112000"/>
              </a:lnSpc>
              <a:spcAft>
                <a:spcPts val="400"/>
              </a:spcAft>
            </a:pPr>
            <a:r>
              <a:rPr sz="900" b="0">
                <a:solidFill>
                  <a:srgbClr val="A5B9D0"/>
                </a:solidFill>
                <a:latin typeface="Segoe UI"/>
              </a:rPr>
              <a:t>AZURE CONTAINER APPS  /  SERVERLESS GPU</a:t>
            </a:r>
          </a:p>
        </p:txBody>
      </p:sp>
      <p:sp>
        <p:nvSpPr>
          <p:cNvPr id="8" name="TextBox 7"/>
          <p:cNvSpPr txBox="1"/>
          <p:nvPr/>
        </p:nvSpPr>
        <p:spPr>
          <a:xfrm>
            <a:off x="5486400" y="6455664"/>
            <a:ext cx="5303520" cy="256032"/>
          </a:xfrm>
          <a:prstGeom prst="rect">
            <a:avLst/>
          </a:prstGeom>
          <a:noFill/>
        </p:spPr>
        <p:txBody>
          <a:bodyPr wrap="square" lIns="9144" rIns="9144" tIns="18288" bIns="18288">
            <a:spAutoFit/>
          </a:bodyPr>
          <a:lstStyle/>
          <a:p>
            <a:pPr algn="r">
              <a:lnSpc>
                <a:spcPct val="112000"/>
              </a:lnSpc>
              <a:spcAft>
                <a:spcPts val="400"/>
              </a:spcAft>
            </a:pPr>
            <a:r>
              <a:rPr sz="900" b="0">
                <a:solidFill>
                  <a:srgbClr val="A5B9D0"/>
                </a:solidFill>
                <a:latin typeface="Segoe UI"/>
                <a:hlinkClick r:id="rId2"/>
              </a:rPr>
              <a:t>Source: GPU overview | Workload profiles</a:t>
            </a:r>
          </a:p>
        </p:txBody>
      </p:sp>
      <p:sp>
        <p:nvSpPr>
          <p:cNvPr id="9" name="TextBox 8"/>
          <p:cNvSpPr txBox="1"/>
          <p:nvPr/>
        </p:nvSpPr>
        <p:spPr>
          <a:xfrm>
            <a:off x="11082528" y="6428232"/>
            <a:ext cx="548640" cy="274320"/>
          </a:xfrm>
          <a:prstGeom prst="rect">
            <a:avLst/>
          </a:prstGeom>
          <a:noFill/>
        </p:spPr>
        <p:txBody>
          <a:bodyPr wrap="square" lIns="9144" rIns="9144" tIns="18288" bIns="18288">
            <a:spAutoFit/>
          </a:bodyPr>
          <a:lstStyle/>
          <a:p>
            <a:pPr algn="r">
              <a:lnSpc>
                <a:spcPct val="112000"/>
              </a:lnSpc>
              <a:spcAft>
                <a:spcPts val="400"/>
              </a:spcAft>
            </a:pPr>
            <a:r>
              <a:rPr sz="1200" b="0">
                <a:solidFill>
                  <a:srgbClr val="53D5F5"/>
                </a:solidFill>
                <a:latin typeface="Segoe UI"/>
              </a:rPr>
              <a:t>03</a:t>
            </a:r>
          </a:p>
        </p:txBody>
      </p:sp>
      <p:sp>
        <p:nvSpPr>
          <p:cNvPr id="10" name="Rounded Rectangle 9"/>
          <p:cNvSpPr/>
          <p:nvPr/>
        </p:nvSpPr>
        <p:spPr>
          <a:xfrm>
            <a:off x="512064" y="2286000"/>
            <a:ext cx="3547872" cy="301752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487168"/>
            <a:ext cx="310896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53D5F5"/>
                </a:solidFill>
                <a:latin typeface="Segoe UI"/>
              </a:rPr>
              <a:t>HOSTED MODEL API</a:t>
            </a:r>
          </a:p>
        </p:txBody>
      </p:sp>
      <p:sp>
        <p:nvSpPr>
          <p:cNvPr id="12" name="TextBox 11"/>
          <p:cNvSpPr txBox="1"/>
          <p:nvPr/>
        </p:nvSpPr>
        <p:spPr>
          <a:xfrm>
            <a:off x="731520" y="2990088"/>
            <a:ext cx="3108960" cy="850392"/>
          </a:xfrm>
          <a:prstGeom prst="rect">
            <a:avLst/>
          </a:prstGeom>
          <a:noFill/>
        </p:spPr>
        <p:txBody>
          <a:bodyPr wrap="square" lIns="9144" rIns="9144" tIns="18288" bIns="18288">
            <a:spAutoFit/>
          </a:bodyPr>
          <a:lstStyle/>
          <a:p>
            <a:pPr algn="l">
              <a:lnSpc>
                <a:spcPct val="112000"/>
              </a:lnSpc>
              <a:spcAft>
                <a:spcPts val="400"/>
              </a:spcAft>
            </a:pPr>
            <a:r>
              <a:rPr sz="2300" b="1">
                <a:solidFill>
                  <a:srgbClr val="F4F8FF"/>
                </a:solidFill>
                <a:latin typeface="Segoe UI"/>
              </a:rPr>
              <a:t>Consume a model</a:t>
            </a:r>
          </a:p>
        </p:txBody>
      </p:sp>
      <p:sp>
        <p:nvSpPr>
          <p:cNvPr id="13" name="TextBox 12"/>
          <p:cNvSpPr txBox="1"/>
          <p:nvPr/>
        </p:nvSpPr>
        <p:spPr>
          <a:xfrm>
            <a:off x="731520" y="3895344"/>
            <a:ext cx="3108960" cy="1335023"/>
          </a:xfrm>
          <a:prstGeom prst="rect">
            <a:avLst/>
          </a:prstGeom>
          <a:noFill/>
        </p:spPr>
        <p:txBody>
          <a:bodyPr wrap="square" lIns="9144" rIns="9144" tIns="18288" bIns="18288">
            <a:spAutoFit/>
          </a:bodyPr>
          <a:lstStyle/>
          <a:p>
            <a:pPr algn="l">
              <a:lnSpc>
                <a:spcPct val="112000"/>
              </a:lnSpc>
              <a:spcAft>
                <a:spcPts val="400"/>
              </a:spcAft>
            </a:pPr>
            <a:r>
              <a:rPr sz="1700" b="0">
                <a:solidFill>
                  <a:srgbClr val="A5B9D0"/>
                </a:solidFill>
                <a:latin typeface="Segoe UI"/>
              </a:rPr>
              <a:t>Fastest route to an API.</a:t>
            </a:r>
          </a:p>
          <a:p>
            <a:pPr algn="l">
              <a:lnSpc>
                <a:spcPct val="112000"/>
              </a:lnSpc>
              <a:spcAft>
                <a:spcPts val="400"/>
              </a:spcAft>
            </a:pPr>
            <a:r>
              <a:rPr sz="1700" b="0">
                <a:solidFill>
                  <a:srgbClr val="A5B9D0"/>
                </a:solidFill>
                <a:latin typeface="Segoe UI"/>
              </a:rPr>
              <a:t>Less runtime control.</a:t>
            </a:r>
          </a:p>
          <a:p>
            <a:pPr algn="l">
              <a:lnSpc>
                <a:spcPct val="112000"/>
              </a:lnSpc>
              <a:spcAft>
                <a:spcPts val="400"/>
              </a:spcAft>
            </a:pPr>
            <a:r>
              <a:rPr sz="1700" b="0">
                <a:solidFill>
                  <a:srgbClr val="A5B9D0"/>
                </a:solidFill>
                <a:latin typeface="Segoe UI"/>
              </a:rPr>
              <a:t>Model and service choices</a:t>
            </a:r>
          </a:p>
          <a:p>
            <a:pPr algn="l">
              <a:lnSpc>
                <a:spcPct val="112000"/>
              </a:lnSpc>
              <a:spcAft>
                <a:spcPts val="400"/>
              </a:spcAft>
            </a:pPr>
            <a:r>
              <a:rPr sz="1700" b="0">
                <a:solidFill>
                  <a:srgbClr val="A5B9D0"/>
                </a:solidFill>
                <a:latin typeface="Segoe UI"/>
              </a:rPr>
              <a:t>set the constraints.</a:t>
            </a:r>
          </a:p>
        </p:txBody>
      </p:sp>
      <p:sp>
        <p:nvSpPr>
          <p:cNvPr id="14" name="Rounded Rectangle 13"/>
          <p:cNvSpPr/>
          <p:nvPr/>
        </p:nvSpPr>
        <p:spPr>
          <a:xfrm>
            <a:off x="4315968" y="2286000"/>
            <a:ext cx="3547872" cy="301752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35424" y="2487168"/>
            <a:ext cx="310896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70E0BA"/>
                </a:solidFill>
                <a:latin typeface="Segoe UI"/>
              </a:rPr>
              <a:t>ACA SERVERLESS GPU</a:t>
            </a:r>
          </a:p>
        </p:txBody>
      </p:sp>
      <p:sp>
        <p:nvSpPr>
          <p:cNvPr id="16" name="TextBox 15"/>
          <p:cNvSpPr txBox="1"/>
          <p:nvPr/>
        </p:nvSpPr>
        <p:spPr>
          <a:xfrm>
            <a:off x="4535424" y="2990088"/>
            <a:ext cx="3108960" cy="850392"/>
          </a:xfrm>
          <a:prstGeom prst="rect">
            <a:avLst/>
          </a:prstGeom>
          <a:noFill/>
        </p:spPr>
        <p:txBody>
          <a:bodyPr wrap="square" lIns="9144" rIns="9144" tIns="18288" bIns="18288">
            <a:spAutoFit/>
          </a:bodyPr>
          <a:lstStyle/>
          <a:p>
            <a:pPr algn="l">
              <a:lnSpc>
                <a:spcPct val="112000"/>
              </a:lnSpc>
              <a:spcAft>
                <a:spcPts val="400"/>
              </a:spcAft>
            </a:pPr>
            <a:r>
              <a:rPr sz="2300" b="1">
                <a:solidFill>
                  <a:srgbClr val="F4F8FF"/>
                </a:solidFill>
                <a:latin typeface="Segoe UI"/>
              </a:rPr>
              <a:t>Own the container</a:t>
            </a:r>
          </a:p>
        </p:txBody>
      </p:sp>
      <p:sp>
        <p:nvSpPr>
          <p:cNvPr id="17" name="TextBox 16"/>
          <p:cNvSpPr txBox="1"/>
          <p:nvPr/>
        </p:nvSpPr>
        <p:spPr>
          <a:xfrm>
            <a:off x="4535424" y="3895344"/>
            <a:ext cx="3108960" cy="1335023"/>
          </a:xfrm>
          <a:prstGeom prst="rect">
            <a:avLst/>
          </a:prstGeom>
          <a:noFill/>
        </p:spPr>
        <p:txBody>
          <a:bodyPr wrap="square" lIns="9144" rIns="9144" tIns="18288" bIns="18288">
            <a:spAutoFit/>
          </a:bodyPr>
          <a:lstStyle/>
          <a:p>
            <a:pPr algn="l">
              <a:lnSpc>
                <a:spcPct val="112000"/>
              </a:lnSpc>
              <a:spcAft>
                <a:spcPts val="400"/>
              </a:spcAft>
            </a:pPr>
            <a:r>
              <a:rPr sz="1700" b="0">
                <a:solidFill>
                  <a:srgbClr val="A5B9D0"/>
                </a:solidFill>
                <a:latin typeface="Segoe UI"/>
              </a:rPr>
              <a:t>Custom model and runtime.</a:t>
            </a:r>
          </a:p>
          <a:p>
            <a:pPr algn="l">
              <a:lnSpc>
                <a:spcPct val="112000"/>
              </a:lnSpc>
              <a:spcAft>
                <a:spcPts val="400"/>
              </a:spcAft>
            </a:pPr>
            <a:r>
              <a:rPr sz="1700" b="0">
                <a:solidFill>
                  <a:srgbClr val="A5B9D0"/>
                </a:solidFill>
                <a:latin typeface="Segoe UI"/>
              </a:rPr>
              <a:t>Managed GPU infrastructure.</a:t>
            </a:r>
          </a:p>
          <a:p>
            <a:pPr algn="l">
              <a:lnSpc>
                <a:spcPct val="112000"/>
              </a:lnSpc>
              <a:spcAft>
                <a:spcPts val="400"/>
              </a:spcAft>
            </a:pPr>
            <a:r>
              <a:rPr sz="1700" b="0">
                <a:solidFill>
                  <a:srgbClr val="A5B9D0"/>
                </a:solidFill>
                <a:latin typeface="Segoe UI"/>
              </a:rPr>
              <a:t>Replica-based scaling</a:t>
            </a:r>
          </a:p>
          <a:p>
            <a:pPr algn="l">
              <a:lnSpc>
                <a:spcPct val="112000"/>
              </a:lnSpc>
              <a:spcAft>
                <a:spcPts val="400"/>
              </a:spcAft>
            </a:pPr>
            <a:r>
              <a:rPr sz="1700" b="0">
                <a:solidFill>
                  <a:srgbClr val="A5B9D0"/>
                </a:solidFill>
                <a:latin typeface="Segoe UI"/>
              </a:rPr>
              <a:t>with a zero-replica option.</a:t>
            </a:r>
          </a:p>
        </p:txBody>
      </p:sp>
      <p:sp>
        <p:nvSpPr>
          <p:cNvPr id="18" name="Rounded Rectangle 17"/>
          <p:cNvSpPr/>
          <p:nvPr/>
        </p:nvSpPr>
        <p:spPr>
          <a:xfrm>
            <a:off x="8119872" y="2286000"/>
            <a:ext cx="3502152" cy="301752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39328" y="2487168"/>
            <a:ext cx="306324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FFC66D"/>
                </a:solidFill>
                <a:latin typeface="Segoe UI"/>
              </a:rPr>
              <a:t>AKS / GPU VMS</a:t>
            </a:r>
          </a:p>
        </p:txBody>
      </p:sp>
      <p:sp>
        <p:nvSpPr>
          <p:cNvPr id="20" name="TextBox 19"/>
          <p:cNvSpPr txBox="1"/>
          <p:nvPr/>
        </p:nvSpPr>
        <p:spPr>
          <a:xfrm>
            <a:off x="8339328" y="2990088"/>
            <a:ext cx="3063240" cy="850392"/>
          </a:xfrm>
          <a:prstGeom prst="rect">
            <a:avLst/>
          </a:prstGeom>
          <a:noFill/>
        </p:spPr>
        <p:txBody>
          <a:bodyPr wrap="square" lIns="9144" rIns="9144" tIns="18288" bIns="18288">
            <a:spAutoFit/>
          </a:bodyPr>
          <a:lstStyle/>
          <a:p>
            <a:pPr algn="l">
              <a:lnSpc>
                <a:spcPct val="112000"/>
              </a:lnSpc>
              <a:spcAft>
                <a:spcPts val="400"/>
              </a:spcAft>
            </a:pPr>
            <a:r>
              <a:rPr sz="2300" b="1">
                <a:solidFill>
                  <a:srgbClr val="F4F8FF"/>
                </a:solidFill>
                <a:latin typeface="Segoe UI"/>
              </a:rPr>
              <a:t>Own more compute</a:t>
            </a:r>
          </a:p>
        </p:txBody>
      </p:sp>
      <p:sp>
        <p:nvSpPr>
          <p:cNvPr id="21" name="TextBox 20"/>
          <p:cNvSpPr txBox="1"/>
          <p:nvPr/>
        </p:nvSpPr>
        <p:spPr>
          <a:xfrm>
            <a:off x="8339328" y="3895344"/>
            <a:ext cx="3063240" cy="1335023"/>
          </a:xfrm>
          <a:prstGeom prst="rect">
            <a:avLst/>
          </a:prstGeom>
          <a:noFill/>
        </p:spPr>
        <p:txBody>
          <a:bodyPr wrap="square" lIns="9144" rIns="9144" tIns="18288" bIns="18288">
            <a:spAutoFit/>
          </a:bodyPr>
          <a:lstStyle/>
          <a:p>
            <a:pPr algn="l">
              <a:lnSpc>
                <a:spcPct val="112000"/>
              </a:lnSpc>
              <a:spcAft>
                <a:spcPts val="400"/>
              </a:spcAft>
            </a:pPr>
            <a:r>
              <a:rPr sz="1700" b="0">
                <a:solidFill>
                  <a:srgbClr val="A5B9D0"/>
                </a:solidFill>
                <a:latin typeface="Segoe UI"/>
              </a:rPr>
              <a:t>More scheduling and</a:t>
            </a:r>
          </a:p>
          <a:p>
            <a:pPr algn="l">
              <a:lnSpc>
                <a:spcPct val="112000"/>
              </a:lnSpc>
              <a:spcAft>
                <a:spcPts val="400"/>
              </a:spcAft>
            </a:pPr>
            <a:r>
              <a:rPr sz="1700" b="0">
                <a:solidFill>
                  <a:srgbClr val="A5B9D0"/>
                </a:solidFill>
                <a:latin typeface="Segoe UI"/>
              </a:rPr>
              <a:t>infrastructure control.</a:t>
            </a:r>
          </a:p>
          <a:p>
            <a:pPr algn="l">
              <a:lnSpc>
                <a:spcPct val="112000"/>
              </a:lnSpc>
              <a:spcAft>
                <a:spcPts val="400"/>
              </a:spcAft>
            </a:pPr>
            <a:r>
              <a:rPr sz="1700" b="0">
                <a:solidFill>
                  <a:srgbClr val="A5B9D0"/>
                </a:solidFill>
                <a:latin typeface="Segoe UI"/>
              </a:rPr>
              <a:t>More operational work.</a:t>
            </a:r>
          </a:p>
          <a:p>
            <a:pPr algn="l">
              <a:lnSpc>
                <a:spcPct val="112000"/>
              </a:lnSpc>
              <a:spcAft>
                <a:spcPts val="400"/>
              </a:spcAft>
            </a:pPr>
            <a:r>
              <a:rPr sz="1700" b="0">
                <a:solidFill>
                  <a:srgbClr val="A5B9D0"/>
                </a:solidFill>
                <a:latin typeface="Segoe UI"/>
              </a:rPr>
              <a:t>Evaluate for advanced needs.</a:t>
            </a:r>
          </a:p>
        </p:txBody>
      </p:sp>
      <p:sp>
        <p:nvSpPr>
          <p:cNvPr id="22" name="Rounded Rectangle 21"/>
          <p:cNvSpPr/>
          <p:nvPr/>
        </p:nvSpPr>
        <p:spPr>
          <a:xfrm>
            <a:off x="512064" y="5623560"/>
            <a:ext cx="11109960" cy="45720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687568"/>
            <a:ext cx="10744200" cy="310896"/>
          </a:xfrm>
          <a:prstGeom prst="rect">
            <a:avLst/>
          </a:prstGeom>
          <a:noFill/>
        </p:spPr>
        <p:txBody>
          <a:bodyPr wrap="square" lIns="9144" rIns="9144" tIns="18288" bIns="18288">
            <a:spAutoFit/>
          </a:bodyPr>
          <a:lstStyle/>
          <a:p>
            <a:pPr algn="l">
              <a:lnSpc>
                <a:spcPct val="112000"/>
              </a:lnSpc>
              <a:spcAft>
                <a:spcPts val="400"/>
              </a:spcAft>
            </a:pPr>
            <a:r>
              <a:rPr sz="1500" b="1">
                <a:solidFill>
                  <a:srgbClr val="53D5F5"/>
                </a:solidFill>
                <a:latin typeface="Segoe UI"/>
              </a:rPr>
              <a:t>Choose ACA when container-level control matters more than cluster-level control.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9182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548640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53D5F5"/>
                </a:solidFill>
                <a:latin typeface="Segoe UI"/>
              </a:rPr>
              <a:t>03 / RESPONSIBILITY MODEL</a:t>
            </a:r>
          </a:p>
        </p:txBody>
      </p:sp>
      <p:sp>
        <p:nvSpPr>
          <p:cNvPr id="4" name="TextBox 3"/>
          <p:cNvSpPr txBox="1"/>
          <p:nvPr/>
        </p:nvSpPr>
        <p:spPr>
          <a:xfrm>
            <a:off x="502920" y="786384"/>
            <a:ext cx="11109960" cy="658368"/>
          </a:xfrm>
          <a:prstGeom prst="rect">
            <a:avLst/>
          </a:prstGeom>
          <a:noFill/>
        </p:spPr>
        <p:txBody>
          <a:bodyPr wrap="square" lIns="9144" rIns="9144" tIns="18288" bIns="18288">
            <a:spAutoFit/>
          </a:bodyPr>
          <a:lstStyle/>
          <a:p>
            <a:pPr algn="l">
              <a:lnSpc>
                <a:spcPct val="112000"/>
              </a:lnSpc>
              <a:spcAft>
                <a:spcPts val="400"/>
              </a:spcAft>
            </a:pPr>
            <a:r>
              <a:rPr sz="3100" b="1">
                <a:solidFill>
                  <a:srgbClr val="F4F8FF"/>
                </a:solidFill>
                <a:latin typeface="Segoe UI"/>
              </a:rPr>
              <a:t>You deliver the inference service. Azure runs the hosts.</a:t>
            </a:r>
          </a:p>
        </p:txBody>
      </p:sp>
      <p:sp>
        <p:nvSpPr>
          <p:cNvPr id="5" name="TextBox 4"/>
          <p:cNvSpPr txBox="1"/>
          <p:nvPr/>
        </p:nvSpPr>
        <p:spPr>
          <a:xfrm>
            <a:off x="521207" y="1508760"/>
            <a:ext cx="11064240" cy="576072"/>
          </a:xfrm>
          <a:prstGeom prst="rect">
            <a:avLst/>
          </a:prstGeom>
          <a:noFill/>
        </p:spPr>
        <p:txBody>
          <a:bodyPr wrap="square" lIns="9144" rIns="9144" tIns="18288" bIns="18288">
            <a:spAutoFit/>
          </a:bodyPr>
          <a:lstStyle/>
          <a:p>
            <a:pPr algn="l">
              <a:lnSpc>
                <a:spcPct val="112000"/>
              </a:lnSpc>
              <a:spcAft>
                <a:spcPts val="400"/>
              </a:spcAft>
            </a:pPr>
            <a:r>
              <a:rPr sz="1700" b="0">
                <a:solidFill>
                  <a:srgbClr val="A5B9D0"/>
                </a:solidFill>
                <a:latin typeface="Segoe UI"/>
              </a:rPr>
              <a:t>Serverless GPU is a Consumption GPU workload profile inside a workload-profiles environment.</a:t>
            </a:r>
          </a:p>
        </p:txBody>
      </p:sp>
      <p:cxnSp>
        <p:nvCxnSpPr>
          <p:cNvPr id="6" name="Connector 5"/>
          <p:cNvCxnSpPr/>
          <p:nvPr/>
        </p:nvCxnSpPr>
        <p:spPr>
          <a:xfrm>
            <a:off x="502920" y="6327648"/>
            <a:ext cx="11155680" cy="0"/>
          </a:xfrm>
          <a:prstGeom prst="line">
            <a:avLst/>
          </a:prstGeom>
          <a:ln w="10160">
            <a:solidFill>
              <a:srgbClr val="29435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21207" y="6473952"/>
            <a:ext cx="5303520" cy="201168"/>
          </a:xfrm>
          <a:prstGeom prst="rect">
            <a:avLst/>
          </a:prstGeom>
          <a:noFill/>
        </p:spPr>
        <p:txBody>
          <a:bodyPr wrap="square" lIns="9144" rIns="9144" tIns="18288" bIns="18288">
            <a:spAutoFit/>
          </a:bodyPr>
          <a:lstStyle/>
          <a:p>
            <a:pPr algn="l">
              <a:lnSpc>
                <a:spcPct val="112000"/>
              </a:lnSpc>
              <a:spcAft>
                <a:spcPts val="400"/>
              </a:spcAft>
            </a:pPr>
            <a:r>
              <a:rPr sz="900" b="0">
                <a:solidFill>
                  <a:srgbClr val="A5B9D0"/>
                </a:solidFill>
                <a:latin typeface="Segoe UI"/>
              </a:rPr>
              <a:t>AZURE CONTAINER APPS  /  SERVERLESS GPU</a:t>
            </a:r>
          </a:p>
        </p:txBody>
      </p:sp>
      <p:sp>
        <p:nvSpPr>
          <p:cNvPr id="8" name="TextBox 7"/>
          <p:cNvSpPr txBox="1"/>
          <p:nvPr/>
        </p:nvSpPr>
        <p:spPr>
          <a:xfrm>
            <a:off x="5486400" y="6455664"/>
            <a:ext cx="5303520" cy="256032"/>
          </a:xfrm>
          <a:prstGeom prst="rect">
            <a:avLst/>
          </a:prstGeom>
          <a:noFill/>
        </p:spPr>
        <p:txBody>
          <a:bodyPr wrap="square" lIns="9144" rIns="9144" tIns="18288" bIns="18288">
            <a:spAutoFit/>
          </a:bodyPr>
          <a:lstStyle/>
          <a:p>
            <a:pPr algn="r">
              <a:lnSpc>
                <a:spcPct val="112000"/>
              </a:lnSpc>
              <a:spcAft>
                <a:spcPts val="400"/>
              </a:spcAft>
            </a:pPr>
            <a:r>
              <a:rPr sz="900" b="0">
                <a:solidFill>
                  <a:srgbClr val="A5B9D0"/>
                </a:solidFill>
                <a:latin typeface="Segoe UI"/>
                <a:hlinkClick r:id="rId2"/>
              </a:rPr>
              <a:t>Source: GPU overview | Workload profiles</a:t>
            </a:r>
          </a:p>
        </p:txBody>
      </p:sp>
      <p:sp>
        <p:nvSpPr>
          <p:cNvPr id="9" name="TextBox 8"/>
          <p:cNvSpPr txBox="1"/>
          <p:nvPr/>
        </p:nvSpPr>
        <p:spPr>
          <a:xfrm>
            <a:off x="11082528" y="6428232"/>
            <a:ext cx="548640" cy="274320"/>
          </a:xfrm>
          <a:prstGeom prst="rect">
            <a:avLst/>
          </a:prstGeom>
          <a:noFill/>
        </p:spPr>
        <p:txBody>
          <a:bodyPr wrap="square" lIns="9144" rIns="9144" tIns="18288" bIns="18288">
            <a:spAutoFit/>
          </a:bodyPr>
          <a:lstStyle/>
          <a:p>
            <a:pPr algn="r">
              <a:lnSpc>
                <a:spcPct val="112000"/>
              </a:lnSpc>
              <a:spcAft>
                <a:spcPts val="400"/>
              </a:spcAft>
            </a:pPr>
            <a:r>
              <a:rPr sz="1200" b="0">
                <a:solidFill>
                  <a:srgbClr val="53D5F5"/>
                </a:solidFill>
                <a:latin typeface="Segoe UI"/>
              </a:rPr>
              <a:t>04</a:t>
            </a:r>
          </a:p>
        </p:txBody>
      </p:sp>
      <p:sp>
        <p:nvSpPr>
          <p:cNvPr id="10" name="Rounded Rectangle 9"/>
          <p:cNvSpPr/>
          <p:nvPr/>
        </p:nvSpPr>
        <p:spPr>
          <a:xfrm>
            <a:off x="512064" y="2286000"/>
            <a:ext cx="5422392" cy="3044952"/>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0664" y="2514600"/>
            <a:ext cx="493776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53D5F5"/>
                </a:solidFill>
                <a:latin typeface="Segoe UI"/>
              </a:rPr>
              <a:t>YOUR TEAM</a:t>
            </a:r>
          </a:p>
        </p:txBody>
      </p:sp>
      <p:sp>
        <p:nvSpPr>
          <p:cNvPr id="12" name="TextBox 11"/>
          <p:cNvSpPr txBox="1"/>
          <p:nvPr/>
        </p:nvSpPr>
        <p:spPr>
          <a:xfrm>
            <a:off x="758952" y="3035808"/>
            <a:ext cx="4892040" cy="429768"/>
          </a:xfrm>
          <a:prstGeom prst="rect">
            <a:avLst/>
          </a:prstGeom>
          <a:noFill/>
        </p:spPr>
        <p:txBody>
          <a:bodyPr wrap="square" lIns="9144" rIns="9144" tIns="18288" bIns="18288">
            <a:spAutoFit/>
          </a:bodyPr>
          <a:lstStyle/>
          <a:p>
            <a:pPr algn="l">
              <a:lnSpc>
                <a:spcPct val="112000"/>
              </a:lnSpc>
              <a:spcAft>
                <a:spcPts val="400"/>
              </a:spcAft>
            </a:pPr>
            <a:r>
              <a:rPr sz="1700" b="0">
                <a:solidFill>
                  <a:srgbClr val="F4F8FF"/>
                </a:solidFill>
                <a:latin typeface="Segoe UI"/>
              </a:rPr>
              <a:t>Container image, model weights and licenses</a:t>
            </a:r>
          </a:p>
        </p:txBody>
      </p:sp>
      <p:sp>
        <p:nvSpPr>
          <p:cNvPr id="13" name="TextBox 12"/>
          <p:cNvSpPr txBox="1"/>
          <p:nvPr/>
        </p:nvSpPr>
        <p:spPr>
          <a:xfrm>
            <a:off x="758952" y="3529584"/>
            <a:ext cx="4892040" cy="429768"/>
          </a:xfrm>
          <a:prstGeom prst="rect">
            <a:avLst/>
          </a:prstGeom>
          <a:noFill/>
        </p:spPr>
        <p:txBody>
          <a:bodyPr wrap="square" lIns="9144" rIns="9144" tIns="18288" bIns="18288">
            <a:spAutoFit/>
          </a:bodyPr>
          <a:lstStyle/>
          <a:p>
            <a:pPr algn="l">
              <a:lnSpc>
                <a:spcPct val="112000"/>
              </a:lnSpc>
              <a:spcAft>
                <a:spcPts val="400"/>
              </a:spcAft>
            </a:pPr>
            <a:r>
              <a:rPr sz="1700" b="0">
                <a:solidFill>
                  <a:srgbClr val="F4F8FF"/>
                </a:solidFill>
                <a:latin typeface="Segoe UI"/>
              </a:rPr>
              <a:t>Inference runtime, CUDA dependencies and API</a:t>
            </a:r>
          </a:p>
        </p:txBody>
      </p:sp>
      <p:sp>
        <p:nvSpPr>
          <p:cNvPr id="14" name="TextBox 13"/>
          <p:cNvSpPr txBox="1"/>
          <p:nvPr/>
        </p:nvSpPr>
        <p:spPr>
          <a:xfrm>
            <a:off x="758952" y="4023360"/>
            <a:ext cx="4892040" cy="429768"/>
          </a:xfrm>
          <a:prstGeom prst="rect">
            <a:avLst/>
          </a:prstGeom>
          <a:noFill/>
        </p:spPr>
        <p:txBody>
          <a:bodyPr wrap="square" lIns="9144" rIns="9144" tIns="18288" bIns="18288">
            <a:spAutoFit/>
          </a:bodyPr>
          <a:lstStyle/>
          <a:p>
            <a:pPr algn="l">
              <a:lnSpc>
                <a:spcPct val="112000"/>
              </a:lnSpc>
              <a:spcAft>
                <a:spcPts val="400"/>
              </a:spcAft>
            </a:pPr>
            <a:r>
              <a:rPr sz="1700" b="0">
                <a:solidFill>
                  <a:srgbClr val="F4F8FF"/>
                </a:solidFill>
                <a:latin typeface="Segoe UI"/>
              </a:rPr>
              <a:t>Scale limits, probes, identity and access</a:t>
            </a:r>
          </a:p>
        </p:txBody>
      </p:sp>
      <p:sp>
        <p:nvSpPr>
          <p:cNvPr id="15" name="TextBox 14"/>
          <p:cNvSpPr txBox="1"/>
          <p:nvPr/>
        </p:nvSpPr>
        <p:spPr>
          <a:xfrm>
            <a:off x="758952" y="4517136"/>
            <a:ext cx="4892040" cy="429768"/>
          </a:xfrm>
          <a:prstGeom prst="rect">
            <a:avLst/>
          </a:prstGeom>
          <a:noFill/>
        </p:spPr>
        <p:txBody>
          <a:bodyPr wrap="square" lIns="9144" rIns="9144" tIns="18288" bIns="18288">
            <a:spAutoFit/>
          </a:bodyPr>
          <a:lstStyle/>
          <a:p>
            <a:pPr algn="l">
              <a:lnSpc>
                <a:spcPct val="112000"/>
              </a:lnSpc>
              <a:spcAft>
                <a:spcPts val="400"/>
              </a:spcAft>
            </a:pPr>
            <a:r>
              <a:rPr sz="1700" b="0">
                <a:solidFill>
                  <a:srgbClr val="F4F8FF"/>
                </a:solidFill>
                <a:latin typeface="Segoe UI"/>
              </a:rPr>
              <a:t>Model quality, latency targets and telemetry</a:t>
            </a:r>
          </a:p>
        </p:txBody>
      </p:sp>
      <p:sp>
        <p:nvSpPr>
          <p:cNvPr id="16" name="Rounded Rectangle 15"/>
          <p:cNvSpPr/>
          <p:nvPr/>
        </p:nvSpPr>
        <p:spPr>
          <a:xfrm>
            <a:off x="6199632" y="2286000"/>
            <a:ext cx="5422392" cy="3044952"/>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2514600"/>
            <a:ext cx="493776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70E0BA"/>
                </a:solidFill>
                <a:latin typeface="Segoe UI"/>
              </a:rPr>
              <a:t>AZURE PLATFORM</a:t>
            </a:r>
          </a:p>
        </p:txBody>
      </p:sp>
      <p:sp>
        <p:nvSpPr>
          <p:cNvPr id="18" name="TextBox 17"/>
          <p:cNvSpPr txBox="1"/>
          <p:nvPr/>
        </p:nvSpPr>
        <p:spPr>
          <a:xfrm>
            <a:off x="6446520" y="3035808"/>
            <a:ext cx="4892040" cy="429768"/>
          </a:xfrm>
          <a:prstGeom prst="rect">
            <a:avLst/>
          </a:prstGeom>
          <a:noFill/>
        </p:spPr>
        <p:txBody>
          <a:bodyPr wrap="square" lIns="9144" rIns="9144" tIns="18288" bIns="18288">
            <a:spAutoFit/>
          </a:bodyPr>
          <a:lstStyle/>
          <a:p>
            <a:pPr algn="l">
              <a:lnSpc>
                <a:spcPct val="112000"/>
              </a:lnSpc>
              <a:spcAft>
                <a:spcPts val="400"/>
              </a:spcAft>
            </a:pPr>
            <a:r>
              <a:rPr sz="1700" b="0">
                <a:solidFill>
                  <a:srgbClr val="F4F8FF"/>
                </a:solidFill>
                <a:latin typeface="Segoe UI"/>
              </a:rPr>
              <a:t>GPU-enabled infrastructure and host lifecycle</a:t>
            </a:r>
          </a:p>
        </p:txBody>
      </p:sp>
      <p:sp>
        <p:nvSpPr>
          <p:cNvPr id="19" name="TextBox 18"/>
          <p:cNvSpPr txBox="1"/>
          <p:nvPr/>
        </p:nvSpPr>
        <p:spPr>
          <a:xfrm>
            <a:off x="6446520" y="3529584"/>
            <a:ext cx="4892040" cy="429768"/>
          </a:xfrm>
          <a:prstGeom prst="rect">
            <a:avLst/>
          </a:prstGeom>
          <a:noFill/>
        </p:spPr>
        <p:txBody>
          <a:bodyPr wrap="square" lIns="9144" rIns="9144" tIns="18288" bIns="18288">
            <a:spAutoFit/>
          </a:bodyPr>
          <a:lstStyle/>
          <a:p>
            <a:pPr algn="l">
              <a:lnSpc>
                <a:spcPct val="112000"/>
              </a:lnSpc>
              <a:spcAft>
                <a:spcPts val="400"/>
              </a:spcAft>
            </a:pPr>
            <a:r>
              <a:rPr sz="1700" b="0">
                <a:solidFill>
                  <a:srgbClr val="F4F8FF"/>
                </a:solidFill>
                <a:latin typeface="Segoe UI"/>
              </a:rPr>
              <a:t>Platform NVIDIA driver and runtime updates</a:t>
            </a:r>
          </a:p>
        </p:txBody>
      </p:sp>
      <p:sp>
        <p:nvSpPr>
          <p:cNvPr id="20" name="TextBox 19"/>
          <p:cNvSpPr txBox="1"/>
          <p:nvPr/>
        </p:nvSpPr>
        <p:spPr>
          <a:xfrm>
            <a:off x="6446520" y="4023360"/>
            <a:ext cx="4892040" cy="429768"/>
          </a:xfrm>
          <a:prstGeom prst="rect">
            <a:avLst/>
          </a:prstGeom>
          <a:noFill/>
        </p:spPr>
        <p:txBody>
          <a:bodyPr wrap="square" lIns="9144" rIns="9144" tIns="18288" bIns="18288">
            <a:spAutoFit/>
          </a:bodyPr>
          <a:lstStyle/>
          <a:p>
            <a:pPr algn="l">
              <a:lnSpc>
                <a:spcPct val="112000"/>
              </a:lnSpc>
              <a:spcAft>
                <a:spcPts val="400"/>
              </a:spcAft>
            </a:pPr>
            <a:r>
              <a:rPr sz="1700" b="0">
                <a:solidFill>
                  <a:srgbClr val="F4F8FF"/>
                </a:solidFill>
                <a:latin typeface="Segoe UI"/>
              </a:rPr>
              <a:t>Replica orchestration and scaling execution</a:t>
            </a:r>
          </a:p>
        </p:txBody>
      </p:sp>
      <p:sp>
        <p:nvSpPr>
          <p:cNvPr id="21" name="TextBox 20"/>
          <p:cNvSpPr txBox="1"/>
          <p:nvPr/>
        </p:nvSpPr>
        <p:spPr>
          <a:xfrm>
            <a:off x="6446520" y="4517136"/>
            <a:ext cx="4892040" cy="429768"/>
          </a:xfrm>
          <a:prstGeom prst="rect">
            <a:avLst/>
          </a:prstGeom>
          <a:noFill/>
        </p:spPr>
        <p:txBody>
          <a:bodyPr wrap="square" lIns="9144" rIns="9144" tIns="18288" bIns="18288">
            <a:spAutoFit/>
          </a:bodyPr>
          <a:lstStyle/>
          <a:p>
            <a:pPr algn="l">
              <a:lnSpc>
                <a:spcPct val="112000"/>
              </a:lnSpc>
              <a:spcAft>
                <a:spcPts val="400"/>
              </a:spcAft>
            </a:pPr>
            <a:r>
              <a:rPr sz="1700" b="0">
                <a:solidFill>
                  <a:srgbClr val="F4F8FF"/>
                </a:solidFill>
                <a:latin typeface="Segoe UI"/>
              </a:rPr>
              <a:t>Managed ingress and revision capabilities</a:t>
            </a:r>
          </a:p>
        </p:txBody>
      </p:sp>
      <p:sp>
        <p:nvSpPr>
          <p:cNvPr id="22" name="Rounded Rectangle 21"/>
          <p:cNvSpPr/>
          <p:nvPr/>
        </p:nvSpPr>
        <p:spPr>
          <a:xfrm>
            <a:off x="512064" y="5623560"/>
            <a:ext cx="11109960" cy="45720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687568"/>
            <a:ext cx="10744200" cy="310896"/>
          </a:xfrm>
          <a:prstGeom prst="rect">
            <a:avLst/>
          </a:prstGeom>
          <a:noFill/>
        </p:spPr>
        <p:txBody>
          <a:bodyPr wrap="square" lIns="9144" rIns="9144" tIns="18288" bIns="18288">
            <a:spAutoFit/>
          </a:bodyPr>
          <a:lstStyle/>
          <a:p>
            <a:pPr algn="l">
              <a:lnSpc>
                <a:spcPct val="112000"/>
              </a:lnSpc>
              <a:spcAft>
                <a:spcPts val="400"/>
              </a:spcAft>
            </a:pPr>
            <a:r>
              <a:rPr sz="1500" b="1">
                <a:solidFill>
                  <a:srgbClr val="FFC66D"/>
                </a:solidFill>
                <a:latin typeface="Segoe UI"/>
              </a:rPr>
              <a:t>Important: a legacy Consumption-only environment does NOT support serverless GPUs.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9182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548640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53D5F5"/>
                </a:solidFill>
                <a:latin typeface="Segoe UI"/>
              </a:rPr>
              <a:t>04 / GPU SELECTION</a:t>
            </a:r>
          </a:p>
        </p:txBody>
      </p:sp>
      <p:sp>
        <p:nvSpPr>
          <p:cNvPr id="4" name="TextBox 3"/>
          <p:cNvSpPr txBox="1"/>
          <p:nvPr/>
        </p:nvSpPr>
        <p:spPr>
          <a:xfrm>
            <a:off x="502920" y="786384"/>
            <a:ext cx="11109960" cy="658368"/>
          </a:xfrm>
          <a:prstGeom prst="rect">
            <a:avLst/>
          </a:prstGeom>
          <a:noFill/>
        </p:spPr>
        <p:txBody>
          <a:bodyPr wrap="square" lIns="9144" rIns="9144" tIns="18288" bIns="18288">
            <a:spAutoFit/>
          </a:bodyPr>
          <a:lstStyle/>
          <a:p>
            <a:pPr algn="l">
              <a:lnSpc>
                <a:spcPct val="112000"/>
              </a:lnSpc>
              <a:spcAft>
                <a:spcPts val="400"/>
              </a:spcAft>
            </a:pPr>
            <a:r>
              <a:rPr sz="3100" b="1">
                <a:solidFill>
                  <a:srgbClr val="F4F8FF"/>
                </a:solidFill>
                <a:latin typeface="Segoe UI"/>
              </a:rPr>
              <a:t>T4 or A100? Start with memory, then benchmark.</a:t>
            </a:r>
          </a:p>
        </p:txBody>
      </p:sp>
      <p:sp>
        <p:nvSpPr>
          <p:cNvPr id="5" name="TextBox 4"/>
          <p:cNvSpPr txBox="1"/>
          <p:nvPr/>
        </p:nvSpPr>
        <p:spPr>
          <a:xfrm>
            <a:off x="521207" y="1508760"/>
            <a:ext cx="11064240" cy="576072"/>
          </a:xfrm>
          <a:prstGeom prst="rect">
            <a:avLst/>
          </a:prstGeom>
          <a:noFill/>
        </p:spPr>
        <p:txBody>
          <a:bodyPr wrap="square" lIns="9144" rIns="9144" tIns="18288" bIns="18288">
            <a:spAutoFit/>
          </a:bodyPr>
          <a:lstStyle/>
          <a:p>
            <a:pPr algn="l">
              <a:lnSpc>
                <a:spcPct val="112000"/>
              </a:lnSpc>
              <a:spcAft>
                <a:spcPts val="400"/>
              </a:spcAft>
            </a:pPr>
            <a:r>
              <a:rPr sz="1700" b="0">
                <a:solidFill>
                  <a:srgbClr val="A5B9D0"/>
                </a:solidFill>
                <a:latin typeface="Segoe UI"/>
              </a:rPr>
              <a:t>Model weights are only part of GPU memory use: leave room for runtime, activations and KV cache.</a:t>
            </a:r>
          </a:p>
        </p:txBody>
      </p:sp>
      <p:cxnSp>
        <p:nvCxnSpPr>
          <p:cNvPr id="6" name="Connector 5"/>
          <p:cNvCxnSpPr/>
          <p:nvPr/>
        </p:nvCxnSpPr>
        <p:spPr>
          <a:xfrm>
            <a:off x="502920" y="6327648"/>
            <a:ext cx="11155680" cy="0"/>
          </a:xfrm>
          <a:prstGeom prst="line">
            <a:avLst/>
          </a:prstGeom>
          <a:ln w="10160">
            <a:solidFill>
              <a:srgbClr val="29435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21207" y="6473952"/>
            <a:ext cx="5303520" cy="201168"/>
          </a:xfrm>
          <a:prstGeom prst="rect">
            <a:avLst/>
          </a:prstGeom>
          <a:noFill/>
        </p:spPr>
        <p:txBody>
          <a:bodyPr wrap="square" lIns="9144" rIns="9144" tIns="18288" bIns="18288">
            <a:spAutoFit/>
          </a:bodyPr>
          <a:lstStyle/>
          <a:p>
            <a:pPr algn="l">
              <a:lnSpc>
                <a:spcPct val="112000"/>
              </a:lnSpc>
              <a:spcAft>
                <a:spcPts val="400"/>
              </a:spcAft>
            </a:pPr>
            <a:r>
              <a:rPr sz="900" b="0">
                <a:solidFill>
                  <a:srgbClr val="A5B9D0"/>
                </a:solidFill>
                <a:latin typeface="Segoe UI"/>
              </a:rPr>
              <a:t>AZURE CONTAINER APPS  /  SERVERLESS GPU</a:t>
            </a:r>
          </a:p>
        </p:txBody>
      </p:sp>
      <p:sp>
        <p:nvSpPr>
          <p:cNvPr id="8" name="TextBox 7"/>
          <p:cNvSpPr txBox="1"/>
          <p:nvPr/>
        </p:nvSpPr>
        <p:spPr>
          <a:xfrm>
            <a:off x="5486400" y="6455664"/>
            <a:ext cx="5303520" cy="256032"/>
          </a:xfrm>
          <a:prstGeom prst="rect">
            <a:avLst/>
          </a:prstGeom>
          <a:noFill/>
        </p:spPr>
        <p:txBody>
          <a:bodyPr wrap="square" lIns="9144" rIns="9144" tIns="18288" bIns="18288">
            <a:spAutoFit/>
          </a:bodyPr>
          <a:lstStyle/>
          <a:p>
            <a:pPr algn="r">
              <a:lnSpc>
                <a:spcPct val="112000"/>
              </a:lnSpc>
              <a:spcAft>
                <a:spcPts val="400"/>
              </a:spcAft>
            </a:pPr>
            <a:r>
              <a:rPr sz="900" b="0">
                <a:solidFill>
                  <a:srgbClr val="A5B9D0"/>
                </a:solidFill>
                <a:latin typeface="Segoe UI"/>
                <a:hlinkClick r:id="rId2"/>
              </a:rPr>
              <a:t>Source: GPU comparison | Workload profiles</a:t>
            </a:r>
          </a:p>
        </p:txBody>
      </p:sp>
      <p:sp>
        <p:nvSpPr>
          <p:cNvPr id="9" name="TextBox 8"/>
          <p:cNvSpPr txBox="1"/>
          <p:nvPr/>
        </p:nvSpPr>
        <p:spPr>
          <a:xfrm>
            <a:off x="11082528" y="6428232"/>
            <a:ext cx="548640" cy="274320"/>
          </a:xfrm>
          <a:prstGeom prst="rect">
            <a:avLst/>
          </a:prstGeom>
          <a:noFill/>
        </p:spPr>
        <p:txBody>
          <a:bodyPr wrap="square" lIns="9144" rIns="9144" tIns="18288" bIns="18288">
            <a:spAutoFit/>
          </a:bodyPr>
          <a:lstStyle/>
          <a:p>
            <a:pPr algn="r">
              <a:lnSpc>
                <a:spcPct val="112000"/>
              </a:lnSpc>
              <a:spcAft>
                <a:spcPts val="400"/>
              </a:spcAft>
            </a:pPr>
            <a:r>
              <a:rPr sz="1200" b="0">
                <a:solidFill>
                  <a:srgbClr val="53D5F5"/>
                </a:solidFill>
                <a:latin typeface="Segoe UI"/>
              </a:rPr>
              <a:t>05</a:t>
            </a:r>
          </a:p>
        </p:txBody>
      </p:sp>
      <p:sp>
        <p:nvSpPr>
          <p:cNvPr id="10" name="Rounded Rectangle 9"/>
          <p:cNvSpPr/>
          <p:nvPr/>
        </p:nvSpPr>
        <p:spPr>
          <a:xfrm>
            <a:off x="548640" y="2286000"/>
            <a:ext cx="3657600" cy="475488"/>
          </a:xfrm>
          <a:prstGeom prst="roundRect">
            <a:avLst>
              <a:gd name="adj" fmla="val 8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2368296"/>
            <a:ext cx="3364992" cy="274320"/>
          </a:xfrm>
          <a:prstGeom prst="rect">
            <a:avLst/>
          </a:prstGeom>
          <a:noFill/>
        </p:spPr>
        <p:txBody>
          <a:bodyPr wrap="square" lIns="9144" rIns="9144" tIns="18288" bIns="18288">
            <a:spAutoFit/>
          </a:bodyPr>
          <a:lstStyle/>
          <a:p>
            <a:pPr algn="l">
              <a:lnSpc>
                <a:spcPct val="112000"/>
              </a:lnSpc>
              <a:spcAft>
                <a:spcPts val="400"/>
              </a:spcAft>
            </a:pPr>
            <a:r>
              <a:rPr sz="1500" b="1">
                <a:solidFill>
                  <a:srgbClr val="F4F8FF"/>
                </a:solidFill>
                <a:latin typeface="Segoe UI"/>
              </a:rPr>
              <a:t>SELECTION FACTOR</a:t>
            </a:r>
          </a:p>
        </p:txBody>
      </p:sp>
      <p:sp>
        <p:nvSpPr>
          <p:cNvPr id="12" name="Rounded Rectangle 11"/>
          <p:cNvSpPr/>
          <p:nvPr/>
        </p:nvSpPr>
        <p:spPr>
          <a:xfrm>
            <a:off x="4389120" y="2286000"/>
            <a:ext cx="3383280" cy="475488"/>
          </a:xfrm>
          <a:prstGeom prst="roundRect">
            <a:avLst>
              <a:gd name="adj" fmla="val 8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2368296"/>
            <a:ext cx="3090672" cy="274320"/>
          </a:xfrm>
          <a:prstGeom prst="rect">
            <a:avLst/>
          </a:prstGeom>
          <a:noFill/>
        </p:spPr>
        <p:txBody>
          <a:bodyPr wrap="square" lIns="9144" rIns="9144" tIns="18288" bIns="18288">
            <a:spAutoFit/>
          </a:bodyPr>
          <a:lstStyle/>
          <a:p>
            <a:pPr algn="l">
              <a:lnSpc>
                <a:spcPct val="112000"/>
              </a:lnSpc>
              <a:spcAft>
                <a:spcPts val="400"/>
              </a:spcAft>
            </a:pPr>
            <a:r>
              <a:rPr sz="1500" b="1">
                <a:solidFill>
                  <a:srgbClr val="F4F8FF"/>
                </a:solidFill>
                <a:latin typeface="Segoe UI"/>
              </a:rPr>
              <a:t>NVIDIA T4</a:t>
            </a:r>
          </a:p>
        </p:txBody>
      </p:sp>
      <p:sp>
        <p:nvSpPr>
          <p:cNvPr id="14" name="Rounded Rectangle 13"/>
          <p:cNvSpPr/>
          <p:nvPr/>
        </p:nvSpPr>
        <p:spPr>
          <a:xfrm>
            <a:off x="7955279" y="2286000"/>
            <a:ext cx="3657600" cy="475488"/>
          </a:xfrm>
          <a:prstGeom prst="roundRect">
            <a:avLst>
              <a:gd name="adj" fmla="val 8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1583" y="2368296"/>
            <a:ext cx="3364992" cy="274320"/>
          </a:xfrm>
          <a:prstGeom prst="rect">
            <a:avLst/>
          </a:prstGeom>
          <a:noFill/>
        </p:spPr>
        <p:txBody>
          <a:bodyPr wrap="square" lIns="9144" rIns="9144" tIns="18288" bIns="18288">
            <a:spAutoFit/>
          </a:bodyPr>
          <a:lstStyle/>
          <a:p>
            <a:pPr algn="l">
              <a:lnSpc>
                <a:spcPct val="112000"/>
              </a:lnSpc>
              <a:spcAft>
                <a:spcPts val="400"/>
              </a:spcAft>
            </a:pPr>
            <a:r>
              <a:rPr sz="1500" b="1">
                <a:solidFill>
                  <a:srgbClr val="F4F8FF"/>
                </a:solidFill>
                <a:latin typeface="Segoe UI"/>
              </a:rPr>
              <a:t>NVIDIA A100</a:t>
            </a:r>
          </a:p>
        </p:txBody>
      </p:sp>
      <p:sp>
        <p:nvSpPr>
          <p:cNvPr id="16" name="Rectangle 15"/>
          <p:cNvSpPr/>
          <p:nvPr/>
        </p:nvSpPr>
        <p:spPr>
          <a:xfrm>
            <a:off x="548640" y="2852928"/>
            <a:ext cx="3657600" cy="512064"/>
          </a:xfrm>
          <a:prstGeom prst="rect">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2935224"/>
            <a:ext cx="3383280" cy="365760"/>
          </a:xfrm>
          <a:prstGeom prst="rect">
            <a:avLst/>
          </a:prstGeom>
          <a:noFill/>
        </p:spPr>
        <p:txBody>
          <a:bodyPr wrap="square" lIns="9144" rIns="9144" tIns="18288" bIns="18288">
            <a:spAutoFit/>
          </a:bodyPr>
          <a:lstStyle/>
          <a:p>
            <a:pPr algn="l">
              <a:lnSpc>
                <a:spcPct val="112000"/>
              </a:lnSpc>
              <a:spcAft>
                <a:spcPts val="400"/>
              </a:spcAft>
            </a:pPr>
            <a:r>
              <a:rPr sz="1600" b="0">
                <a:solidFill>
                  <a:srgbClr val="A5B9D0"/>
                </a:solidFill>
                <a:latin typeface="Segoe UI"/>
              </a:rPr>
              <a:t>GPU memory</a:t>
            </a:r>
          </a:p>
        </p:txBody>
      </p:sp>
      <p:sp>
        <p:nvSpPr>
          <p:cNvPr id="18" name="Rectangle 17"/>
          <p:cNvSpPr/>
          <p:nvPr/>
        </p:nvSpPr>
        <p:spPr>
          <a:xfrm>
            <a:off x="4389120" y="2852928"/>
            <a:ext cx="3383280" cy="512064"/>
          </a:xfrm>
          <a:prstGeom prst="rect">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35424" y="2935224"/>
            <a:ext cx="3108960" cy="365760"/>
          </a:xfrm>
          <a:prstGeom prst="rect">
            <a:avLst/>
          </a:prstGeom>
          <a:noFill/>
        </p:spPr>
        <p:txBody>
          <a:bodyPr wrap="square" lIns="9144" rIns="9144" tIns="18288" bIns="18288">
            <a:spAutoFit/>
          </a:bodyPr>
          <a:lstStyle/>
          <a:p>
            <a:pPr algn="l">
              <a:lnSpc>
                <a:spcPct val="112000"/>
              </a:lnSpc>
              <a:spcAft>
                <a:spcPts val="400"/>
              </a:spcAft>
            </a:pPr>
            <a:r>
              <a:rPr sz="1600" b="1">
                <a:solidFill>
                  <a:srgbClr val="F4F8FF"/>
                </a:solidFill>
                <a:latin typeface="Segoe UI"/>
              </a:rPr>
              <a:t>16 GB VRAM</a:t>
            </a:r>
          </a:p>
        </p:txBody>
      </p:sp>
      <p:sp>
        <p:nvSpPr>
          <p:cNvPr id="20" name="Rectangle 19"/>
          <p:cNvSpPr/>
          <p:nvPr/>
        </p:nvSpPr>
        <p:spPr>
          <a:xfrm>
            <a:off x="7955279" y="2852928"/>
            <a:ext cx="3657600" cy="512064"/>
          </a:xfrm>
          <a:prstGeom prst="rect">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01583" y="2935224"/>
            <a:ext cx="3383280" cy="365760"/>
          </a:xfrm>
          <a:prstGeom prst="rect">
            <a:avLst/>
          </a:prstGeom>
          <a:noFill/>
        </p:spPr>
        <p:txBody>
          <a:bodyPr wrap="square" lIns="9144" rIns="9144" tIns="18288" bIns="18288">
            <a:spAutoFit/>
          </a:bodyPr>
          <a:lstStyle/>
          <a:p>
            <a:pPr algn="l">
              <a:lnSpc>
                <a:spcPct val="112000"/>
              </a:lnSpc>
              <a:spcAft>
                <a:spcPts val="400"/>
              </a:spcAft>
            </a:pPr>
            <a:r>
              <a:rPr sz="1600" b="1">
                <a:solidFill>
                  <a:srgbClr val="F4F8FF"/>
                </a:solidFill>
                <a:latin typeface="Segoe UI"/>
              </a:rPr>
              <a:t>80 GB HBM2/HBM2e</a:t>
            </a:r>
          </a:p>
        </p:txBody>
      </p:sp>
      <p:sp>
        <p:nvSpPr>
          <p:cNvPr id="22" name="Rectangle 21"/>
          <p:cNvSpPr/>
          <p:nvPr/>
        </p:nvSpPr>
        <p:spPr>
          <a:xfrm>
            <a:off x="548640" y="3410712"/>
            <a:ext cx="3657600" cy="512064"/>
          </a:xfrm>
          <a:prstGeom prst="rect">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 y="3493008"/>
            <a:ext cx="3383280" cy="365760"/>
          </a:xfrm>
          <a:prstGeom prst="rect">
            <a:avLst/>
          </a:prstGeom>
          <a:noFill/>
        </p:spPr>
        <p:txBody>
          <a:bodyPr wrap="square" lIns="9144" rIns="9144" tIns="18288" bIns="18288">
            <a:spAutoFit/>
          </a:bodyPr>
          <a:lstStyle/>
          <a:p>
            <a:pPr algn="l">
              <a:lnSpc>
                <a:spcPct val="112000"/>
              </a:lnSpc>
              <a:spcAft>
                <a:spcPts val="400"/>
              </a:spcAft>
            </a:pPr>
            <a:r>
              <a:rPr sz="1600" b="0">
                <a:solidFill>
                  <a:srgbClr val="A5B9D0"/>
                </a:solidFill>
                <a:latin typeface="Segoe UI"/>
              </a:rPr>
              <a:t>Typical starting point</a:t>
            </a:r>
          </a:p>
        </p:txBody>
      </p:sp>
      <p:sp>
        <p:nvSpPr>
          <p:cNvPr id="24" name="Rectangle 23"/>
          <p:cNvSpPr/>
          <p:nvPr/>
        </p:nvSpPr>
        <p:spPr>
          <a:xfrm>
            <a:off x="4389120" y="3410712"/>
            <a:ext cx="3383280" cy="512064"/>
          </a:xfrm>
          <a:prstGeom prst="rect">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35424" y="3493008"/>
            <a:ext cx="3108960" cy="365760"/>
          </a:xfrm>
          <a:prstGeom prst="rect">
            <a:avLst/>
          </a:prstGeom>
          <a:noFill/>
        </p:spPr>
        <p:txBody>
          <a:bodyPr wrap="square" lIns="9144" rIns="9144" tIns="18288" bIns="18288">
            <a:spAutoFit/>
          </a:bodyPr>
          <a:lstStyle/>
          <a:p>
            <a:pPr algn="l">
              <a:lnSpc>
                <a:spcPct val="112000"/>
              </a:lnSpc>
              <a:spcAft>
                <a:spcPts val="400"/>
              </a:spcAft>
            </a:pPr>
            <a:r>
              <a:rPr sz="1600" b="1">
                <a:solidFill>
                  <a:srgbClr val="F4F8FF"/>
                </a:solidFill>
                <a:latin typeface="Segoe UI"/>
              </a:rPr>
              <a:t>Smaller inference models</a:t>
            </a:r>
          </a:p>
        </p:txBody>
      </p:sp>
      <p:sp>
        <p:nvSpPr>
          <p:cNvPr id="26" name="Rectangle 25"/>
          <p:cNvSpPr/>
          <p:nvPr/>
        </p:nvSpPr>
        <p:spPr>
          <a:xfrm>
            <a:off x="7955279" y="3410712"/>
            <a:ext cx="3657600" cy="512064"/>
          </a:xfrm>
          <a:prstGeom prst="rect">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01583" y="3493008"/>
            <a:ext cx="3383280" cy="365760"/>
          </a:xfrm>
          <a:prstGeom prst="rect">
            <a:avLst/>
          </a:prstGeom>
          <a:noFill/>
        </p:spPr>
        <p:txBody>
          <a:bodyPr wrap="square" lIns="9144" rIns="9144" tIns="18288" bIns="18288">
            <a:spAutoFit/>
          </a:bodyPr>
          <a:lstStyle/>
          <a:p>
            <a:pPr algn="l">
              <a:lnSpc>
                <a:spcPct val="112000"/>
              </a:lnSpc>
              <a:spcAft>
                <a:spcPts val="400"/>
              </a:spcAft>
            </a:pPr>
            <a:r>
              <a:rPr sz="1600" b="1">
                <a:solidFill>
                  <a:srgbClr val="F4F8FF"/>
                </a:solidFill>
                <a:latin typeface="Segoe UI"/>
              </a:rPr>
              <a:t>Larger / demanding models</a:t>
            </a:r>
          </a:p>
        </p:txBody>
      </p:sp>
      <p:sp>
        <p:nvSpPr>
          <p:cNvPr id="28" name="Rectangle 27"/>
          <p:cNvSpPr/>
          <p:nvPr/>
        </p:nvSpPr>
        <p:spPr>
          <a:xfrm>
            <a:off x="548640" y="3968496"/>
            <a:ext cx="3657600" cy="512064"/>
          </a:xfrm>
          <a:prstGeom prst="rect">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4944" y="4050791"/>
            <a:ext cx="3383280" cy="365760"/>
          </a:xfrm>
          <a:prstGeom prst="rect">
            <a:avLst/>
          </a:prstGeom>
          <a:noFill/>
        </p:spPr>
        <p:txBody>
          <a:bodyPr wrap="square" lIns="9144" rIns="9144" tIns="18288" bIns="18288">
            <a:spAutoFit/>
          </a:bodyPr>
          <a:lstStyle/>
          <a:p>
            <a:pPr algn="l">
              <a:lnSpc>
                <a:spcPct val="112000"/>
              </a:lnSpc>
              <a:spcAft>
                <a:spcPts val="400"/>
              </a:spcAft>
            </a:pPr>
            <a:r>
              <a:rPr sz="1600" b="0">
                <a:solidFill>
                  <a:srgbClr val="A5B9D0"/>
                </a:solidFill>
                <a:latin typeface="Segoe UI"/>
              </a:rPr>
              <a:t>Decision metric</a:t>
            </a:r>
          </a:p>
        </p:txBody>
      </p:sp>
      <p:sp>
        <p:nvSpPr>
          <p:cNvPr id="30" name="Rectangle 29"/>
          <p:cNvSpPr/>
          <p:nvPr/>
        </p:nvSpPr>
        <p:spPr>
          <a:xfrm>
            <a:off x="4389120" y="3968496"/>
            <a:ext cx="3383280" cy="512064"/>
          </a:xfrm>
          <a:prstGeom prst="rect">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35424" y="4050791"/>
            <a:ext cx="3108960" cy="365760"/>
          </a:xfrm>
          <a:prstGeom prst="rect">
            <a:avLst/>
          </a:prstGeom>
          <a:noFill/>
        </p:spPr>
        <p:txBody>
          <a:bodyPr wrap="square" lIns="9144" rIns="9144" tIns="18288" bIns="18288">
            <a:spAutoFit/>
          </a:bodyPr>
          <a:lstStyle/>
          <a:p>
            <a:pPr algn="l">
              <a:lnSpc>
                <a:spcPct val="112000"/>
              </a:lnSpc>
              <a:spcAft>
                <a:spcPts val="400"/>
              </a:spcAft>
            </a:pPr>
            <a:r>
              <a:rPr sz="1600" b="1">
                <a:solidFill>
                  <a:srgbClr val="F4F8FF"/>
                </a:solidFill>
                <a:latin typeface="Segoe UI"/>
              </a:rPr>
              <a:t>Cost per successful request</a:t>
            </a:r>
          </a:p>
        </p:txBody>
      </p:sp>
      <p:sp>
        <p:nvSpPr>
          <p:cNvPr id="32" name="Rectangle 31"/>
          <p:cNvSpPr/>
          <p:nvPr/>
        </p:nvSpPr>
        <p:spPr>
          <a:xfrm>
            <a:off x="7955279" y="3968496"/>
            <a:ext cx="3657600" cy="512064"/>
          </a:xfrm>
          <a:prstGeom prst="rect">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01583" y="4050791"/>
            <a:ext cx="3383280" cy="365760"/>
          </a:xfrm>
          <a:prstGeom prst="rect">
            <a:avLst/>
          </a:prstGeom>
          <a:noFill/>
        </p:spPr>
        <p:txBody>
          <a:bodyPr wrap="square" lIns="9144" rIns="9144" tIns="18288" bIns="18288">
            <a:spAutoFit/>
          </a:bodyPr>
          <a:lstStyle/>
          <a:p>
            <a:pPr algn="l">
              <a:lnSpc>
                <a:spcPct val="112000"/>
              </a:lnSpc>
              <a:spcAft>
                <a:spcPts val="400"/>
              </a:spcAft>
            </a:pPr>
            <a:r>
              <a:rPr sz="1600" b="1">
                <a:solidFill>
                  <a:srgbClr val="F4F8FF"/>
                </a:solidFill>
                <a:latin typeface="Segoe UI"/>
              </a:rPr>
              <a:t>Latency and throughput</a:t>
            </a:r>
          </a:p>
        </p:txBody>
      </p:sp>
      <p:sp>
        <p:nvSpPr>
          <p:cNvPr id="34" name="Rectangle 33"/>
          <p:cNvSpPr/>
          <p:nvPr/>
        </p:nvSpPr>
        <p:spPr>
          <a:xfrm>
            <a:off x="548640" y="4526280"/>
            <a:ext cx="3657600" cy="512064"/>
          </a:xfrm>
          <a:prstGeom prst="rect">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4944" y="4608576"/>
            <a:ext cx="3383280" cy="365760"/>
          </a:xfrm>
          <a:prstGeom prst="rect">
            <a:avLst/>
          </a:prstGeom>
          <a:noFill/>
        </p:spPr>
        <p:txBody>
          <a:bodyPr wrap="square" lIns="9144" rIns="9144" tIns="18288" bIns="18288">
            <a:spAutoFit/>
          </a:bodyPr>
          <a:lstStyle/>
          <a:p>
            <a:pPr algn="l">
              <a:lnSpc>
                <a:spcPct val="112000"/>
              </a:lnSpc>
              <a:spcAft>
                <a:spcPts val="400"/>
              </a:spcAft>
            </a:pPr>
            <a:r>
              <a:rPr sz="1200" b="0">
                <a:solidFill>
                  <a:srgbClr val="A5B9D0"/>
                </a:solidFill>
                <a:latin typeface="Segoe UI"/>
              </a:rPr>
              <a:t>Profile type</a:t>
            </a:r>
          </a:p>
        </p:txBody>
      </p:sp>
      <p:sp>
        <p:nvSpPr>
          <p:cNvPr id="36" name="Rectangle 35"/>
          <p:cNvSpPr/>
          <p:nvPr/>
        </p:nvSpPr>
        <p:spPr>
          <a:xfrm>
            <a:off x="4389120" y="4526280"/>
            <a:ext cx="3383280" cy="512064"/>
          </a:xfrm>
          <a:prstGeom prst="rect">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35424" y="4608576"/>
            <a:ext cx="3108960" cy="365760"/>
          </a:xfrm>
          <a:prstGeom prst="rect">
            <a:avLst/>
          </a:prstGeom>
          <a:noFill/>
        </p:spPr>
        <p:txBody>
          <a:bodyPr wrap="square" lIns="9144" rIns="9144" tIns="18288" bIns="18288">
            <a:spAutoFit/>
          </a:bodyPr>
          <a:lstStyle/>
          <a:p>
            <a:pPr algn="l">
              <a:lnSpc>
                <a:spcPct val="112000"/>
              </a:lnSpc>
              <a:spcAft>
                <a:spcPts val="400"/>
              </a:spcAft>
            </a:pPr>
            <a:r>
              <a:rPr sz="1200" b="1">
                <a:solidFill>
                  <a:srgbClr val="F4F8FF"/>
                </a:solidFill>
                <a:latin typeface="Segoe UI"/>
              </a:rPr>
              <a:t>Consumption-GPU-NC8as-T4</a:t>
            </a:r>
          </a:p>
        </p:txBody>
      </p:sp>
      <p:sp>
        <p:nvSpPr>
          <p:cNvPr id="38" name="Rectangle 37"/>
          <p:cNvSpPr/>
          <p:nvPr/>
        </p:nvSpPr>
        <p:spPr>
          <a:xfrm>
            <a:off x="7955279" y="4526280"/>
            <a:ext cx="3657600" cy="512064"/>
          </a:xfrm>
          <a:prstGeom prst="rect">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01583" y="4608576"/>
            <a:ext cx="3383280" cy="365760"/>
          </a:xfrm>
          <a:prstGeom prst="rect">
            <a:avLst/>
          </a:prstGeom>
          <a:noFill/>
        </p:spPr>
        <p:txBody>
          <a:bodyPr wrap="square" lIns="9144" rIns="9144" tIns="18288" bIns="18288">
            <a:spAutoFit/>
          </a:bodyPr>
          <a:lstStyle/>
          <a:p>
            <a:pPr algn="l">
              <a:lnSpc>
                <a:spcPct val="112000"/>
              </a:lnSpc>
              <a:spcAft>
                <a:spcPts val="400"/>
              </a:spcAft>
            </a:pPr>
            <a:r>
              <a:rPr sz="1200" b="1">
                <a:solidFill>
                  <a:srgbClr val="F4F8FF"/>
                </a:solidFill>
                <a:latin typeface="Segoe UI"/>
              </a:rPr>
              <a:t>Consumption-GPU-NC24-A100</a:t>
            </a:r>
          </a:p>
        </p:txBody>
      </p:sp>
      <p:sp>
        <p:nvSpPr>
          <p:cNvPr id="40" name="Rounded Rectangle 39"/>
          <p:cNvSpPr/>
          <p:nvPr/>
        </p:nvSpPr>
        <p:spPr>
          <a:xfrm>
            <a:off x="512064" y="5623560"/>
            <a:ext cx="11109960" cy="45720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5800" y="5687568"/>
            <a:ext cx="10744200" cy="310896"/>
          </a:xfrm>
          <a:prstGeom prst="rect">
            <a:avLst/>
          </a:prstGeom>
          <a:noFill/>
        </p:spPr>
        <p:txBody>
          <a:bodyPr wrap="square" lIns="9144" rIns="9144" tIns="18288" bIns="18288">
            <a:spAutoFit/>
          </a:bodyPr>
          <a:lstStyle/>
          <a:p>
            <a:pPr algn="l">
              <a:lnSpc>
                <a:spcPct val="112000"/>
              </a:lnSpc>
              <a:spcAft>
                <a:spcPts val="400"/>
              </a:spcAft>
            </a:pPr>
            <a:r>
              <a:rPr sz="1500" b="1">
                <a:solidFill>
                  <a:srgbClr val="53D5F5"/>
                </a:solidFill>
                <a:latin typeface="Segoe UI"/>
              </a:rPr>
              <a:t>Choose the smallest GPU that meets measured memory, throughput and latency requirements.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9182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548640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53D5F5"/>
                </a:solidFill>
                <a:latin typeface="Segoe UI"/>
              </a:rPr>
              <a:t>05 / DEPLOYMENT GATES</a:t>
            </a:r>
          </a:p>
        </p:txBody>
      </p:sp>
      <p:sp>
        <p:nvSpPr>
          <p:cNvPr id="4" name="TextBox 3"/>
          <p:cNvSpPr txBox="1"/>
          <p:nvPr/>
        </p:nvSpPr>
        <p:spPr>
          <a:xfrm>
            <a:off x="502920" y="786384"/>
            <a:ext cx="11109960" cy="658368"/>
          </a:xfrm>
          <a:prstGeom prst="rect">
            <a:avLst/>
          </a:prstGeom>
          <a:noFill/>
        </p:spPr>
        <p:txBody>
          <a:bodyPr wrap="square" lIns="9144" rIns="9144" tIns="18288" bIns="18288">
            <a:spAutoFit/>
          </a:bodyPr>
          <a:lstStyle/>
          <a:p>
            <a:pPr algn="l">
              <a:lnSpc>
                <a:spcPct val="112000"/>
              </a:lnSpc>
              <a:spcAft>
                <a:spcPts val="400"/>
              </a:spcAft>
            </a:pPr>
            <a:r>
              <a:rPr sz="3100" b="1">
                <a:solidFill>
                  <a:srgbClr val="F4F8FF"/>
                </a:solidFill>
                <a:latin typeface="Segoe UI"/>
              </a:rPr>
              <a:t>Check region, environment and quota before building</a:t>
            </a:r>
          </a:p>
        </p:txBody>
      </p:sp>
      <p:sp>
        <p:nvSpPr>
          <p:cNvPr id="5" name="TextBox 4"/>
          <p:cNvSpPr txBox="1"/>
          <p:nvPr/>
        </p:nvSpPr>
        <p:spPr>
          <a:xfrm>
            <a:off x="521207" y="1508760"/>
            <a:ext cx="11064240" cy="576072"/>
          </a:xfrm>
          <a:prstGeom prst="rect">
            <a:avLst/>
          </a:prstGeom>
          <a:noFill/>
        </p:spPr>
        <p:txBody>
          <a:bodyPr wrap="square" lIns="9144" rIns="9144" tIns="18288" bIns="18288">
            <a:spAutoFit/>
          </a:bodyPr>
          <a:lstStyle/>
          <a:p>
            <a:pPr algn="l">
              <a:lnSpc>
                <a:spcPct val="112000"/>
              </a:lnSpc>
              <a:spcAft>
                <a:spcPts val="400"/>
              </a:spcAft>
            </a:pPr>
            <a:r>
              <a:rPr sz="1700" b="0">
                <a:solidFill>
                  <a:srgbClr val="A5B9D0"/>
                </a:solidFill>
                <a:latin typeface="Segoe UI"/>
              </a:rPr>
              <a:t>GPU availability is not identical across regions or subscriptions.</a:t>
            </a:r>
          </a:p>
        </p:txBody>
      </p:sp>
      <p:cxnSp>
        <p:nvCxnSpPr>
          <p:cNvPr id="6" name="Connector 5"/>
          <p:cNvCxnSpPr/>
          <p:nvPr/>
        </p:nvCxnSpPr>
        <p:spPr>
          <a:xfrm>
            <a:off x="502920" y="6327648"/>
            <a:ext cx="11155680" cy="0"/>
          </a:xfrm>
          <a:prstGeom prst="line">
            <a:avLst/>
          </a:prstGeom>
          <a:ln w="10160">
            <a:solidFill>
              <a:srgbClr val="29435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21207" y="6473952"/>
            <a:ext cx="5303520" cy="201168"/>
          </a:xfrm>
          <a:prstGeom prst="rect">
            <a:avLst/>
          </a:prstGeom>
          <a:noFill/>
        </p:spPr>
        <p:txBody>
          <a:bodyPr wrap="square" lIns="9144" rIns="9144" tIns="18288" bIns="18288">
            <a:spAutoFit/>
          </a:bodyPr>
          <a:lstStyle/>
          <a:p>
            <a:pPr algn="l">
              <a:lnSpc>
                <a:spcPct val="112000"/>
              </a:lnSpc>
              <a:spcAft>
                <a:spcPts val="400"/>
              </a:spcAft>
            </a:pPr>
            <a:r>
              <a:rPr sz="900" b="0">
                <a:solidFill>
                  <a:srgbClr val="A5B9D0"/>
                </a:solidFill>
                <a:latin typeface="Segoe UI"/>
              </a:rPr>
              <a:t>AZURE CONTAINER APPS  /  SERVERLESS GPU</a:t>
            </a:r>
          </a:p>
        </p:txBody>
      </p:sp>
      <p:sp>
        <p:nvSpPr>
          <p:cNvPr id="8" name="TextBox 7"/>
          <p:cNvSpPr txBox="1"/>
          <p:nvPr/>
        </p:nvSpPr>
        <p:spPr>
          <a:xfrm>
            <a:off x="5486400" y="6455664"/>
            <a:ext cx="5303520" cy="256032"/>
          </a:xfrm>
          <a:prstGeom prst="rect">
            <a:avLst/>
          </a:prstGeom>
          <a:noFill/>
        </p:spPr>
        <p:txBody>
          <a:bodyPr wrap="square" lIns="9144" rIns="9144" tIns="18288" bIns="18288">
            <a:spAutoFit/>
          </a:bodyPr>
          <a:lstStyle/>
          <a:p>
            <a:pPr algn="r">
              <a:lnSpc>
                <a:spcPct val="112000"/>
              </a:lnSpc>
              <a:spcAft>
                <a:spcPts val="400"/>
              </a:spcAft>
            </a:pPr>
            <a:r>
              <a:rPr sz="900" b="0">
                <a:solidFill>
                  <a:srgbClr val="A5B9D0"/>
                </a:solidFill>
                <a:latin typeface="Segoe UI"/>
                <a:hlinkClick r:id="rId2"/>
              </a:rPr>
              <a:t>Source: GPU overview</a:t>
            </a:r>
          </a:p>
        </p:txBody>
      </p:sp>
      <p:sp>
        <p:nvSpPr>
          <p:cNvPr id="9" name="TextBox 8"/>
          <p:cNvSpPr txBox="1"/>
          <p:nvPr/>
        </p:nvSpPr>
        <p:spPr>
          <a:xfrm>
            <a:off x="11082528" y="6428232"/>
            <a:ext cx="548640" cy="274320"/>
          </a:xfrm>
          <a:prstGeom prst="rect">
            <a:avLst/>
          </a:prstGeom>
          <a:noFill/>
        </p:spPr>
        <p:txBody>
          <a:bodyPr wrap="square" lIns="9144" rIns="9144" tIns="18288" bIns="18288">
            <a:spAutoFit/>
          </a:bodyPr>
          <a:lstStyle/>
          <a:p>
            <a:pPr algn="r">
              <a:lnSpc>
                <a:spcPct val="112000"/>
              </a:lnSpc>
              <a:spcAft>
                <a:spcPts val="400"/>
              </a:spcAft>
            </a:pPr>
            <a:r>
              <a:rPr sz="1200" b="0">
                <a:solidFill>
                  <a:srgbClr val="53D5F5"/>
                </a:solidFill>
                <a:latin typeface="Segoe UI"/>
              </a:rPr>
              <a:t>06</a:t>
            </a:r>
          </a:p>
        </p:txBody>
      </p:sp>
      <p:sp>
        <p:nvSpPr>
          <p:cNvPr id="10" name="Oval 9"/>
          <p:cNvSpPr/>
          <p:nvPr/>
        </p:nvSpPr>
        <p:spPr>
          <a:xfrm>
            <a:off x="594360" y="2240280"/>
            <a:ext cx="438912" cy="43891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272284"/>
            <a:ext cx="438912" cy="292608"/>
          </a:xfrm>
          <a:prstGeom prst="rect">
            <a:avLst/>
          </a:prstGeom>
          <a:noFill/>
        </p:spPr>
        <p:txBody>
          <a:bodyPr wrap="square" lIns="9144" rIns="9144" tIns="18288" bIns="18288">
            <a:spAutoFit/>
          </a:bodyPr>
          <a:lstStyle/>
          <a:p>
            <a:pPr algn="ctr">
              <a:lnSpc>
                <a:spcPct val="112000"/>
              </a:lnSpc>
              <a:spcAft>
                <a:spcPts val="400"/>
              </a:spcAft>
            </a:pPr>
            <a:r>
              <a:rPr sz="1600" b="1">
                <a:solidFill>
                  <a:srgbClr val="F4F8FF"/>
                </a:solidFill>
                <a:latin typeface="Segoe UI"/>
              </a:rPr>
              <a:t>1</a:t>
            </a:r>
          </a:p>
        </p:txBody>
      </p:sp>
      <p:sp>
        <p:nvSpPr>
          <p:cNvPr id="12" name="TextBox 11"/>
          <p:cNvSpPr txBox="1"/>
          <p:nvPr/>
        </p:nvSpPr>
        <p:spPr>
          <a:xfrm>
            <a:off x="1252728" y="2226564"/>
            <a:ext cx="10195560" cy="347472"/>
          </a:xfrm>
          <a:prstGeom prst="rect">
            <a:avLst/>
          </a:prstGeom>
          <a:noFill/>
        </p:spPr>
        <p:txBody>
          <a:bodyPr wrap="square" lIns="9144" rIns="9144" tIns="18288" bIns="18288">
            <a:spAutoFit/>
          </a:bodyPr>
          <a:lstStyle/>
          <a:p>
            <a:pPr algn="l">
              <a:lnSpc>
                <a:spcPct val="112000"/>
              </a:lnSpc>
              <a:spcAft>
                <a:spcPts val="400"/>
              </a:spcAft>
            </a:pPr>
            <a:r>
              <a:rPr sz="2000" b="1">
                <a:solidFill>
                  <a:srgbClr val="F4F8FF"/>
                </a:solidFill>
                <a:latin typeface="Segoe UI"/>
              </a:rPr>
              <a:t>Select a supported region and GPU type</a:t>
            </a:r>
          </a:p>
        </p:txBody>
      </p:sp>
      <p:sp>
        <p:nvSpPr>
          <p:cNvPr id="13" name="TextBox 12"/>
          <p:cNvSpPr txBox="1"/>
          <p:nvPr/>
        </p:nvSpPr>
        <p:spPr>
          <a:xfrm>
            <a:off x="1252728" y="2606040"/>
            <a:ext cx="10195560" cy="621792"/>
          </a:xfrm>
          <a:prstGeom prst="rect">
            <a:avLst/>
          </a:prstGeom>
          <a:noFill/>
        </p:spPr>
        <p:txBody>
          <a:bodyPr wrap="square" lIns="9144" rIns="9144" tIns="18288" bIns="18288">
            <a:spAutoFit/>
          </a:bodyPr>
          <a:lstStyle/>
          <a:p>
            <a:pPr algn="l">
              <a:lnSpc>
                <a:spcPct val="112000"/>
              </a:lnSpc>
              <a:spcAft>
                <a:spcPts val="400"/>
              </a:spcAft>
            </a:pPr>
            <a:r>
              <a:rPr sz="1600" b="0">
                <a:solidFill>
                  <a:srgbClr val="A5B9D0"/>
                </a:solidFill>
                <a:latin typeface="Segoe UI"/>
              </a:rPr>
              <a:t>Documented examples: East US, Sweden Central and West US 3 offer both T4 and A100.</a:t>
            </a:r>
          </a:p>
        </p:txBody>
      </p:sp>
      <p:sp>
        <p:nvSpPr>
          <p:cNvPr id="14" name="Oval 13"/>
          <p:cNvSpPr/>
          <p:nvPr/>
        </p:nvSpPr>
        <p:spPr>
          <a:xfrm>
            <a:off x="594360" y="3255264"/>
            <a:ext cx="438912" cy="43891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287268"/>
            <a:ext cx="438912" cy="292608"/>
          </a:xfrm>
          <a:prstGeom prst="rect">
            <a:avLst/>
          </a:prstGeom>
          <a:noFill/>
        </p:spPr>
        <p:txBody>
          <a:bodyPr wrap="square" lIns="9144" rIns="9144" tIns="18288" bIns="18288">
            <a:spAutoFit/>
          </a:bodyPr>
          <a:lstStyle/>
          <a:p>
            <a:pPr algn="ctr">
              <a:lnSpc>
                <a:spcPct val="112000"/>
              </a:lnSpc>
              <a:spcAft>
                <a:spcPts val="400"/>
              </a:spcAft>
            </a:pPr>
            <a:r>
              <a:rPr sz="1600" b="1">
                <a:solidFill>
                  <a:srgbClr val="F4F8FF"/>
                </a:solidFill>
                <a:latin typeface="Segoe UI"/>
              </a:rPr>
              <a:t>2</a:t>
            </a:r>
          </a:p>
        </p:txBody>
      </p:sp>
      <p:sp>
        <p:nvSpPr>
          <p:cNvPr id="16" name="TextBox 15"/>
          <p:cNvSpPr txBox="1"/>
          <p:nvPr/>
        </p:nvSpPr>
        <p:spPr>
          <a:xfrm>
            <a:off x="1252728" y="3241548"/>
            <a:ext cx="10195560" cy="347472"/>
          </a:xfrm>
          <a:prstGeom prst="rect">
            <a:avLst/>
          </a:prstGeom>
          <a:noFill/>
        </p:spPr>
        <p:txBody>
          <a:bodyPr wrap="square" lIns="9144" rIns="9144" tIns="18288" bIns="18288">
            <a:spAutoFit/>
          </a:bodyPr>
          <a:lstStyle/>
          <a:p>
            <a:pPr algn="l">
              <a:lnSpc>
                <a:spcPct val="112000"/>
              </a:lnSpc>
              <a:spcAft>
                <a:spcPts val="400"/>
              </a:spcAft>
            </a:pPr>
            <a:r>
              <a:rPr sz="2000" b="1">
                <a:solidFill>
                  <a:srgbClr val="F4F8FF"/>
                </a:solidFill>
                <a:latin typeface="Segoe UI"/>
              </a:rPr>
              <a:t>Create a workload-profiles environment</a:t>
            </a:r>
          </a:p>
        </p:txBody>
      </p:sp>
      <p:sp>
        <p:nvSpPr>
          <p:cNvPr id="17" name="TextBox 16"/>
          <p:cNvSpPr txBox="1"/>
          <p:nvPr/>
        </p:nvSpPr>
        <p:spPr>
          <a:xfrm>
            <a:off x="1252728" y="3621024"/>
            <a:ext cx="10195560" cy="621792"/>
          </a:xfrm>
          <a:prstGeom prst="rect">
            <a:avLst/>
          </a:prstGeom>
          <a:noFill/>
        </p:spPr>
        <p:txBody>
          <a:bodyPr wrap="square" lIns="9144" rIns="9144" tIns="18288" bIns="18288">
            <a:spAutoFit/>
          </a:bodyPr>
          <a:lstStyle/>
          <a:p>
            <a:pPr algn="l">
              <a:lnSpc>
                <a:spcPct val="112000"/>
              </a:lnSpc>
              <a:spcAft>
                <a:spcPts val="400"/>
              </a:spcAft>
            </a:pPr>
            <a:r>
              <a:rPr sz="1600" b="0">
                <a:solidFill>
                  <a:srgbClr val="A5B9D0"/>
                </a:solidFill>
                <a:latin typeface="Segoe UI"/>
              </a:rPr>
              <a:t>Do this before requesting managed-environment GPU quota. Legacy Consumption-only is not supported.</a:t>
            </a:r>
          </a:p>
        </p:txBody>
      </p:sp>
      <p:sp>
        <p:nvSpPr>
          <p:cNvPr id="18" name="Oval 17"/>
          <p:cNvSpPr/>
          <p:nvPr/>
        </p:nvSpPr>
        <p:spPr>
          <a:xfrm>
            <a:off x="594360" y="4270248"/>
            <a:ext cx="438912" cy="43891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4302252"/>
            <a:ext cx="438912" cy="292608"/>
          </a:xfrm>
          <a:prstGeom prst="rect">
            <a:avLst/>
          </a:prstGeom>
          <a:noFill/>
        </p:spPr>
        <p:txBody>
          <a:bodyPr wrap="square" lIns="9144" rIns="9144" tIns="18288" bIns="18288">
            <a:spAutoFit/>
          </a:bodyPr>
          <a:lstStyle/>
          <a:p>
            <a:pPr algn="ctr">
              <a:lnSpc>
                <a:spcPct val="112000"/>
              </a:lnSpc>
              <a:spcAft>
                <a:spcPts val="400"/>
              </a:spcAft>
            </a:pPr>
            <a:r>
              <a:rPr sz="1600" b="1">
                <a:solidFill>
                  <a:srgbClr val="F4F8FF"/>
                </a:solidFill>
                <a:latin typeface="Segoe UI"/>
              </a:rPr>
              <a:t>3</a:t>
            </a:r>
          </a:p>
        </p:txBody>
      </p:sp>
      <p:sp>
        <p:nvSpPr>
          <p:cNvPr id="20" name="TextBox 19"/>
          <p:cNvSpPr txBox="1"/>
          <p:nvPr/>
        </p:nvSpPr>
        <p:spPr>
          <a:xfrm>
            <a:off x="1252728" y="4256532"/>
            <a:ext cx="10195560" cy="347472"/>
          </a:xfrm>
          <a:prstGeom prst="rect">
            <a:avLst/>
          </a:prstGeom>
          <a:noFill/>
        </p:spPr>
        <p:txBody>
          <a:bodyPr wrap="square" lIns="9144" rIns="9144" tIns="18288" bIns="18288">
            <a:spAutoFit/>
          </a:bodyPr>
          <a:lstStyle/>
          <a:p>
            <a:pPr algn="l">
              <a:lnSpc>
                <a:spcPct val="112000"/>
              </a:lnSpc>
              <a:spcAft>
                <a:spcPts val="400"/>
              </a:spcAft>
            </a:pPr>
            <a:r>
              <a:rPr sz="2000" b="1">
                <a:solidFill>
                  <a:srgbClr val="F4F8FF"/>
                </a:solidFill>
                <a:latin typeface="Segoe UI"/>
              </a:rPr>
              <a:t>Inspect available GPU quota; request an increase if needed</a:t>
            </a:r>
          </a:p>
        </p:txBody>
      </p:sp>
      <p:sp>
        <p:nvSpPr>
          <p:cNvPr id="21" name="TextBox 20"/>
          <p:cNvSpPr txBox="1"/>
          <p:nvPr/>
        </p:nvSpPr>
        <p:spPr>
          <a:xfrm>
            <a:off x="1252728" y="4636008"/>
            <a:ext cx="10195560" cy="621792"/>
          </a:xfrm>
          <a:prstGeom prst="rect">
            <a:avLst/>
          </a:prstGeom>
          <a:noFill/>
        </p:spPr>
        <p:txBody>
          <a:bodyPr wrap="square" lIns="9144" rIns="9144" tIns="18288" bIns="18288">
            <a:spAutoFit/>
          </a:bodyPr>
          <a:lstStyle/>
          <a:p>
            <a:pPr algn="l">
              <a:lnSpc>
                <a:spcPct val="112000"/>
              </a:lnSpc>
              <a:spcAft>
                <a:spcPts val="400"/>
              </a:spcAft>
            </a:pPr>
            <a:r>
              <a:rPr sz="1600" b="0">
                <a:solidFill>
                  <a:srgbClr val="A5B9D0"/>
                </a:solidFill>
                <a:latin typeface="Segoe UI"/>
              </a:rPr>
              <a:t>Check the environment's Quota page. Quota is a limit, not a guarantee of immediate physical capacity.</a:t>
            </a:r>
          </a:p>
        </p:txBody>
      </p:sp>
      <p:sp>
        <p:nvSpPr>
          <p:cNvPr id="22" name="Rounded Rectangle 21"/>
          <p:cNvSpPr/>
          <p:nvPr/>
        </p:nvSpPr>
        <p:spPr>
          <a:xfrm>
            <a:off x="512064" y="5623560"/>
            <a:ext cx="11109960" cy="45720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687568"/>
            <a:ext cx="10744200" cy="310896"/>
          </a:xfrm>
          <a:prstGeom prst="rect">
            <a:avLst/>
          </a:prstGeom>
          <a:noFill/>
        </p:spPr>
        <p:txBody>
          <a:bodyPr wrap="square" lIns="9144" rIns="9144" tIns="18288" bIns="18288">
            <a:spAutoFit/>
          </a:bodyPr>
          <a:lstStyle/>
          <a:p>
            <a:pPr algn="l">
              <a:lnSpc>
                <a:spcPct val="112000"/>
              </a:lnSpc>
              <a:spcAft>
                <a:spcPts val="400"/>
              </a:spcAft>
            </a:pPr>
            <a:r>
              <a:rPr sz="1500" b="1">
                <a:solidFill>
                  <a:srgbClr val="FFC66D"/>
                </a:solidFill>
                <a:latin typeface="Segoe UI"/>
              </a:rPr>
              <a:t>West Europe T4 has an extra documented condition: create a new workload-profiles environment.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9182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548640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53D5F5"/>
                </a:solidFill>
                <a:latin typeface="Segoe UI"/>
              </a:rPr>
              <a:t>06 / REFERENCE ARCHITECTURE</a:t>
            </a:r>
          </a:p>
        </p:txBody>
      </p:sp>
      <p:sp>
        <p:nvSpPr>
          <p:cNvPr id="4" name="TextBox 3"/>
          <p:cNvSpPr txBox="1"/>
          <p:nvPr/>
        </p:nvSpPr>
        <p:spPr>
          <a:xfrm>
            <a:off x="502920" y="786384"/>
            <a:ext cx="11109960" cy="658368"/>
          </a:xfrm>
          <a:prstGeom prst="rect">
            <a:avLst/>
          </a:prstGeom>
          <a:noFill/>
        </p:spPr>
        <p:txBody>
          <a:bodyPr wrap="square" lIns="9144" rIns="9144" tIns="18288" bIns="18288">
            <a:spAutoFit/>
          </a:bodyPr>
          <a:lstStyle/>
          <a:p>
            <a:pPr algn="l">
              <a:lnSpc>
                <a:spcPct val="112000"/>
              </a:lnSpc>
              <a:spcAft>
                <a:spcPts val="400"/>
              </a:spcAft>
            </a:pPr>
            <a:r>
              <a:rPr sz="3100" b="1">
                <a:solidFill>
                  <a:srgbClr val="F4F8FF"/>
                </a:solidFill>
                <a:latin typeface="Segoe UI"/>
              </a:rPr>
              <a:t>Separate the application tier from GPU inference</a:t>
            </a:r>
          </a:p>
        </p:txBody>
      </p:sp>
      <p:sp>
        <p:nvSpPr>
          <p:cNvPr id="5" name="TextBox 4"/>
          <p:cNvSpPr txBox="1"/>
          <p:nvPr/>
        </p:nvSpPr>
        <p:spPr>
          <a:xfrm>
            <a:off x="521207" y="1508760"/>
            <a:ext cx="11064240" cy="576072"/>
          </a:xfrm>
          <a:prstGeom prst="rect">
            <a:avLst/>
          </a:prstGeom>
          <a:noFill/>
        </p:spPr>
        <p:txBody>
          <a:bodyPr wrap="square" lIns="9144" rIns="9144" tIns="18288" bIns="18288">
            <a:spAutoFit/>
          </a:bodyPr>
          <a:lstStyle/>
          <a:p>
            <a:pPr algn="l">
              <a:lnSpc>
                <a:spcPct val="112000"/>
              </a:lnSpc>
              <a:spcAft>
                <a:spcPts val="400"/>
              </a:spcAft>
            </a:pPr>
            <a:r>
              <a:rPr sz="1700" b="0">
                <a:solidFill>
                  <a:srgbClr val="A5B9D0"/>
                </a:solidFill>
                <a:latin typeface="Segoe UI"/>
              </a:rPr>
              <a:t>A conceptual online inference design; network and identity boundaries must be configured explicitly.</a:t>
            </a:r>
          </a:p>
        </p:txBody>
      </p:sp>
      <p:cxnSp>
        <p:nvCxnSpPr>
          <p:cNvPr id="6" name="Connector 5"/>
          <p:cNvCxnSpPr/>
          <p:nvPr/>
        </p:nvCxnSpPr>
        <p:spPr>
          <a:xfrm>
            <a:off x="502920" y="6327648"/>
            <a:ext cx="11155680" cy="0"/>
          </a:xfrm>
          <a:prstGeom prst="line">
            <a:avLst/>
          </a:prstGeom>
          <a:ln w="10160">
            <a:solidFill>
              <a:srgbClr val="29435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21207" y="6473952"/>
            <a:ext cx="5303520" cy="201168"/>
          </a:xfrm>
          <a:prstGeom prst="rect">
            <a:avLst/>
          </a:prstGeom>
          <a:noFill/>
        </p:spPr>
        <p:txBody>
          <a:bodyPr wrap="square" lIns="9144" rIns="9144" tIns="18288" bIns="18288">
            <a:spAutoFit/>
          </a:bodyPr>
          <a:lstStyle/>
          <a:p>
            <a:pPr algn="l">
              <a:lnSpc>
                <a:spcPct val="112000"/>
              </a:lnSpc>
              <a:spcAft>
                <a:spcPts val="400"/>
              </a:spcAft>
            </a:pPr>
            <a:r>
              <a:rPr sz="900" b="0">
                <a:solidFill>
                  <a:srgbClr val="A5B9D0"/>
                </a:solidFill>
                <a:latin typeface="Segoe UI"/>
              </a:rPr>
              <a:t>AZURE CONTAINER APPS  /  SERVERLESS GPU</a:t>
            </a:r>
          </a:p>
        </p:txBody>
      </p:sp>
      <p:sp>
        <p:nvSpPr>
          <p:cNvPr id="8" name="TextBox 7"/>
          <p:cNvSpPr txBox="1"/>
          <p:nvPr/>
        </p:nvSpPr>
        <p:spPr>
          <a:xfrm>
            <a:off x="5486400" y="6455664"/>
            <a:ext cx="5303520" cy="256032"/>
          </a:xfrm>
          <a:prstGeom prst="rect">
            <a:avLst/>
          </a:prstGeom>
          <a:noFill/>
        </p:spPr>
        <p:txBody>
          <a:bodyPr wrap="square" lIns="9144" rIns="9144" tIns="18288" bIns="18288">
            <a:spAutoFit/>
          </a:bodyPr>
          <a:lstStyle/>
          <a:p>
            <a:pPr algn="r">
              <a:lnSpc>
                <a:spcPct val="112000"/>
              </a:lnSpc>
              <a:spcAft>
                <a:spcPts val="400"/>
              </a:spcAft>
            </a:pPr>
            <a:r>
              <a:rPr sz="900" b="0">
                <a:solidFill>
                  <a:srgbClr val="A5B9D0"/>
                </a:solidFill>
                <a:latin typeface="Segoe UI"/>
                <a:hlinkClick r:id="rId2"/>
              </a:rPr>
              <a:t>Source: GPU overview | Scaling</a:t>
            </a:r>
          </a:p>
        </p:txBody>
      </p:sp>
      <p:sp>
        <p:nvSpPr>
          <p:cNvPr id="9" name="TextBox 8"/>
          <p:cNvSpPr txBox="1"/>
          <p:nvPr/>
        </p:nvSpPr>
        <p:spPr>
          <a:xfrm>
            <a:off x="11082528" y="6428232"/>
            <a:ext cx="548640" cy="274320"/>
          </a:xfrm>
          <a:prstGeom prst="rect">
            <a:avLst/>
          </a:prstGeom>
          <a:noFill/>
        </p:spPr>
        <p:txBody>
          <a:bodyPr wrap="square" lIns="9144" rIns="9144" tIns="18288" bIns="18288">
            <a:spAutoFit/>
          </a:bodyPr>
          <a:lstStyle/>
          <a:p>
            <a:pPr algn="r">
              <a:lnSpc>
                <a:spcPct val="112000"/>
              </a:lnSpc>
              <a:spcAft>
                <a:spcPts val="400"/>
              </a:spcAft>
            </a:pPr>
            <a:r>
              <a:rPr sz="1200" b="0">
                <a:solidFill>
                  <a:srgbClr val="53D5F5"/>
                </a:solidFill>
                <a:latin typeface="Segoe UI"/>
              </a:rPr>
              <a:t>07</a:t>
            </a:r>
          </a:p>
        </p:txBody>
      </p:sp>
      <p:sp>
        <p:nvSpPr>
          <p:cNvPr id="10" name="Rounded Rectangle 9"/>
          <p:cNvSpPr/>
          <p:nvPr/>
        </p:nvSpPr>
        <p:spPr>
          <a:xfrm>
            <a:off x="6217920" y="2267712"/>
            <a:ext cx="5376672" cy="2633472"/>
          </a:xfrm>
          <a:prstGeom prst="roundRect">
            <a:avLst>
              <a:gd name="adj" fmla="val 8000"/>
            </a:avLst>
          </a:prstGeom>
          <a:solidFill>
            <a:srgbClr val="09182D"/>
          </a:solidFill>
          <a:ln w="12700">
            <a:solidFill>
              <a:srgbClr val="29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19088" y="2395728"/>
            <a:ext cx="475488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70E0BA"/>
                </a:solidFill>
                <a:latin typeface="Segoe UI"/>
              </a:rPr>
              <a:t>GPU CONSUMPTION PROFILE</a:t>
            </a:r>
          </a:p>
        </p:txBody>
      </p:sp>
      <p:sp>
        <p:nvSpPr>
          <p:cNvPr id="12" name="Rounded Rectangle 11"/>
          <p:cNvSpPr/>
          <p:nvPr/>
        </p:nvSpPr>
        <p:spPr>
          <a:xfrm>
            <a:off x="548640" y="2944368"/>
            <a:ext cx="2011680" cy="1389888"/>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3108960"/>
            <a:ext cx="1682496" cy="384048"/>
          </a:xfrm>
          <a:prstGeom prst="rect">
            <a:avLst/>
          </a:prstGeom>
          <a:noFill/>
        </p:spPr>
        <p:txBody>
          <a:bodyPr wrap="square" lIns="9144" rIns="9144" tIns="18288" bIns="18288">
            <a:spAutoFit/>
          </a:bodyPr>
          <a:lstStyle/>
          <a:p>
            <a:pPr algn="l">
              <a:lnSpc>
                <a:spcPct val="112000"/>
              </a:lnSpc>
              <a:spcAft>
                <a:spcPts val="400"/>
              </a:spcAft>
            </a:pPr>
            <a:r>
              <a:rPr sz="2000" b="1">
                <a:solidFill>
                  <a:srgbClr val="F4F8FF"/>
                </a:solidFill>
                <a:latin typeface="Segoe UI"/>
              </a:rPr>
              <a:t>Client</a:t>
            </a:r>
          </a:p>
        </p:txBody>
      </p:sp>
      <p:sp>
        <p:nvSpPr>
          <p:cNvPr id="14" name="TextBox 13"/>
          <p:cNvSpPr txBox="1"/>
          <p:nvPr/>
        </p:nvSpPr>
        <p:spPr>
          <a:xfrm>
            <a:off x="713232" y="3639312"/>
            <a:ext cx="1682496" cy="640080"/>
          </a:xfrm>
          <a:prstGeom prst="rect">
            <a:avLst/>
          </a:prstGeom>
          <a:noFill/>
        </p:spPr>
        <p:txBody>
          <a:bodyPr wrap="square" lIns="9144" rIns="9144" tIns="18288" bIns="18288">
            <a:spAutoFit/>
          </a:bodyPr>
          <a:lstStyle/>
          <a:p>
            <a:pPr algn="l">
              <a:lnSpc>
                <a:spcPct val="112000"/>
              </a:lnSpc>
              <a:spcAft>
                <a:spcPts val="400"/>
              </a:spcAft>
            </a:pPr>
            <a:r>
              <a:rPr sz="1500" b="0">
                <a:solidFill>
                  <a:srgbClr val="A5B9D0"/>
                </a:solidFill>
                <a:latin typeface="Segoe UI"/>
              </a:rPr>
              <a:t>Web / agent /</a:t>
            </a:r>
          </a:p>
          <a:p>
            <a:pPr algn="l">
              <a:lnSpc>
                <a:spcPct val="112000"/>
              </a:lnSpc>
              <a:spcAft>
                <a:spcPts val="400"/>
              </a:spcAft>
            </a:pPr>
            <a:r>
              <a:rPr sz="1500" b="0">
                <a:solidFill>
                  <a:srgbClr val="A5B9D0"/>
                </a:solidFill>
                <a:latin typeface="Segoe UI"/>
              </a:rPr>
              <a:t>application</a:t>
            </a:r>
          </a:p>
        </p:txBody>
      </p:sp>
      <p:sp>
        <p:nvSpPr>
          <p:cNvPr id="15" name="Rounded Rectangle 14"/>
          <p:cNvSpPr/>
          <p:nvPr/>
        </p:nvSpPr>
        <p:spPr>
          <a:xfrm>
            <a:off x="3182112" y="2944368"/>
            <a:ext cx="2286000" cy="1389888"/>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46704" y="3108960"/>
            <a:ext cx="1956816" cy="384048"/>
          </a:xfrm>
          <a:prstGeom prst="rect">
            <a:avLst/>
          </a:prstGeom>
          <a:noFill/>
        </p:spPr>
        <p:txBody>
          <a:bodyPr wrap="square" lIns="9144" rIns="9144" tIns="18288" bIns="18288">
            <a:spAutoFit/>
          </a:bodyPr>
          <a:lstStyle/>
          <a:p>
            <a:pPr algn="l">
              <a:lnSpc>
                <a:spcPct val="112000"/>
              </a:lnSpc>
              <a:spcAft>
                <a:spcPts val="400"/>
              </a:spcAft>
            </a:pPr>
            <a:r>
              <a:rPr sz="2000" b="1">
                <a:solidFill>
                  <a:srgbClr val="F4F8FF"/>
                </a:solidFill>
                <a:latin typeface="Segoe UI"/>
              </a:rPr>
              <a:t>CPU API tier</a:t>
            </a:r>
          </a:p>
        </p:txBody>
      </p:sp>
      <p:sp>
        <p:nvSpPr>
          <p:cNvPr id="17" name="TextBox 16"/>
          <p:cNvSpPr txBox="1"/>
          <p:nvPr/>
        </p:nvSpPr>
        <p:spPr>
          <a:xfrm>
            <a:off x="3346704" y="3639312"/>
            <a:ext cx="1956816" cy="640080"/>
          </a:xfrm>
          <a:prstGeom prst="rect">
            <a:avLst/>
          </a:prstGeom>
          <a:noFill/>
        </p:spPr>
        <p:txBody>
          <a:bodyPr wrap="square" lIns="9144" rIns="9144" tIns="18288" bIns="18288">
            <a:spAutoFit/>
          </a:bodyPr>
          <a:lstStyle/>
          <a:p>
            <a:pPr algn="l">
              <a:lnSpc>
                <a:spcPct val="112000"/>
              </a:lnSpc>
              <a:spcAft>
                <a:spcPts val="400"/>
              </a:spcAft>
            </a:pPr>
            <a:r>
              <a:rPr sz="1500" b="0">
                <a:solidFill>
                  <a:srgbClr val="A5B9D0"/>
                </a:solidFill>
                <a:latin typeface="Segoe UI"/>
              </a:rPr>
              <a:t>Auth, validation,</a:t>
            </a:r>
          </a:p>
          <a:p>
            <a:pPr algn="l">
              <a:lnSpc>
                <a:spcPct val="112000"/>
              </a:lnSpc>
              <a:spcAft>
                <a:spcPts val="400"/>
              </a:spcAft>
            </a:pPr>
            <a:r>
              <a:rPr sz="1500" b="0">
                <a:solidFill>
                  <a:srgbClr val="A5B9D0"/>
                </a:solidFill>
                <a:latin typeface="Segoe UI"/>
              </a:rPr>
              <a:t>routing and limits</a:t>
            </a:r>
          </a:p>
        </p:txBody>
      </p:sp>
      <p:sp>
        <p:nvSpPr>
          <p:cNvPr id="18" name="Chevron 17"/>
          <p:cNvSpPr/>
          <p:nvPr/>
        </p:nvSpPr>
        <p:spPr>
          <a:xfrm>
            <a:off x="2688336" y="3547872"/>
            <a:ext cx="384048" cy="219456"/>
          </a:xfrm>
          <a:prstGeom prst="chevron">
            <a:avLst/>
          </a:prstGeom>
          <a:solidFill>
            <a:srgbClr val="53D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hevron 18"/>
          <p:cNvSpPr/>
          <p:nvPr/>
        </p:nvSpPr>
        <p:spPr>
          <a:xfrm>
            <a:off x="5605272" y="3547872"/>
            <a:ext cx="384048" cy="219456"/>
          </a:xfrm>
          <a:prstGeom prst="chevron">
            <a:avLst/>
          </a:prstGeom>
          <a:solidFill>
            <a:srgbClr val="53D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46520" y="2907792"/>
            <a:ext cx="2304288" cy="1572768"/>
          </a:xfrm>
          <a:prstGeom prst="roundRect">
            <a:avLst>
              <a:gd name="adj" fmla="val 8000"/>
            </a:avLst>
          </a:prstGeom>
          <a:solidFill>
            <a:srgbClr val="11263F"/>
          </a:solidFill>
          <a:ln w="12700">
            <a:solidFill>
              <a:srgbClr val="53D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0" y="3081528"/>
            <a:ext cx="2029968" cy="365760"/>
          </a:xfrm>
          <a:prstGeom prst="rect">
            <a:avLst/>
          </a:prstGeom>
          <a:noFill/>
        </p:spPr>
        <p:txBody>
          <a:bodyPr wrap="square" lIns="9144" rIns="9144" tIns="18288" bIns="18288">
            <a:spAutoFit/>
          </a:bodyPr>
          <a:lstStyle/>
          <a:p>
            <a:pPr algn="l">
              <a:lnSpc>
                <a:spcPct val="112000"/>
              </a:lnSpc>
              <a:spcAft>
                <a:spcPts val="400"/>
              </a:spcAft>
            </a:pPr>
            <a:r>
              <a:rPr sz="1800" b="1">
                <a:solidFill>
                  <a:srgbClr val="F4F8FF"/>
                </a:solidFill>
                <a:latin typeface="Segoe UI"/>
              </a:rPr>
              <a:t>GPU replica 1</a:t>
            </a:r>
          </a:p>
        </p:txBody>
      </p:sp>
      <p:sp>
        <p:nvSpPr>
          <p:cNvPr id="22" name="TextBox 21"/>
          <p:cNvSpPr txBox="1"/>
          <p:nvPr/>
        </p:nvSpPr>
        <p:spPr>
          <a:xfrm>
            <a:off x="6583680" y="3657600"/>
            <a:ext cx="2029968" cy="585216"/>
          </a:xfrm>
          <a:prstGeom prst="rect">
            <a:avLst/>
          </a:prstGeom>
          <a:noFill/>
        </p:spPr>
        <p:txBody>
          <a:bodyPr wrap="square" lIns="9144" rIns="9144" tIns="18288" bIns="18288">
            <a:spAutoFit/>
          </a:bodyPr>
          <a:lstStyle/>
          <a:p>
            <a:pPr algn="l">
              <a:lnSpc>
                <a:spcPct val="112000"/>
              </a:lnSpc>
              <a:spcAft>
                <a:spcPts val="400"/>
              </a:spcAft>
            </a:pPr>
            <a:r>
              <a:rPr sz="1500" b="0">
                <a:solidFill>
                  <a:srgbClr val="A5B9D0"/>
                </a:solidFill>
                <a:latin typeface="Segoe UI"/>
              </a:rPr>
              <a:t>Model + runtime</a:t>
            </a:r>
          </a:p>
          <a:p>
            <a:pPr algn="l">
              <a:lnSpc>
                <a:spcPct val="112000"/>
              </a:lnSpc>
              <a:spcAft>
                <a:spcPts val="400"/>
              </a:spcAft>
            </a:pPr>
            <a:r>
              <a:rPr sz="1500" b="0">
                <a:solidFill>
                  <a:srgbClr val="A5B9D0"/>
                </a:solidFill>
                <a:latin typeface="Segoe UI"/>
              </a:rPr>
              <a:t>1 GPU per replica</a:t>
            </a:r>
          </a:p>
        </p:txBody>
      </p:sp>
      <p:sp>
        <p:nvSpPr>
          <p:cNvPr id="23" name="Rounded Rectangle 22"/>
          <p:cNvSpPr/>
          <p:nvPr/>
        </p:nvSpPr>
        <p:spPr>
          <a:xfrm>
            <a:off x="8961120" y="2907792"/>
            <a:ext cx="2304288" cy="1572768"/>
          </a:xfrm>
          <a:prstGeom prst="roundRect">
            <a:avLst>
              <a:gd name="adj" fmla="val 8000"/>
            </a:avLst>
          </a:prstGeom>
          <a:solidFill>
            <a:srgbClr val="11263F"/>
          </a:solidFill>
          <a:ln w="12700">
            <a:solidFill>
              <a:srgbClr val="53D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98280" y="3081528"/>
            <a:ext cx="2029968" cy="365760"/>
          </a:xfrm>
          <a:prstGeom prst="rect">
            <a:avLst/>
          </a:prstGeom>
          <a:noFill/>
        </p:spPr>
        <p:txBody>
          <a:bodyPr wrap="square" lIns="9144" rIns="9144" tIns="18288" bIns="18288">
            <a:spAutoFit/>
          </a:bodyPr>
          <a:lstStyle/>
          <a:p>
            <a:pPr algn="l">
              <a:lnSpc>
                <a:spcPct val="112000"/>
              </a:lnSpc>
              <a:spcAft>
                <a:spcPts val="400"/>
              </a:spcAft>
            </a:pPr>
            <a:r>
              <a:rPr sz="1800" b="1">
                <a:solidFill>
                  <a:srgbClr val="F4F8FF"/>
                </a:solidFill>
                <a:latin typeface="Segoe UI"/>
              </a:rPr>
              <a:t>GPU replica 2</a:t>
            </a:r>
          </a:p>
        </p:txBody>
      </p:sp>
      <p:sp>
        <p:nvSpPr>
          <p:cNvPr id="25" name="TextBox 24"/>
          <p:cNvSpPr txBox="1"/>
          <p:nvPr/>
        </p:nvSpPr>
        <p:spPr>
          <a:xfrm>
            <a:off x="9098280" y="3657600"/>
            <a:ext cx="2029968" cy="585216"/>
          </a:xfrm>
          <a:prstGeom prst="rect">
            <a:avLst/>
          </a:prstGeom>
          <a:noFill/>
        </p:spPr>
        <p:txBody>
          <a:bodyPr wrap="square" lIns="9144" rIns="9144" tIns="18288" bIns="18288">
            <a:spAutoFit/>
          </a:bodyPr>
          <a:lstStyle/>
          <a:p>
            <a:pPr algn="l">
              <a:lnSpc>
                <a:spcPct val="112000"/>
              </a:lnSpc>
              <a:spcAft>
                <a:spcPts val="400"/>
              </a:spcAft>
            </a:pPr>
            <a:r>
              <a:rPr sz="1500" b="0">
                <a:solidFill>
                  <a:srgbClr val="A5B9D0"/>
                </a:solidFill>
                <a:latin typeface="Segoe UI"/>
              </a:rPr>
              <a:t>Model + runtime</a:t>
            </a:r>
          </a:p>
          <a:p>
            <a:pPr algn="l">
              <a:lnSpc>
                <a:spcPct val="112000"/>
              </a:lnSpc>
              <a:spcAft>
                <a:spcPts val="400"/>
              </a:spcAft>
            </a:pPr>
            <a:r>
              <a:rPr sz="1500" b="0">
                <a:solidFill>
                  <a:srgbClr val="A5B9D0"/>
                </a:solidFill>
                <a:latin typeface="Segoe UI"/>
              </a:rPr>
              <a:t>1 GPU per replica</a:t>
            </a:r>
          </a:p>
        </p:txBody>
      </p:sp>
      <p:sp>
        <p:nvSpPr>
          <p:cNvPr id="26" name="Rounded Rectangle 25"/>
          <p:cNvSpPr/>
          <p:nvPr/>
        </p:nvSpPr>
        <p:spPr>
          <a:xfrm>
            <a:off x="548640" y="5175504"/>
            <a:ext cx="3364992" cy="621792"/>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6656" y="5321808"/>
            <a:ext cx="3108960" cy="347472"/>
          </a:xfrm>
          <a:prstGeom prst="rect">
            <a:avLst/>
          </a:prstGeom>
          <a:noFill/>
        </p:spPr>
        <p:txBody>
          <a:bodyPr wrap="square" lIns="9144" rIns="9144" tIns="18288" bIns="18288">
            <a:spAutoFit/>
          </a:bodyPr>
          <a:lstStyle/>
          <a:p>
            <a:pPr algn="l">
              <a:lnSpc>
                <a:spcPct val="112000"/>
              </a:lnSpc>
              <a:spcAft>
                <a:spcPts val="400"/>
              </a:spcAft>
            </a:pPr>
            <a:r>
              <a:rPr sz="1300" b="0">
                <a:solidFill>
                  <a:srgbClr val="A5B9D0"/>
                </a:solidFill>
                <a:latin typeface="Segoe UI"/>
              </a:rPr>
              <a:t>Container registry  /  pinned images</a:t>
            </a:r>
          </a:p>
        </p:txBody>
      </p:sp>
      <p:sp>
        <p:nvSpPr>
          <p:cNvPr id="28" name="Rounded Rectangle 27"/>
          <p:cNvSpPr/>
          <p:nvPr/>
        </p:nvSpPr>
        <p:spPr>
          <a:xfrm>
            <a:off x="4251960" y="5175504"/>
            <a:ext cx="3364992" cy="621792"/>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79976" y="5321808"/>
            <a:ext cx="3108960" cy="347472"/>
          </a:xfrm>
          <a:prstGeom prst="rect">
            <a:avLst/>
          </a:prstGeom>
          <a:noFill/>
        </p:spPr>
        <p:txBody>
          <a:bodyPr wrap="square" lIns="9144" rIns="9144" tIns="18288" bIns="18288">
            <a:spAutoFit/>
          </a:bodyPr>
          <a:lstStyle/>
          <a:p>
            <a:pPr algn="l">
              <a:lnSpc>
                <a:spcPct val="112000"/>
              </a:lnSpc>
              <a:spcAft>
                <a:spcPts val="400"/>
              </a:spcAft>
            </a:pPr>
            <a:r>
              <a:rPr sz="1300" b="0">
                <a:solidFill>
                  <a:srgbClr val="A5B9D0"/>
                </a:solidFill>
                <a:latin typeface="Segoe UI"/>
              </a:rPr>
              <a:t>Storage  /  model weights + outputs</a:t>
            </a:r>
          </a:p>
        </p:txBody>
      </p:sp>
      <p:sp>
        <p:nvSpPr>
          <p:cNvPr id="30" name="Rounded Rectangle 29"/>
          <p:cNvSpPr/>
          <p:nvPr/>
        </p:nvSpPr>
        <p:spPr>
          <a:xfrm>
            <a:off x="7955279" y="5175504"/>
            <a:ext cx="3639312" cy="621792"/>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83296" y="5321808"/>
            <a:ext cx="3383280" cy="347472"/>
          </a:xfrm>
          <a:prstGeom prst="rect">
            <a:avLst/>
          </a:prstGeom>
          <a:noFill/>
        </p:spPr>
        <p:txBody>
          <a:bodyPr wrap="square" lIns="9144" rIns="9144" tIns="18288" bIns="18288">
            <a:spAutoFit/>
          </a:bodyPr>
          <a:lstStyle/>
          <a:p>
            <a:pPr algn="l">
              <a:lnSpc>
                <a:spcPct val="112000"/>
              </a:lnSpc>
              <a:spcAft>
                <a:spcPts val="400"/>
              </a:spcAft>
            </a:pPr>
            <a:r>
              <a:rPr sz="1300" b="0">
                <a:solidFill>
                  <a:srgbClr val="A5B9D0"/>
                </a:solidFill>
                <a:latin typeface="Segoe UI"/>
              </a:rPr>
              <a:t>Identity, secrets and observability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9182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548640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53D5F5"/>
                </a:solidFill>
                <a:latin typeface="Segoe UI"/>
              </a:rPr>
              <a:t>07 / ELASTICITY</a:t>
            </a:r>
          </a:p>
        </p:txBody>
      </p:sp>
      <p:sp>
        <p:nvSpPr>
          <p:cNvPr id="4" name="TextBox 3"/>
          <p:cNvSpPr txBox="1"/>
          <p:nvPr/>
        </p:nvSpPr>
        <p:spPr>
          <a:xfrm>
            <a:off x="502920" y="786384"/>
            <a:ext cx="11109960" cy="658368"/>
          </a:xfrm>
          <a:prstGeom prst="rect">
            <a:avLst/>
          </a:prstGeom>
          <a:noFill/>
        </p:spPr>
        <p:txBody>
          <a:bodyPr wrap="square" lIns="9144" rIns="9144" tIns="18288" bIns="18288">
            <a:spAutoFit/>
          </a:bodyPr>
          <a:lstStyle/>
          <a:p>
            <a:pPr algn="l">
              <a:lnSpc>
                <a:spcPct val="112000"/>
              </a:lnSpc>
              <a:spcAft>
                <a:spcPts val="400"/>
              </a:spcAft>
            </a:pPr>
            <a:r>
              <a:rPr sz="3100" b="1">
                <a:solidFill>
                  <a:srgbClr val="F4F8FF"/>
                </a:solidFill>
                <a:latin typeface="Segoe UI"/>
              </a:rPr>
              <a:t>Scale replicas with demand, not one GPU per request</a:t>
            </a:r>
          </a:p>
        </p:txBody>
      </p:sp>
      <p:sp>
        <p:nvSpPr>
          <p:cNvPr id="5" name="TextBox 4"/>
          <p:cNvSpPr txBox="1"/>
          <p:nvPr/>
        </p:nvSpPr>
        <p:spPr>
          <a:xfrm>
            <a:off x="521207" y="1508760"/>
            <a:ext cx="11064240" cy="576072"/>
          </a:xfrm>
          <a:prstGeom prst="rect">
            <a:avLst/>
          </a:prstGeom>
          <a:noFill/>
        </p:spPr>
        <p:txBody>
          <a:bodyPr wrap="square" lIns="9144" rIns="9144" tIns="18288" bIns="18288">
            <a:spAutoFit/>
          </a:bodyPr>
          <a:lstStyle/>
          <a:p>
            <a:pPr algn="l">
              <a:lnSpc>
                <a:spcPct val="112000"/>
              </a:lnSpc>
              <a:spcAft>
                <a:spcPts val="400"/>
              </a:spcAft>
            </a:pPr>
            <a:r>
              <a:rPr sz="1700" b="0">
                <a:solidFill>
                  <a:srgbClr val="A5B9D0"/>
                </a:solidFill>
                <a:latin typeface="Segoe UI"/>
              </a:rPr>
              <a:t>Illustrative behavior: actual response depends on rules, model startup, quota and regional capacity.</a:t>
            </a:r>
          </a:p>
        </p:txBody>
      </p:sp>
      <p:cxnSp>
        <p:nvCxnSpPr>
          <p:cNvPr id="6" name="Connector 5"/>
          <p:cNvCxnSpPr/>
          <p:nvPr/>
        </p:nvCxnSpPr>
        <p:spPr>
          <a:xfrm>
            <a:off x="502920" y="6327648"/>
            <a:ext cx="11155680" cy="0"/>
          </a:xfrm>
          <a:prstGeom prst="line">
            <a:avLst/>
          </a:prstGeom>
          <a:ln w="10160">
            <a:solidFill>
              <a:srgbClr val="29435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21207" y="6473952"/>
            <a:ext cx="5303520" cy="201168"/>
          </a:xfrm>
          <a:prstGeom prst="rect">
            <a:avLst/>
          </a:prstGeom>
          <a:noFill/>
        </p:spPr>
        <p:txBody>
          <a:bodyPr wrap="square" lIns="9144" rIns="9144" tIns="18288" bIns="18288">
            <a:spAutoFit/>
          </a:bodyPr>
          <a:lstStyle/>
          <a:p>
            <a:pPr algn="l">
              <a:lnSpc>
                <a:spcPct val="112000"/>
              </a:lnSpc>
              <a:spcAft>
                <a:spcPts val="400"/>
              </a:spcAft>
            </a:pPr>
            <a:r>
              <a:rPr sz="900" b="0">
                <a:solidFill>
                  <a:srgbClr val="A5B9D0"/>
                </a:solidFill>
                <a:latin typeface="Segoe UI"/>
              </a:rPr>
              <a:t>AZURE CONTAINER APPS  /  SERVERLESS GPU</a:t>
            </a:r>
          </a:p>
        </p:txBody>
      </p:sp>
      <p:sp>
        <p:nvSpPr>
          <p:cNvPr id="8" name="TextBox 7"/>
          <p:cNvSpPr txBox="1"/>
          <p:nvPr/>
        </p:nvSpPr>
        <p:spPr>
          <a:xfrm>
            <a:off x="5486400" y="6455664"/>
            <a:ext cx="5303520" cy="256032"/>
          </a:xfrm>
          <a:prstGeom prst="rect">
            <a:avLst/>
          </a:prstGeom>
          <a:noFill/>
        </p:spPr>
        <p:txBody>
          <a:bodyPr wrap="square" lIns="9144" rIns="9144" tIns="18288" bIns="18288">
            <a:spAutoFit/>
          </a:bodyPr>
          <a:lstStyle/>
          <a:p>
            <a:pPr algn="r">
              <a:lnSpc>
                <a:spcPct val="112000"/>
              </a:lnSpc>
              <a:spcAft>
                <a:spcPts val="400"/>
              </a:spcAft>
            </a:pPr>
            <a:r>
              <a:rPr sz="900" b="0">
                <a:solidFill>
                  <a:srgbClr val="A5B9D0"/>
                </a:solidFill>
                <a:latin typeface="Segoe UI"/>
                <a:hlinkClick r:id="rId2"/>
              </a:rPr>
              <a:t>Source: Scaling | GPU overview</a:t>
            </a:r>
          </a:p>
        </p:txBody>
      </p:sp>
      <p:sp>
        <p:nvSpPr>
          <p:cNvPr id="9" name="TextBox 8"/>
          <p:cNvSpPr txBox="1"/>
          <p:nvPr/>
        </p:nvSpPr>
        <p:spPr>
          <a:xfrm>
            <a:off x="11082528" y="6428232"/>
            <a:ext cx="548640" cy="274320"/>
          </a:xfrm>
          <a:prstGeom prst="rect">
            <a:avLst/>
          </a:prstGeom>
          <a:noFill/>
        </p:spPr>
        <p:txBody>
          <a:bodyPr wrap="square" lIns="9144" rIns="9144" tIns="18288" bIns="18288">
            <a:spAutoFit/>
          </a:bodyPr>
          <a:lstStyle/>
          <a:p>
            <a:pPr algn="r">
              <a:lnSpc>
                <a:spcPct val="112000"/>
              </a:lnSpc>
              <a:spcAft>
                <a:spcPts val="400"/>
              </a:spcAft>
            </a:pPr>
            <a:r>
              <a:rPr sz="1200" b="0">
                <a:solidFill>
                  <a:srgbClr val="53D5F5"/>
                </a:solidFill>
                <a:latin typeface="Segoe UI"/>
              </a:rPr>
              <a:t>08</a:t>
            </a:r>
          </a:p>
        </p:txBody>
      </p:sp>
      <p:cxnSp>
        <p:nvCxnSpPr>
          <p:cNvPr id="10" name="Connector 9"/>
          <p:cNvCxnSpPr/>
          <p:nvPr/>
        </p:nvCxnSpPr>
        <p:spPr>
          <a:xfrm>
            <a:off x="877824" y="5029200"/>
            <a:ext cx="7178039" cy="0"/>
          </a:xfrm>
          <a:prstGeom prst="line">
            <a:avLst/>
          </a:prstGeom>
          <a:ln w="10160">
            <a:solidFill>
              <a:srgbClr val="29435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12064" y="4892040"/>
            <a:ext cx="274320" cy="274320"/>
          </a:xfrm>
          <a:prstGeom prst="rect">
            <a:avLst/>
          </a:prstGeom>
          <a:noFill/>
        </p:spPr>
        <p:txBody>
          <a:bodyPr wrap="square" lIns="9144" rIns="9144" tIns="18288" bIns="18288">
            <a:spAutoFit/>
          </a:bodyPr>
          <a:lstStyle/>
          <a:p>
            <a:pPr algn="l">
              <a:lnSpc>
                <a:spcPct val="112000"/>
              </a:lnSpc>
              <a:spcAft>
                <a:spcPts val="400"/>
              </a:spcAft>
            </a:pPr>
            <a:r>
              <a:rPr sz="1200" b="0">
                <a:solidFill>
                  <a:srgbClr val="A5B9D0"/>
                </a:solidFill>
                <a:latin typeface="Segoe UI"/>
              </a:rPr>
              <a:t>0</a:t>
            </a:r>
          </a:p>
        </p:txBody>
      </p:sp>
      <p:cxnSp>
        <p:nvCxnSpPr>
          <p:cNvPr id="12" name="Connector 11"/>
          <p:cNvCxnSpPr/>
          <p:nvPr/>
        </p:nvCxnSpPr>
        <p:spPr>
          <a:xfrm>
            <a:off x="877824" y="4315968"/>
            <a:ext cx="7178039" cy="0"/>
          </a:xfrm>
          <a:prstGeom prst="line">
            <a:avLst/>
          </a:prstGeom>
          <a:ln w="10160">
            <a:solidFill>
              <a:srgbClr val="29435F"/>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12064" y="4178807"/>
            <a:ext cx="274320" cy="274320"/>
          </a:xfrm>
          <a:prstGeom prst="rect">
            <a:avLst/>
          </a:prstGeom>
          <a:noFill/>
        </p:spPr>
        <p:txBody>
          <a:bodyPr wrap="square" lIns="9144" rIns="9144" tIns="18288" bIns="18288">
            <a:spAutoFit/>
          </a:bodyPr>
          <a:lstStyle/>
          <a:p>
            <a:pPr algn="l">
              <a:lnSpc>
                <a:spcPct val="112000"/>
              </a:lnSpc>
              <a:spcAft>
                <a:spcPts val="400"/>
              </a:spcAft>
            </a:pPr>
            <a:r>
              <a:rPr sz="1200" b="0">
                <a:solidFill>
                  <a:srgbClr val="A5B9D0"/>
                </a:solidFill>
                <a:latin typeface="Segoe UI"/>
              </a:rPr>
              <a:t>1</a:t>
            </a:r>
          </a:p>
        </p:txBody>
      </p:sp>
      <p:cxnSp>
        <p:nvCxnSpPr>
          <p:cNvPr id="14" name="Connector 13"/>
          <p:cNvCxnSpPr/>
          <p:nvPr/>
        </p:nvCxnSpPr>
        <p:spPr>
          <a:xfrm>
            <a:off x="877824" y="3602736"/>
            <a:ext cx="7178039" cy="0"/>
          </a:xfrm>
          <a:prstGeom prst="line">
            <a:avLst/>
          </a:prstGeom>
          <a:ln w="10160">
            <a:solidFill>
              <a:srgbClr val="29435F"/>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12064" y="3465576"/>
            <a:ext cx="274320" cy="274320"/>
          </a:xfrm>
          <a:prstGeom prst="rect">
            <a:avLst/>
          </a:prstGeom>
          <a:noFill/>
        </p:spPr>
        <p:txBody>
          <a:bodyPr wrap="square" lIns="9144" rIns="9144" tIns="18288" bIns="18288">
            <a:spAutoFit/>
          </a:bodyPr>
          <a:lstStyle/>
          <a:p>
            <a:pPr algn="l">
              <a:lnSpc>
                <a:spcPct val="112000"/>
              </a:lnSpc>
              <a:spcAft>
                <a:spcPts val="400"/>
              </a:spcAft>
            </a:pPr>
            <a:r>
              <a:rPr sz="1200" b="0">
                <a:solidFill>
                  <a:srgbClr val="A5B9D0"/>
                </a:solidFill>
                <a:latin typeface="Segoe UI"/>
              </a:rPr>
              <a:t>2</a:t>
            </a:r>
          </a:p>
        </p:txBody>
      </p:sp>
      <p:cxnSp>
        <p:nvCxnSpPr>
          <p:cNvPr id="16" name="Connector 15"/>
          <p:cNvCxnSpPr/>
          <p:nvPr/>
        </p:nvCxnSpPr>
        <p:spPr>
          <a:xfrm>
            <a:off x="877824" y="2889504"/>
            <a:ext cx="7178039" cy="0"/>
          </a:xfrm>
          <a:prstGeom prst="line">
            <a:avLst/>
          </a:prstGeom>
          <a:ln w="10160">
            <a:solidFill>
              <a:srgbClr val="29435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12064" y="2752344"/>
            <a:ext cx="274320" cy="274320"/>
          </a:xfrm>
          <a:prstGeom prst="rect">
            <a:avLst/>
          </a:prstGeom>
          <a:noFill/>
        </p:spPr>
        <p:txBody>
          <a:bodyPr wrap="square" lIns="9144" rIns="9144" tIns="18288" bIns="18288">
            <a:spAutoFit/>
          </a:bodyPr>
          <a:lstStyle/>
          <a:p>
            <a:pPr algn="l">
              <a:lnSpc>
                <a:spcPct val="112000"/>
              </a:lnSpc>
              <a:spcAft>
                <a:spcPts val="400"/>
              </a:spcAft>
            </a:pPr>
            <a:r>
              <a:rPr sz="1200" b="0">
                <a:solidFill>
                  <a:srgbClr val="A5B9D0"/>
                </a:solidFill>
                <a:latin typeface="Segoe UI"/>
              </a:rPr>
              <a:t>3</a:t>
            </a:r>
          </a:p>
        </p:txBody>
      </p:sp>
      <p:cxnSp>
        <p:nvCxnSpPr>
          <p:cNvPr id="18" name="Connector 17"/>
          <p:cNvCxnSpPr/>
          <p:nvPr/>
        </p:nvCxnSpPr>
        <p:spPr>
          <a:xfrm>
            <a:off x="877824" y="5029200"/>
            <a:ext cx="1371600" cy="0"/>
          </a:xfrm>
          <a:prstGeom prst="line">
            <a:avLst/>
          </a:prstGeom>
          <a:ln w="38100">
            <a:solidFill>
              <a:srgbClr val="53D5F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249424" y="4315968"/>
            <a:ext cx="0" cy="713232"/>
          </a:xfrm>
          <a:prstGeom prst="line">
            <a:avLst/>
          </a:prstGeom>
          <a:ln w="38100">
            <a:solidFill>
              <a:srgbClr val="53D5F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249424" y="4315968"/>
            <a:ext cx="1463040" cy="0"/>
          </a:xfrm>
          <a:prstGeom prst="line">
            <a:avLst/>
          </a:prstGeom>
          <a:ln w="38100">
            <a:solidFill>
              <a:srgbClr val="53D5F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712464" y="2889504"/>
            <a:ext cx="0" cy="1426464"/>
          </a:xfrm>
          <a:prstGeom prst="line">
            <a:avLst/>
          </a:prstGeom>
          <a:ln w="38100">
            <a:solidFill>
              <a:srgbClr val="53D5F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712464" y="2889504"/>
            <a:ext cx="1280160" cy="0"/>
          </a:xfrm>
          <a:prstGeom prst="line">
            <a:avLst/>
          </a:prstGeom>
          <a:ln w="38100">
            <a:solidFill>
              <a:srgbClr val="53D5F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992624" y="2889504"/>
            <a:ext cx="0" cy="713232"/>
          </a:xfrm>
          <a:prstGeom prst="line">
            <a:avLst/>
          </a:prstGeom>
          <a:ln w="38100">
            <a:solidFill>
              <a:srgbClr val="53D5F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992624" y="3602736"/>
            <a:ext cx="1554480" cy="0"/>
          </a:xfrm>
          <a:prstGeom prst="line">
            <a:avLst/>
          </a:prstGeom>
          <a:ln w="38100">
            <a:solidFill>
              <a:srgbClr val="53D5F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547104" y="3602736"/>
            <a:ext cx="0" cy="1426464"/>
          </a:xfrm>
          <a:prstGeom prst="line">
            <a:avLst/>
          </a:prstGeom>
          <a:ln w="38100">
            <a:solidFill>
              <a:srgbClr val="53D5F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547104" y="5029200"/>
            <a:ext cx="1508759" cy="0"/>
          </a:xfrm>
          <a:prstGeom prst="line">
            <a:avLst/>
          </a:prstGeom>
          <a:ln w="38100">
            <a:solidFill>
              <a:srgbClr val="53D5F5"/>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914400" y="2139696"/>
            <a:ext cx="548640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A5B9D0"/>
                </a:solidFill>
                <a:latin typeface="Segoe UI"/>
              </a:rPr>
              <a:t>GPU REPLICAS</a:t>
            </a:r>
          </a:p>
        </p:txBody>
      </p:sp>
      <p:sp>
        <p:nvSpPr>
          <p:cNvPr id="28" name="TextBox 27"/>
          <p:cNvSpPr txBox="1"/>
          <p:nvPr/>
        </p:nvSpPr>
        <p:spPr>
          <a:xfrm>
            <a:off x="960120" y="5212080"/>
            <a:ext cx="2057400" cy="320040"/>
          </a:xfrm>
          <a:prstGeom prst="rect">
            <a:avLst/>
          </a:prstGeom>
          <a:noFill/>
        </p:spPr>
        <p:txBody>
          <a:bodyPr wrap="square" lIns="9144" rIns="9144" tIns="18288" bIns="18288">
            <a:spAutoFit/>
          </a:bodyPr>
          <a:lstStyle/>
          <a:p>
            <a:pPr algn="l">
              <a:lnSpc>
                <a:spcPct val="112000"/>
              </a:lnSpc>
              <a:spcAft>
                <a:spcPts val="400"/>
              </a:spcAft>
            </a:pPr>
            <a:r>
              <a:rPr sz="1400" b="0">
                <a:solidFill>
                  <a:srgbClr val="A5B9D0"/>
                </a:solidFill>
                <a:latin typeface="Segoe UI"/>
              </a:rPr>
              <a:t>No work</a:t>
            </a:r>
          </a:p>
        </p:txBody>
      </p:sp>
      <p:sp>
        <p:nvSpPr>
          <p:cNvPr id="29" name="TextBox 28"/>
          <p:cNvSpPr txBox="1"/>
          <p:nvPr/>
        </p:nvSpPr>
        <p:spPr>
          <a:xfrm>
            <a:off x="2834640" y="5212080"/>
            <a:ext cx="2057400" cy="320040"/>
          </a:xfrm>
          <a:prstGeom prst="rect">
            <a:avLst/>
          </a:prstGeom>
          <a:noFill/>
        </p:spPr>
        <p:txBody>
          <a:bodyPr wrap="square" lIns="9144" rIns="9144" tIns="18288" bIns="18288">
            <a:spAutoFit/>
          </a:bodyPr>
          <a:lstStyle/>
          <a:p>
            <a:pPr algn="l">
              <a:lnSpc>
                <a:spcPct val="112000"/>
              </a:lnSpc>
              <a:spcAft>
                <a:spcPts val="400"/>
              </a:spcAft>
            </a:pPr>
            <a:r>
              <a:rPr sz="1400" b="0">
                <a:solidFill>
                  <a:srgbClr val="A5B9D0"/>
                </a:solidFill>
                <a:latin typeface="Segoe UI"/>
              </a:rPr>
              <a:t>Demand grows</a:t>
            </a:r>
          </a:p>
        </p:txBody>
      </p:sp>
      <p:sp>
        <p:nvSpPr>
          <p:cNvPr id="30" name="TextBox 29"/>
          <p:cNvSpPr txBox="1"/>
          <p:nvPr/>
        </p:nvSpPr>
        <p:spPr>
          <a:xfrm>
            <a:off x="5669280" y="5212080"/>
            <a:ext cx="2057400" cy="320040"/>
          </a:xfrm>
          <a:prstGeom prst="rect">
            <a:avLst/>
          </a:prstGeom>
          <a:noFill/>
        </p:spPr>
        <p:txBody>
          <a:bodyPr wrap="square" lIns="9144" rIns="9144" tIns="18288" bIns="18288">
            <a:spAutoFit/>
          </a:bodyPr>
          <a:lstStyle/>
          <a:p>
            <a:pPr algn="l">
              <a:lnSpc>
                <a:spcPct val="112000"/>
              </a:lnSpc>
              <a:spcAft>
                <a:spcPts val="400"/>
              </a:spcAft>
            </a:pPr>
            <a:r>
              <a:rPr sz="1400" b="0">
                <a:solidFill>
                  <a:srgbClr val="A5B9D0"/>
                </a:solidFill>
                <a:latin typeface="Segoe UI"/>
              </a:rPr>
              <a:t>Work drains</a:t>
            </a:r>
          </a:p>
        </p:txBody>
      </p:sp>
      <p:sp>
        <p:nvSpPr>
          <p:cNvPr id="31" name="Rounded Rectangle 30"/>
          <p:cNvSpPr/>
          <p:nvPr/>
        </p:nvSpPr>
        <p:spPr>
          <a:xfrm>
            <a:off x="8458200" y="2304288"/>
            <a:ext cx="3145536" cy="306324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77656" y="2523744"/>
            <a:ext cx="265176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70E0BA"/>
                </a:solidFill>
                <a:latin typeface="Segoe UI"/>
              </a:rPr>
              <a:t>CONFIGURATION</a:t>
            </a:r>
          </a:p>
        </p:txBody>
      </p:sp>
      <p:sp>
        <p:nvSpPr>
          <p:cNvPr id="33" name="TextBox 32"/>
          <p:cNvSpPr txBox="1"/>
          <p:nvPr/>
        </p:nvSpPr>
        <p:spPr>
          <a:xfrm>
            <a:off x="8677656" y="3026664"/>
            <a:ext cx="2706624" cy="2103120"/>
          </a:xfrm>
          <a:prstGeom prst="rect">
            <a:avLst/>
          </a:prstGeom>
          <a:noFill/>
        </p:spPr>
        <p:txBody>
          <a:bodyPr wrap="square" lIns="9144" rIns="9144" tIns="18288" bIns="18288">
            <a:spAutoFit/>
          </a:bodyPr>
          <a:lstStyle/>
          <a:p>
            <a:pPr algn="l">
              <a:lnSpc>
                <a:spcPct val="112000"/>
              </a:lnSpc>
              <a:spcAft>
                <a:spcPts val="400"/>
              </a:spcAft>
            </a:pPr>
            <a:r>
              <a:rPr sz="1800" b="0">
                <a:solidFill>
                  <a:srgbClr val="F4F8FF"/>
                </a:solidFill>
                <a:latin typeface="Segoe UI"/>
              </a:rPr>
              <a:t>Minimum replicas: 0</a:t>
            </a:r>
          </a:p>
          <a:p>
            <a:pPr algn="l">
              <a:lnSpc>
                <a:spcPct val="112000"/>
              </a:lnSpc>
              <a:spcAft>
                <a:spcPts val="400"/>
              </a:spcAft>
            </a:pPr>
            <a:r>
              <a:rPr sz="1800" b="0">
                <a:solidFill>
                  <a:srgbClr val="F4F8FF"/>
                </a:solidFill>
                <a:latin typeface="Segoe UI"/>
              </a:rPr>
              <a:t>Maximum: set a safe cap</a:t>
            </a:r>
          </a:p>
          <a:p>
            <a:pPr algn="l">
              <a:lnSpc>
                <a:spcPct val="112000"/>
              </a:lnSpc>
              <a:spcAft>
                <a:spcPts val="400"/>
              </a:spcAft>
            </a:pPr>
            <a:r>
              <a:rPr sz="1800" b="0">
                <a:solidFill>
                  <a:srgbClr val="F4F8FF"/>
                </a:solidFill>
                <a:latin typeface="Segoe UI"/>
              </a:rPr>
              <a:t>Trigger: HTTP or events</a:t>
            </a:r>
          </a:p>
          <a:p>
            <a:pPr algn="l">
              <a:lnSpc>
                <a:spcPct val="112000"/>
              </a:lnSpc>
              <a:spcAft>
                <a:spcPts val="400"/>
              </a:spcAft>
            </a:pPr>
            <a:r>
              <a:rPr sz="1800" b="0">
                <a:solidFill>
                  <a:srgbClr val="F4F8FF"/>
                </a:solidFill>
                <a:latin typeface="Segoe UI"/>
              </a:rPr>
              <a:t>Tune concurrency by test</a:t>
            </a:r>
          </a:p>
        </p:txBody>
      </p:sp>
      <p:sp>
        <p:nvSpPr>
          <p:cNvPr id="34" name="Rounded Rectangle 33"/>
          <p:cNvSpPr/>
          <p:nvPr/>
        </p:nvSpPr>
        <p:spPr>
          <a:xfrm>
            <a:off x="512064" y="5623560"/>
            <a:ext cx="11109960" cy="45720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 y="5687568"/>
            <a:ext cx="10744200" cy="310896"/>
          </a:xfrm>
          <a:prstGeom prst="rect">
            <a:avLst/>
          </a:prstGeom>
          <a:noFill/>
        </p:spPr>
        <p:txBody>
          <a:bodyPr wrap="square" lIns="9144" rIns="9144" tIns="18288" bIns="18288">
            <a:spAutoFit/>
          </a:bodyPr>
          <a:lstStyle/>
          <a:p>
            <a:pPr algn="l">
              <a:lnSpc>
                <a:spcPct val="112000"/>
              </a:lnSpc>
              <a:spcAft>
                <a:spcPts val="400"/>
              </a:spcAft>
            </a:pPr>
            <a:r>
              <a:rPr sz="1500" b="1">
                <a:solidFill>
                  <a:srgbClr val="53D5F5"/>
                </a:solidFill>
                <a:latin typeface="Segoe UI"/>
              </a:rPr>
              <a:t>Scale-to-zero requires a wake-up signal. CPU/memory-only scaling is not a zero-to-one trigger.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9182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548640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53D5F5"/>
                </a:solidFill>
                <a:latin typeface="Segoe UI"/>
              </a:rPr>
              <a:t>08 / STARTUP ENGINEERING</a:t>
            </a:r>
          </a:p>
        </p:txBody>
      </p:sp>
      <p:sp>
        <p:nvSpPr>
          <p:cNvPr id="4" name="TextBox 3"/>
          <p:cNvSpPr txBox="1"/>
          <p:nvPr/>
        </p:nvSpPr>
        <p:spPr>
          <a:xfrm>
            <a:off x="502920" y="786384"/>
            <a:ext cx="11109960" cy="658368"/>
          </a:xfrm>
          <a:prstGeom prst="rect">
            <a:avLst/>
          </a:prstGeom>
          <a:noFill/>
        </p:spPr>
        <p:txBody>
          <a:bodyPr wrap="square" lIns="9144" rIns="9144" tIns="18288" bIns="18288">
            <a:spAutoFit/>
          </a:bodyPr>
          <a:lstStyle/>
          <a:p>
            <a:pPr algn="l">
              <a:lnSpc>
                <a:spcPct val="112000"/>
              </a:lnSpc>
              <a:spcAft>
                <a:spcPts val="400"/>
              </a:spcAft>
            </a:pPr>
            <a:r>
              <a:rPr sz="3100" b="1">
                <a:solidFill>
                  <a:srgbClr val="F4F8FF"/>
                </a:solidFill>
                <a:latin typeface="Segoe UI"/>
              </a:rPr>
              <a:t>Cold starts are a budget you must measure</a:t>
            </a:r>
          </a:p>
        </p:txBody>
      </p:sp>
      <p:sp>
        <p:nvSpPr>
          <p:cNvPr id="5" name="TextBox 4"/>
          <p:cNvSpPr txBox="1"/>
          <p:nvPr/>
        </p:nvSpPr>
        <p:spPr>
          <a:xfrm>
            <a:off x="521207" y="1508760"/>
            <a:ext cx="11064240" cy="576072"/>
          </a:xfrm>
          <a:prstGeom prst="rect">
            <a:avLst/>
          </a:prstGeom>
          <a:noFill/>
        </p:spPr>
        <p:txBody>
          <a:bodyPr wrap="square" lIns="9144" rIns="9144" tIns="18288" bIns="18288">
            <a:spAutoFit/>
          </a:bodyPr>
          <a:lstStyle/>
          <a:p>
            <a:pPr algn="l">
              <a:lnSpc>
                <a:spcPct val="112000"/>
              </a:lnSpc>
              <a:spcAft>
                <a:spcPts val="400"/>
              </a:spcAft>
            </a:pPr>
            <a:r>
              <a:rPr sz="1700" b="0">
                <a:solidFill>
                  <a:srgbClr val="A5B9D0"/>
                </a:solidFill>
                <a:latin typeface="Segoe UI"/>
              </a:rPr>
              <a:t>Scale-to-zero trades idle compute cost for work on the next activation.</a:t>
            </a:r>
          </a:p>
        </p:txBody>
      </p:sp>
      <p:cxnSp>
        <p:nvCxnSpPr>
          <p:cNvPr id="6" name="Connector 5"/>
          <p:cNvCxnSpPr/>
          <p:nvPr/>
        </p:nvCxnSpPr>
        <p:spPr>
          <a:xfrm>
            <a:off x="502920" y="6327648"/>
            <a:ext cx="11155680" cy="0"/>
          </a:xfrm>
          <a:prstGeom prst="line">
            <a:avLst/>
          </a:prstGeom>
          <a:ln w="10160">
            <a:solidFill>
              <a:srgbClr val="29435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21207" y="6473952"/>
            <a:ext cx="5303520" cy="201168"/>
          </a:xfrm>
          <a:prstGeom prst="rect">
            <a:avLst/>
          </a:prstGeom>
          <a:noFill/>
        </p:spPr>
        <p:txBody>
          <a:bodyPr wrap="square" lIns="9144" rIns="9144" tIns="18288" bIns="18288">
            <a:spAutoFit/>
          </a:bodyPr>
          <a:lstStyle/>
          <a:p>
            <a:pPr algn="l">
              <a:lnSpc>
                <a:spcPct val="112000"/>
              </a:lnSpc>
              <a:spcAft>
                <a:spcPts val="400"/>
              </a:spcAft>
            </a:pPr>
            <a:r>
              <a:rPr sz="900" b="0">
                <a:solidFill>
                  <a:srgbClr val="A5B9D0"/>
                </a:solidFill>
                <a:latin typeface="Segoe UI"/>
              </a:rPr>
              <a:t>AZURE CONTAINER APPS  /  SERVERLESS GPU</a:t>
            </a:r>
          </a:p>
        </p:txBody>
      </p:sp>
      <p:sp>
        <p:nvSpPr>
          <p:cNvPr id="8" name="TextBox 7"/>
          <p:cNvSpPr txBox="1"/>
          <p:nvPr/>
        </p:nvSpPr>
        <p:spPr>
          <a:xfrm>
            <a:off x="5486400" y="6455664"/>
            <a:ext cx="5303520" cy="256032"/>
          </a:xfrm>
          <a:prstGeom prst="rect">
            <a:avLst/>
          </a:prstGeom>
          <a:noFill/>
        </p:spPr>
        <p:txBody>
          <a:bodyPr wrap="square" lIns="9144" rIns="9144" tIns="18288" bIns="18288">
            <a:spAutoFit/>
          </a:bodyPr>
          <a:lstStyle/>
          <a:p>
            <a:pPr algn="r">
              <a:lnSpc>
                <a:spcPct val="112000"/>
              </a:lnSpc>
              <a:spcAft>
                <a:spcPts val="400"/>
              </a:spcAft>
            </a:pPr>
            <a:r>
              <a:rPr sz="900" b="0">
                <a:solidFill>
                  <a:srgbClr val="A5B9D0"/>
                </a:solidFill>
                <a:latin typeface="Segoe UI"/>
                <a:hlinkClick r:id="rId2"/>
              </a:rPr>
              <a:t>Source: Cold starts | GPU overview | Health probes</a:t>
            </a:r>
          </a:p>
        </p:txBody>
      </p:sp>
      <p:sp>
        <p:nvSpPr>
          <p:cNvPr id="9" name="TextBox 8"/>
          <p:cNvSpPr txBox="1"/>
          <p:nvPr/>
        </p:nvSpPr>
        <p:spPr>
          <a:xfrm>
            <a:off x="11082528" y="6428232"/>
            <a:ext cx="548640" cy="274320"/>
          </a:xfrm>
          <a:prstGeom prst="rect">
            <a:avLst/>
          </a:prstGeom>
          <a:noFill/>
        </p:spPr>
        <p:txBody>
          <a:bodyPr wrap="square" lIns="9144" rIns="9144" tIns="18288" bIns="18288">
            <a:spAutoFit/>
          </a:bodyPr>
          <a:lstStyle/>
          <a:p>
            <a:pPr algn="r">
              <a:lnSpc>
                <a:spcPct val="112000"/>
              </a:lnSpc>
              <a:spcAft>
                <a:spcPts val="400"/>
              </a:spcAft>
            </a:pPr>
            <a:r>
              <a:rPr sz="1200" b="0">
                <a:solidFill>
                  <a:srgbClr val="53D5F5"/>
                </a:solidFill>
                <a:latin typeface="Segoe UI"/>
              </a:rPr>
              <a:t>09</a:t>
            </a:r>
          </a:p>
        </p:txBody>
      </p:sp>
      <p:sp>
        <p:nvSpPr>
          <p:cNvPr id="10" name="Rounded Rectangle 9"/>
          <p:cNvSpPr/>
          <p:nvPr/>
        </p:nvSpPr>
        <p:spPr>
          <a:xfrm>
            <a:off x="530352" y="2331720"/>
            <a:ext cx="2578608" cy="164592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514600"/>
            <a:ext cx="182880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53D5F5"/>
                </a:solidFill>
                <a:latin typeface="Segoe UI"/>
              </a:rPr>
              <a:t>01</a:t>
            </a:r>
          </a:p>
        </p:txBody>
      </p:sp>
      <p:sp>
        <p:nvSpPr>
          <p:cNvPr id="12" name="TextBox 11"/>
          <p:cNvSpPr txBox="1"/>
          <p:nvPr/>
        </p:nvSpPr>
        <p:spPr>
          <a:xfrm>
            <a:off x="713232" y="2852928"/>
            <a:ext cx="2212848" cy="411480"/>
          </a:xfrm>
          <a:prstGeom prst="rect">
            <a:avLst/>
          </a:prstGeom>
          <a:noFill/>
        </p:spPr>
        <p:txBody>
          <a:bodyPr wrap="square" lIns="9144" rIns="9144" tIns="18288" bIns="18288">
            <a:spAutoFit/>
          </a:bodyPr>
          <a:lstStyle/>
          <a:p>
            <a:pPr algn="l">
              <a:lnSpc>
                <a:spcPct val="112000"/>
              </a:lnSpc>
              <a:spcAft>
                <a:spcPts val="400"/>
              </a:spcAft>
            </a:pPr>
            <a:r>
              <a:rPr sz="2300" b="1">
                <a:solidFill>
                  <a:srgbClr val="F4F8FF"/>
                </a:solidFill>
                <a:latin typeface="Segoe UI"/>
              </a:rPr>
              <a:t>Provision</a:t>
            </a:r>
          </a:p>
        </p:txBody>
      </p:sp>
      <p:sp>
        <p:nvSpPr>
          <p:cNvPr id="13" name="TextBox 12"/>
          <p:cNvSpPr txBox="1"/>
          <p:nvPr/>
        </p:nvSpPr>
        <p:spPr>
          <a:xfrm>
            <a:off x="713232" y="3438144"/>
            <a:ext cx="2212848" cy="347472"/>
          </a:xfrm>
          <a:prstGeom prst="rect">
            <a:avLst/>
          </a:prstGeom>
          <a:noFill/>
        </p:spPr>
        <p:txBody>
          <a:bodyPr wrap="square" lIns="9144" rIns="9144" tIns="18288" bIns="18288">
            <a:spAutoFit/>
          </a:bodyPr>
          <a:lstStyle/>
          <a:p>
            <a:pPr algn="l">
              <a:lnSpc>
                <a:spcPct val="112000"/>
              </a:lnSpc>
              <a:spcAft>
                <a:spcPts val="400"/>
              </a:spcAft>
            </a:pPr>
            <a:r>
              <a:rPr sz="1400" b="0">
                <a:solidFill>
                  <a:srgbClr val="A5B9D0"/>
                </a:solidFill>
                <a:latin typeface="Segoe UI"/>
              </a:rPr>
              <a:t>Obtain capacity</a:t>
            </a:r>
          </a:p>
        </p:txBody>
      </p:sp>
      <p:sp>
        <p:nvSpPr>
          <p:cNvPr id="14" name="Chevron 13"/>
          <p:cNvSpPr/>
          <p:nvPr/>
        </p:nvSpPr>
        <p:spPr>
          <a:xfrm>
            <a:off x="3182112" y="3008376"/>
            <a:ext cx="128016" cy="164592"/>
          </a:xfrm>
          <a:prstGeom prst="chevron">
            <a:avLst/>
          </a:prstGeom>
          <a:solidFill>
            <a:srgbClr val="53D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364992" y="2331720"/>
            <a:ext cx="2578608" cy="164592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47872" y="2514600"/>
            <a:ext cx="182880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53D5F5"/>
                </a:solidFill>
                <a:latin typeface="Segoe UI"/>
              </a:rPr>
              <a:t>02</a:t>
            </a:r>
          </a:p>
        </p:txBody>
      </p:sp>
      <p:sp>
        <p:nvSpPr>
          <p:cNvPr id="17" name="TextBox 16"/>
          <p:cNvSpPr txBox="1"/>
          <p:nvPr/>
        </p:nvSpPr>
        <p:spPr>
          <a:xfrm>
            <a:off x="3547872" y="2852928"/>
            <a:ext cx="2212848" cy="411480"/>
          </a:xfrm>
          <a:prstGeom prst="rect">
            <a:avLst/>
          </a:prstGeom>
          <a:noFill/>
        </p:spPr>
        <p:txBody>
          <a:bodyPr wrap="square" lIns="9144" rIns="9144" tIns="18288" bIns="18288">
            <a:spAutoFit/>
          </a:bodyPr>
          <a:lstStyle/>
          <a:p>
            <a:pPr algn="l">
              <a:lnSpc>
                <a:spcPct val="112000"/>
              </a:lnSpc>
              <a:spcAft>
                <a:spcPts val="400"/>
              </a:spcAft>
            </a:pPr>
            <a:r>
              <a:rPr sz="2300" b="1">
                <a:solidFill>
                  <a:srgbClr val="F4F8FF"/>
                </a:solidFill>
                <a:latin typeface="Segoe UI"/>
              </a:rPr>
              <a:t>Image</a:t>
            </a:r>
          </a:p>
        </p:txBody>
      </p:sp>
      <p:sp>
        <p:nvSpPr>
          <p:cNvPr id="18" name="TextBox 17"/>
          <p:cNvSpPr txBox="1"/>
          <p:nvPr/>
        </p:nvSpPr>
        <p:spPr>
          <a:xfrm>
            <a:off x="3547872" y="3438144"/>
            <a:ext cx="2212848" cy="347472"/>
          </a:xfrm>
          <a:prstGeom prst="rect">
            <a:avLst/>
          </a:prstGeom>
          <a:noFill/>
        </p:spPr>
        <p:txBody>
          <a:bodyPr wrap="square" lIns="9144" rIns="9144" tIns="18288" bIns="18288">
            <a:spAutoFit/>
          </a:bodyPr>
          <a:lstStyle/>
          <a:p>
            <a:pPr algn="l">
              <a:lnSpc>
                <a:spcPct val="112000"/>
              </a:lnSpc>
              <a:spcAft>
                <a:spcPts val="400"/>
              </a:spcAft>
            </a:pPr>
            <a:r>
              <a:rPr sz="1400" b="0">
                <a:solidFill>
                  <a:srgbClr val="A5B9D0"/>
                </a:solidFill>
                <a:latin typeface="Segoe UI"/>
              </a:rPr>
              <a:t>Fetch / start image</a:t>
            </a:r>
          </a:p>
        </p:txBody>
      </p:sp>
      <p:sp>
        <p:nvSpPr>
          <p:cNvPr id="19" name="Chevron 18"/>
          <p:cNvSpPr/>
          <p:nvPr/>
        </p:nvSpPr>
        <p:spPr>
          <a:xfrm>
            <a:off x="6016752" y="3008376"/>
            <a:ext cx="128016" cy="164592"/>
          </a:xfrm>
          <a:prstGeom prst="chevron">
            <a:avLst/>
          </a:prstGeom>
          <a:solidFill>
            <a:srgbClr val="53D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199632" y="2331720"/>
            <a:ext cx="2578608" cy="164592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82512" y="2514600"/>
            <a:ext cx="182880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53D5F5"/>
                </a:solidFill>
                <a:latin typeface="Segoe UI"/>
              </a:rPr>
              <a:t>03</a:t>
            </a:r>
          </a:p>
        </p:txBody>
      </p:sp>
      <p:sp>
        <p:nvSpPr>
          <p:cNvPr id="22" name="TextBox 21"/>
          <p:cNvSpPr txBox="1"/>
          <p:nvPr/>
        </p:nvSpPr>
        <p:spPr>
          <a:xfrm>
            <a:off x="6382512" y="2852928"/>
            <a:ext cx="2212848" cy="411480"/>
          </a:xfrm>
          <a:prstGeom prst="rect">
            <a:avLst/>
          </a:prstGeom>
          <a:noFill/>
        </p:spPr>
        <p:txBody>
          <a:bodyPr wrap="square" lIns="9144" rIns="9144" tIns="18288" bIns="18288">
            <a:spAutoFit/>
          </a:bodyPr>
          <a:lstStyle/>
          <a:p>
            <a:pPr algn="l">
              <a:lnSpc>
                <a:spcPct val="112000"/>
              </a:lnSpc>
              <a:spcAft>
                <a:spcPts val="400"/>
              </a:spcAft>
            </a:pPr>
            <a:r>
              <a:rPr sz="2300" b="1">
                <a:solidFill>
                  <a:srgbClr val="F4F8FF"/>
                </a:solidFill>
                <a:latin typeface="Segoe UI"/>
              </a:rPr>
              <a:t>Load</a:t>
            </a:r>
          </a:p>
        </p:txBody>
      </p:sp>
      <p:sp>
        <p:nvSpPr>
          <p:cNvPr id="23" name="TextBox 22"/>
          <p:cNvSpPr txBox="1"/>
          <p:nvPr/>
        </p:nvSpPr>
        <p:spPr>
          <a:xfrm>
            <a:off x="6382512" y="3438144"/>
            <a:ext cx="2212848" cy="347472"/>
          </a:xfrm>
          <a:prstGeom prst="rect">
            <a:avLst/>
          </a:prstGeom>
          <a:noFill/>
        </p:spPr>
        <p:txBody>
          <a:bodyPr wrap="square" lIns="9144" rIns="9144" tIns="18288" bIns="18288">
            <a:spAutoFit/>
          </a:bodyPr>
          <a:lstStyle/>
          <a:p>
            <a:pPr algn="l">
              <a:lnSpc>
                <a:spcPct val="112000"/>
              </a:lnSpc>
              <a:spcAft>
                <a:spcPts val="400"/>
              </a:spcAft>
            </a:pPr>
            <a:r>
              <a:rPr sz="1400" b="0">
                <a:solidFill>
                  <a:srgbClr val="A5B9D0"/>
                </a:solidFill>
                <a:latin typeface="Segoe UI"/>
              </a:rPr>
              <a:t>Read model weights</a:t>
            </a:r>
          </a:p>
        </p:txBody>
      </p:sp>
      <p:sp>
        <p:nvSpPr>
          <p:cNvPr id="24" name="Chevron 23"/>
          <p:cNvSpPr/>
          <p:nvPr/>
        </p:nvSpPr>
        <p:spPr>
          <a:xfrm>
            <a:off x="8851392" y="3008376"/>
            <a:ext cx="128016" cy="164592"/>
          </a:xfrm>
          <a:prstGeom prst="chevron">
            <a:avLst/>
          </a:prstGeom>
          <a:solidFill>
            <a:srgbClr val="53D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034272" y="2331720"/>
            <a:ext cx="2578608" cy="164592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17152" y="2514600"/>
            <a:ext cx="182880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53D5F5"/>
                </a:solidFill>
                <a:latin typeface="Segoe UI"/>
              </a:rPr>
              <a:t>04</a:t>
            </a:r>
          </a:p>
        </p:txBody>
      </p:sp>
      <p:sp>
        <p:nvSpPr>
          <p:cNvPr id="27" name="TextBox 26"/>
          <p:cNvSpPr txBox="1"/>
          <p:nvPr/>
        </p:nvSpPr>
        <p:spPr>
          <a:xfrm>
            <a:off x="9217152" y="2852928"/>
            <a:ext cx="2212848" cy="411480"/>
          </a:xfrm>
          <a:prstGeom prst="rect">
            <a:avLst/>
          </a:prstGeom>
          <a:noFill/>
        </p:spPr>
        <p:txBody>
          <a:bodyPr wrap="square" lIns="9144" rIns="9144" tIns="18288" bIns="18288">
            <a:spAutoFit/>
          </a:bodyPr>
          <a:lstStyle/>
          <a:p>
            <a:pPr algn="l">
              <a:lnSpc>
                <a:spcPct val="112000"/>
              </a:lnSpc>
              <a:spcAft>
                <a:spcPts val="400"/>
              </a:spcAft>
            </a:pPr>
            <a:r>
              <a:rPr sz="2300" b="1">
                <a:solidFill>
                  <a:srgbClr val="F4F8FF"/>
                </a:solidFill>
                <a:latin typeface="Segoe UI"/>
              </a:rPr>
              <a:t>Warm up</a:t>
            </a:r>
          </a:p>
        </p:txBody>
      </p:sp>
      <p:sp>
        <p:nvSpPr>
          <p:cNvPr id="28" name="TextBox 27"/>
          <p:cNvSpPr txBox="1"/>
          <p:nvPr/>
        </p:nvSpPr>
        <p:spPr>
          <a:xfrm>
            <a:off x="9217152" y="3438144"/>
            <a:ext cx="2212848" cy="347472"/>
          </a:xfrm>
          <a:prstGeom prst="rect">
            <a:avLst/>
          </a:prstGeom>
          <a:noFill/>
        </p:spPr>
        <p:txBody>
          <a:bodyPr wrap="square" lIns="9144" rIns="9144" tIns="18288" bIns="18288">
            <a:spAutoFit/>
          </a:bodyPr>
          <a:lstStyle/>
          <a:p>
            <a:pPr algn="l">
              <a:lnSpc>
                <a:spcPct val="112000"/>
              </a:lnSpc>
              <a:spcAft>
                <a:spcPts val="400"/>
              </a:spcAft>
            </a:pPr>
            <a:r>
              <a:rPr sz="1400" b="0">
                <a:solidFill>
                  <a:srgbClr val="A5B9D0"/>
                </a:solidFill>
                <a:latin typeface="Segoe UI"/>
              </a:rPr>
              <a:t>Initialize the runtime</a:t>
            </a:r>
          </a:p>
        </p:txBody>
      </p:sp>
      <p:sp>
        <p:nvSpPr>
          <p:cNvPr id="29" name="TextBox 28"/>
          <p:cNvSpPr txBox="1"/>
          <p:nvPr/>
        </p:nvSpPr>
        <p:spPr>
          <a:xfrm>
            <a:off x="566928" y="4315968"/>
            <a:ext cx="5303520" cy="1024128"/>
          </a:xfrm>
          <a:prstGeom prst="rect">
            <a:avLst/>
          </a:prstGeom>
          <a:noFill/>
        </p:spPr>
        <p:txBody>
          <a:bodyPr wrap="square" lIns="9144" rIns="9144" tIns="18288" bIns="18288">
            <a:spAutoFit/>
          </a:bodyPr>
          <a:lstStyle/>
          <a:p>
            <a:pPr algn="l">
              <a:lnSpc>
                <a:spcPct val="112000"/>
              </a:lnSpc>
              <a:spcAft>
                <a:spcPts val="400"/>
              </a:spcAft>
            </a:pPr>
            <a:r>
              <a:rPr sz="1800" b="0">
                <a:solidFill>
                  <a:srgbClr val="F4F8FF"/>
                </a:solidFill>
                <a:latin typeface="Segoe UI"/>
              </a:rPr>
              <a:t>Reduce the work</a:t>
            </a:r>
          </a:p>
          <a:p>
            <a:pPr algn="l">
              <a:lnSpc>
                <a:spcPct val="112000"/>
              </a:lnSpc>
              <a:spcAft>
                <a:spcPts val="400"/>
              </a:spcAft>
            </a:pPr>
            <a:r>
              <a:rPr sz="1800" b="0">
                <a:solidFill>
                  <a:srgbClr val="F4F8FF"/>
                </a:solidFill>
                <a:latin typeface="Segoe UI"/>
              </a:rPr>
              <a:t>Lean images, nearby registry, pre-staged weights;</a:t>
            </a:r>
          </a:p>
          <a:p>
            <a:pPr algn="l">
              <a:lnSpc>
                <a:spcPct val="112000"/>
              </a:lnSpc>
              <a:spcAft>
                <a:spcPts val="400"/>
              </a:spcAft>
            </a:pPr>
            <a:r>
              <a:rPr sz="1800" b="0">
                <a:solidFill>
                  <a:srgbClr val="F4F8FF"/>
                </a:solidFill>
                <a:latin typeface="Segoe UI"/>
              </a:rPr>
              <a:t>consider ACR Premium artifact streaming.</a:t>
            </a:r>
          </a:p>
        </p:txBody>
      </p:sp>
      <p:sp>
        <p:nvSpPr>
          <p:cNvPr id="30" name="TextBox 29"/>
          <p:cNvSpPr txBox="1"/>
          <p:nvPr/>
        </p:nvSpPr>
        <p:spPr>
          <a:xfrm>
            <a:off x="6254496" y="4315968"/>
            <a:ext cx="5303520" cy="1024128"/>
          </a:xfrm>
          <a:prstGeom prst="rect">
            <a:avLst/>
          </a:prstGeom>
          <a:noFill/>
        </p:spPr>
        <p:txBody>
          <a:bodyPr wrap="square" lIns="9144" rIns="9144" tIns="18288" bIns="18288">
            <a:spAutoFit/>
          </a:bodyPr>
          <a:lstStyle/>
          <a:p>
            <a:pPr algn="l">
              <a:lnSpc>
                <a:spcPct val="112000"/>
              </a:lnSpc>
              <a:spcAft>
                <a:spcPts val="400"/>
              </a:spcAft>
            </a:pPr>
            <a:r>
              <a:rPr sz="1800" b="0">
                <a:solidFill>
                  <a:srgbClr val="F4F8FF"/>
                </a:solidFill>
                <a:latin typeface="Segoe UI"/>
              </a:rPr>
              <a:t>Protect the experience</a:t>
            </a:r>
          </a:p>
          <a:p>
            <a:pPr algn="l">
              <a:lnSpc>
                <a:spcPct val="112000"/>
              </a:lnSpc>
              <a:spcAft>
                <a:spcPts val="400"/>
              </a:spcAft>
            </a:pPr>
            <a:r>
              <a:rPr sz="1800" b="0">
                <a:solidFill>
                  <a:srgbClr val="F4F8FF"/>
                </a:solidFill>
                <a:latin typeface="Segoe UI"/>
              </a:rPr>
              <a:t>Explicit startup/readiness probes; asynchronous UX</a:t>
            </a:r>
          </a:p>
          <a:p>
            <a:pPr algn="l">
              <a:lnSpc>
                <a:spcPct val="112000"/>
              </a:lnSpc>
              <a:spcAft>
                <a:spcPts val="400"/>
              </a:spcAft>
            </a:pPr>
            <a:r>
              <a:rPr sz="1800" b="0">
                <a:solidFill>
                  <a:srgbClr val="F4F8FF"/>
                </a:solidFill>
                <a:latin typeface="Segoe UI"/>
              </a:rPr>
              <a:t>or warm replicas when latency requires them.</a:t>
            </a:r>
          </a:p>
        </p:txBody>
      </p:sp>
      <p:sp>
        <p:nvSpPr>
          <p:cNvPr id="31" name="Rounded Rectangle 30"/>
          <p:cNvSpPr/>
          <p:nvPr/>
        </p:nvSpPr>
        <p:spPr>
          <a:xfrm>
            <a:off x="512064" y="5623560"/>
            <a:ext cx="11109960" cy="45720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5687568"/>
            <a:ext cx="10744200" cy="310896"/>
          </a:xfrm>
          <a:prstGeom prst="rect">
            <a:avLst/>
          </a:prstGeom>
          <a:noFill/>
        </p:spPr>
        <p:txBody>
          <a:bodyPr wrap="square" lIns="9144" rIns="9144" tIns="18288" bIns="18288">
            <a:spAutoFit/>
          </a:bodyPr>
          <a:lstStyle/>
          <a:p>
            <a:pPr algn="l">
              <a:lnSpc>
                <a:spcPct val="112000"/>
              </a:lnSpc>
              <a:spcAft>
                <a:spcPts val="400"/>
              </a:spcAft>
            </a:pPr>
            <a:r>
              <a:rPr sz="1500" b="1">
                <a:solidFill>
                  <a:srgbClr val="FFC66D"/>
                </a:solidFill>
                <a:latin typeface="Segoe UI"/>
              </a:rPr>
              <a:t>No universal cold-start number: measure p50/p95 for the actual model, image and region.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9182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548640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53D5F5"/>
                </a:solidFill>
                <a:latin typeface="Segoe UI"/>
              </a:rPr>
              <a:t>09 / REQUEST PATTERNS</a:t>
            </a:r>
          </a:p>
        </p:txBody>
      </p:sp>
      <p:sp>
        <p:nvSpPr>
          <p:cNvPr id="4" name="TextBox 3"/>
          <p:cNvSpPr txBox="1"/>
          <p:nvPr/>
        </p:nvSpPr>
        <p:spPr>
          <a:xfrm>
            <a:off x="502920" y="786384"/>
            <a:ext cx="11109960" cy="658368"/>
          </a:xfrm>
          <a:prstGeom prst="rect">
            <a:avLst/>
          </a:prstGeom>
          <a:noFill/>
        </p:spPr>
        <p:txBody>
          <a:bodyPr wrap="square" lIns="9144" rIns="9144" tIns="18288" bIns="18288">
            <a:spAutoFit/>
          </a:bodyPr>
          <a:lstStyle/>
          <a:p>
            <a:pPr algn="l">
              <a:lnSpc>
                <a:spcPct val="112000"/>
              </a:lnSpc>
              <a:spcAft>
                <a:spcPts val="400"/>
              </a:spcAft>
            </a:pPr>
            <a:r>
              <a:rPr sz="3100" b="1">
                <a:solidFill>
                  <a:srgbClr val="F4F8FF"/>
                </a:solidFill>
                <a:latin typeface="Segoe UI"/>
              </a:rPr>
              <a:t>Use asynchronous work for long-running generation</a:t>
            </a:r>
          </a:p>
        </p:txBody>
      </p:sp>
      <p:sp>
        <p:nvSpPr>
          <p:cNvPr id="5" name="TextBox 4"/>
          <p:cNvSpPr txBox="1"/>
          <p:nvPr/>
        </p:nvSpPr>
        <p:spPr>
          <a:xfrm>
            <a:off x="521207" y="1508760"/>
            <a:ext cx="11064240" cy="576072"/>
          </a:xfrm>
          <a:prstGeom prst="rect">
            <a:avLst/>
          </a:prstGeom>
          <a:noFill/>
        </p:spPr>
        <p:txBody>
          <a:bodyPr wrap="square" lIns="9144" rIns="9144" tIns="18288" bIns="18288">
            <a:spAutoFit/>
          </a:bodyPr>
          <a:lstStyle/>
          <a:p>
            <a:pPr algn="l">
              <a:lnSpc>
                <a:spcPct val="112000"/>
              </a:lnSpc>
              <a:spcAft>
                <a:spcPts val="400"/>
              </a:spcAft>
            </a:pPr>
            <a:r>
              <a:rPr sz="1700" b="0">
                <a:solidFill>
                  <a:srgbClr val="A5B9D0"/>
                </a:solidFill>
                <a:latin typeface="Segoe UI"/>
              </a:rPr>
              <a:t>Keep interactive inference and durable background processing as distinct application contracts.</a:t>
            </a:r>
          </a:p>
        </p:txBody>
      </p:sp>
      <p:cxnSp>
        <p:nvCxnSpPr>
          <p:cNvPr id="6" name="Connector 5"/>
          <p:cNvCxnSpPr/>
          <p:nvPr/>
        </p:nvCxnSpPr>
        <p:spPr>
          <a:xfrm>
            <a:off x="502920" y="6327648"/>
            <a:ext cx="11155680" cy="0"/>
          </a:xfrm>
          <a:prstGeom prst="line">
            <a:avLst/>
          </a:prstGeom>
          <a:ln w="10160">
            <a:solidFill>
              <a:srgbClr val="29435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21207" y="6473952"/>
            <a:ext cx="5303520" cy="201168"/>
          </a:xfrm>
          <a:prstGeom prst="rect">
            <a:avLst/>
          </a:prstGeom>
          <a:noFill/>
        </p:spPr>
        <p:txBody>
          <a:bodyPr wrap="square" lIns="9144" rIns="9144" tIns="18288" bIns="18288">
            <a:spAutoFit/>
          </a:bodyPr>
          <a:lstStyle/>
          <a:p>
            <a:pPr algn="l">
              <a:lnSpc>
                <a:spcPct val="112000"/>
              </a:lnSpc>
              <a:spcAft>
                <a:spcPts val="400"/>
              </a:spcAft>
            </a:pPr>
            <a:r>
              <a:rPr sz="900" b="0">
                <a:solidFill>
                  <a:srgbClr val="A5B9D0"/>
                </a:solidFill>
                <a:latin typeface="Segoe UI"/>
              </a:rPr>
              <a:t>AZURE CONTAINER APPS  /  SERVERLESS GPU</a:t>
            </a:r>
          </a:p>
        </p:txBody>
      </p:sp>
      <p:sp>
        <p:nvSpPr>
          <p:cNvPr id="8" name="TextBox 7"/>
          <p:cNvSpPr txBox="1"/>
          <p:nvPr/>
        </p:nvSpPr>
        <p:spPr>
          <a:xfrm>
            <a:off x="5486400" y="6455664"/>
            <a:ext cx="5303520" cy="256032"/>
          </a:xfrm>
          <a:prstGeom prst="rect">
            <a:avLst/>
          </a:prstGeom>
          <a:noFill/>
        </p:spPr>
        <p:txBody>
          <a:bodyPr wrap="square" lIns="9144" rIns="9144" tIns="18288" bIns="18288">
            <a:spAutoFit/>
          </a:bodyPr>
          <a:lstStyle/>
          <a:p>
            <a:pPr algn="r">
              <a:lnSpc>
                <a:spcPct val="112000"/>
              </a:lnSpc>
              <a:spcAft>
                <a:spcPts val="400"/>
              </a:spcAft>
            </a:pPr>
            <a:r>
              <a:rPr sz="900" b="0">
                <a:solidFill>
                  <a:srgbClr val="A5B9D0"/>
                </a:solidFill>
                <a:latin typeface="Segoe UI"/>
                <a:hlinkClick r:id="rId2"/>
              </a:rPr>
              <a:t>Source: Scaling | Cold starts</a:t>
            </a:r>
          </a:p>
        </p:txBody>
      </p:sp>
      <p:sp>
        <p:nvSpPr>
          <p:cNvPr id="9" name="TextBox 8"/>
          <p:cNvSpPr txBox="1"/>
          <p:nvPr/>
        </p:nvSpPr>
        <p:spPr>
          <a:xfrm>
            <a:off x="11082528" y="6428232"/>
            <a:ext cx="548640" cy="274320"/>
          </a:xfrm>
          <a:prstGeom prst="rect">
            <a:avLst/>
          </a:prstGeom>
          <a:noFill/>
        </p:spPr>
        <p:txBody>
          <a:bodyPr wrap="square" lIns="9144" rIns="9144" tIns="18288" bIns="18288">
            <a:spAutoFit/>
          </a:bodyPr>
          <a:lstStyle/>
          <a:p>
            <a:pPr algn="r">
              <a:lnSpc>
                <a:spcPct val="112000"/>
              </a:lnSpc>
              <a:spcAft>
                <a:spcPts val="400"/>
              </a:spcAft>
            </a:pPr>
            <a:r>
              <a:rPr sz="1200" b="0">
                <a:solidFill>
                  <a:srgbClr val="53D5F5"/>
                </a:solidFill>
                <a:latin typeface="Segoe UI"/>
              </a:rPr>
              <a:t>10</a:t>
            </a:r>
          </a:p>
        </p:txBody>
      </p:sp>
      <p:sp>
        <p:nvSpPr>
          <p:cNvPr id="10" name="Rounded Rectangle 9"/>
          <p:cNvSpPr/>
          <p:nvPr/>
        </p:nvSpPr>
        <p:spPr>
          <a:xfrm>
            <a:off x="512064" y="2286000"/>
            <a:ext cx="5422392" cy="301752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487168"/>
            <a:ext cx="4983479"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53D5F5"/>
                </a:solidFill>
                <a:latin typeface="Segoe UI"/>
              </a:rPr>
              <a:t>ONLINE PATH</a:t>
            </a:r>
          </a:p>
        </p:txBody>
      </p:sp>
      <p:sp>
        <p:nvSpPr>
          <p:cNvPr id="12" name="TextBox 11"/>
          <p:cNvSpPr txBox="1"/>
          <p:nvPr/>
        </p:nvSpPr>
        <p:spPr>
          <a:xfrm>
            <a:off x="731520" y="2990088"/>
            <a:ext cx="4983479" cy="850392"/>
          </a:xfrm>
          <a:prstGeom prst="rect">
            <a:avLst/>
          </a:prstGeom>
          <a:noFill/>
        </p:spPr>
        <p:txBody>
          <a:bodyPr wrap="square" lIns="9144" rIns="9144" tIns="18288" bIns="18288">
            <a:spAutoFit/>
          </a:bodyPr>
          <a:lstStyle/>
          <a:p>
            <a:pPr algn="l">
              <a:lnSpc>
                <a:spcPct val="112000"/>
              </a:lnSpc>
              <a:spcAft>
                <a:spcPts val="400"/>
              </a:spcAft>
            </a:pPr>
            <a:r>
              <a:rPr sz="2300" b="1">
                <a:solidFill>
                  <a:srgbClr val="F4F8FF"/>
                </a:solidFill>
                <a:latin typeface="Segoe UI"/>
              </a:rPr>
              <a:t>Request -&gt; inference -&gt; response</a:t>
            </a:r>
          </a:p>
        </p:txBody>
      </p:sp>
      <p:sp>
        <p:nvSpPr>
          <p:cNvPr id="13" name="TextBox 12"/>
          <p:cNvSpPr txBox="1"/>
          <p:nvPr/>
        </p:nvSpPr>
        <p:spPr>
          <a:xfrm>
            <a:off x="731520" y="3895344"/>
            <a:ext cx="4983479" cy="1335023"/>
          </a:xfrm>
          <a:prstGeom prst="rect">
            <a:avLst/>
          </a:prstGeom>
          <a:noFill/>
        </p:spPr>
        <p:txBody>
          <a:bodyPr wrap="square" lIns="9144" rIns="9144" tIns="18288" bIns="18288">
            <a:spAutoFit/>
          </a:bodyPr>
          <a:lstStyle/>
          <a:p>
            <a:pPr algn="l">
              <a:lnSpc>
                <a:spcPct val="112000"/>
              </a:lnSpc>
              <a:spcAft>
                <a:spcPts val="400"/>
              </a:spcAft>
            </a:pPr>
            <a:r>
              <a:rPr sz="1700" b="0">
                <a:solidFill>
                  <a:srgbClr val="A5B9D0"/>
                </a:solidFill>
                <a:latin typeface="Segoe UI"/>
              </a:rPr>
              <a:t>Good for latency-bounded requests.</a:t>
            </a:r>
          </a:p>
          <a:p>
            <a:pPr algn="l">
              <a:lnSpc>
                <a:spcPct val="112000"/>
              </a:lnSpc>
              <a:spcAft>
                <a:spcPts val="400"/>
              </a:spcAft>
            </a:pPr>
            <a:r>
              <a:rPr sz="1700" b="0">
                <a:solidFill>
                  <a:srgbClr val="A5B9D0"/>
                </a:solidFill>
                <a:latin typeface="Segoe UI"/>
              </a:rPr>
              <a:t>Use streaming only if the runtime supports it.</a:t>
            </a:r>
          </a:p>
          <a:p>
            <a:pPr algn="l">
              <a:lnSpc>
                <a:spcPct val="112000"/>
              </a:lnSpc>
              <a:spcAft>
                <a:spcPts val="400"/>
              </a:spcAft>
            </a:pPr>
            <a:r>
              <a:rPr sz="1700" b="0">
                <a:solidFill>
                  <a:srgbClr val="A5B9D0"/>
                </a:solidFill>
                <a:latin typeface="Segoe UI"/>
              </a:rPr>
              <a:t>Handle activation delays and timeouts.</a:t>
            </a:r>
          </a:p>
          <a:p>
            <a:pPr algn="l">
              <a:lnSpc>
                <a:spcPct val="112000"/>
              </a:lnSpc>
              <a:spcAft>
                <a:spcPts val="400"/>
              </a:spcAft>
            </a:pPr>
            <a:r>
              <a:rPr sz="1700" b="0">
                <a:solidFill>
                  <a:srgbClr val="A5B9D0"/>
                </a:solidFill>
                <a:latin typeface="Segoe UI"/>
              </a:rPr>
              <a:t>Bound concurrent work on each replica.</a:t>
            </a:r>
          </a:p>
        </p:txBody>
      </p:sp>
      <p:sp>
        <p:nvSpPr>
          <p:cNvPr id="14" name="Rounded Rectangle 13"/>
          <p:cNvSpPr/>
          <p:nvPr/>
        </p:nvSpPr>
        <p:spPr>
          <a:xfrm>
            <a:off x="6199632" y="2286000"/>
            <a:ext cx="5422392" cy="301752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9088" y="2487168"/>
            <a:ext cx="4983479"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70E0BA"/>
                </a:solidFill>
                <a:latin typeface="Segoe UI"/>
              </a:rPr>
              <a:t>ASYNC PATH</a:t>
            </a:r>
          </a:p>
        </p:txBody>
      </p:sp>
      <p:sp>
        <p:nvSpPr>
          <p:cNvPr id="16" name="TextBox 15"/>
          <p:cNvSpPr txBox="1"/>
          <p:nvPr/>
        </p:nvSpPr>
        <p:spPr>
          <a:xfrm>
            <a:off x="6419088" y="2990088"/>
            <a:ext cx="4983479" cy="850392"/>
          </a:xfrm>
          <a:prstGeom prst="rect">
            <a:avLst/>
          </a:prstGeom>
          <a:noFill/>
        </p:spPr>
        <p:txBody>
          <a:bodyPr wrap="square" lIns="9144" rIns="9144" tIns="18288" bIns="18288">
            <a:spAutoFit/>
          </a:bodyPr>
          <a:lstStyle/>
          <a:p>
            <a:pPr algn="l">
              <a:lnSpc>
                <a:spcPct val="112000"/>
              </a:lnSpc>
              <a:spcAft>
                <a:spcPts val="400"/>
              </a:spcAft>
            </a:pPr>
            <a:r>
              <a:rPr sz="2300" b="1">
                <a:solidFill>
                  <a:srgbClr val="F4F8FF"/>
                </a:solidFill>
                <a:latin typeface="Segoe UI"/>
              </a:rPr>
              <a:t>Submit -&gt; queue -&gt; GPU worker</a:t>
            </a:r>
          </a:p>
        </p:txBody>
      </p:sp>
      <p:sp>
        <p:nvSpPr>
          <p:cNvPr id="17" name="TextBox 16"/>
          <p:cNvSpPr txBox="1"/>
          <p:nvPr/>
        </p:nvSpPr>
        <p:spPr>
          <a:xfrm>
            <a:off x="6419088" y="3895344"/>
            <a:ext cx="4983479" cy="1335023"/>
          </a:xfrm>
          <a:prstGeom prst="rect">
            <a:avLst/>
          </a:prstGeom>
          <a:noFill/>
        </p:spPr>
        <p:txBody>
          <a:bodyPr wrap="square" lIns="9144" rIns="9144" tIns="18288" bIns="18288">
            <a:spAutoFit/>
          </a:bodyPr>
          <a:lstStyle/>
          <a:p>
            <a:pPr algn="l">
              <a:lnSpc>
                <a:spcPct val="112000"/>
              </a:lnSpc>
              <a:spcAft>
                <a:spcPts val="400"/>
              </a:spcAft>
            </a:pPr>
            <a:r>
              <a:rPr sz="1700" b="0">
                <a:solidFill>
                  <a:srgbClr val="A5B9D0"/>
                </a:solidFill>
                <a:latin typeface="Segoe UI"/>
              </a:rPr>
              <a:t>Return a task ID and status endpoint.</a:t>
            </a:r>
          </a:p>
          <a:p>
            <a:pPr algn="l">
              <a:lnSpc>
                <a:spcPct val="112000"/>
              </a:lnSpc>
              <a:spcAft>
                <a:spcPts val="400"/>
              </a:spcAft>
            </a:pPr>
            <a:r>
              <a:rPr sz="1700" b="0">
                <a:solidFill>
                  <a:srgbClr val="A5B9D0"/>
                </a:solidFill>
                <a:latin typeface="Segoe UI"/>
              </a:rPr>
              <a:t>Persist results in object storage.</a:t>
            </a:r>
          </a:p>
          <a:p>
            <a:pPr algn="l">
              <a:lnSpc>
                <a:spcPct val="112000"/>
              </a:lnSpc>
              <a:spcAft>
                <a:spcPts val="400"/>
              </a:spcAft>
            </a:pPr>
            <a:r>
              <a:rPr sz="1700" b="0">
                <a:solidFill>
                  <a:srgbClr val="A5B9D0"/>
                </a:solidFill>
                <a:latin typeface="Segoe UI"/>
              </a:rPr>
              <a:t>Use event-based activation and retries.</a:t>
            </a:r>
          </a:p>
          <a:p>
            <a:pPr algn="l">
              <a:lnSpc>
                <a:spcPct val="112000"/>
              </a:lnSpc>
              <a:spcAft>
                <a:spcPts val="400"/>
              </a:spcAft>
            </a:pPr>
            <a:r>
              <a:rPr sz="1700" b="0">
                <a:solidFill>
                  <a:srgbClr val="A5B9D0"/>
                </a:solidFill>
                <a:latin typeface="Segoe UI"/>
              </a:rPr>
              <a:t>Make processing idempotent.</a:t>
            </a:r>
          </a:p>
        </p:txBody>
      </p:sp>
      <p:sp>
        <p:nvSpPr>
          <p:cNvPr id="18" name="Rounded Rectangle 17"/>
          <p:cNvSpPr/>
          <p:nvPr/>
        </p:nvSpPr>
        <p:spPr>
          <a:xfrm>
            <a:off x="512064" y="5623560"/>
            <a:ext cx="11109960" cy="45720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687568"/>
            <a:ext cx="10744200" cy="310896"/>
          </a:xfrm>
          <a:prstGeom prst="rect">
            <a:avLst/>
          </a:prstGeom>
          <a:noFill/>
        </p:spPr>
        <p:txBody>
          <a:bodyPr wrap="square" lIns="9144" rIns="9144" tIns="18288" bIns="18288">
            <a:spAutoFit/>
          </a:bodyPr>
          <a:lstStyle/>
          <a:p>
            <a:pPr algn="l">
              <a:lnSpc>
                <a:spcPct val="112000"/>
              </a:lnSpc>
              <a:spcAft>
                <a:spcPts val="400"/>
              </a:spcAft>
            </a:pPr>
            <a:r>
              <a:rPr sz="1500" b="1">
                <a:solidFill>
                  <a:srgbClr val="53D5F5"/>
                </a:solidFill>
                <a:latin typeface="Segoe UI"/>
              </a:rPr>
              <a:t>A queue absorbs bursts; it does not eliminate capacity limits, queue latency or failure handling.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9182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548640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53D5F5"/>
                </a:solidFill>
                <a:latin typeface="Segoe UI"/>
              </a:rPr>
              <a:t>10 / PORTAL DEMO</a:t>
            </a:r>
          </a:p>
        </p:txBody>
      </p:sp>
      <p:sp>
        <p:nvSpPr>
          <p:cNvPr id="4" name="TextBox 3"/>
          <p:cNvSpPr txBox="1"/>
          <p:nvPr/>
        </p:nvSpPr>
        <p:spPr>
          <a:xfrm>
            <a:off x="502920" y="786384"/>
            <a:ext cx="11109960" cy="658368"/>
          </a:xfrm>
          <a:prstGeom prst="rect">
            <a:avLst/>
          </a:prstGeom>
          <a:noFill/>
        </p:spPr>
        <p:txBody>
          <a:bodyPr wrap="square" lIns="9144" rIns="9144" tIns="18288" bIns="18288">
            <a:spAutoFit/>
          </a:bodyPr>
          <a:lstStyle/>
          <a:p>
            <a:pPr algn="l">
              <a:lnSpc>
                <a:spcPct val="112000"/>
              </a:lnSpc>
              <a:spcAft>
                <a:spcPts val="400"/>
              </a:spcAft>
            </a:pPr>
            <a:r>
              <a:rPr sz="3100" b="1">
                <a:solidFill>
                  <a:srgbClr val="F4F8FF"/>
                </a:solidFill>
                <a:latin typeface="Segoe UI"/>
              </a:rPr>
              <a:t>From a container image to a GPU-backed endpoint</a:t>
            </a:r>
          </a:p>
        </p:txBody>
      </p:sp>
      <p:sp>
        <p:nvSpPr>
          <p:cNvPr id="5" name="TextBox 4"/>
          <p:cNvSpPr txBox="1"/>
          <p:nvPr/>
        </p:nvSpPr>
        <p:spPr>
          <a:xfrm>
            <a:off x="521207" y="1508760"/>
            <a:ext cx="11064240" cy="576072"/>
          </a:xfrm>
          <a:prstGeom prst="rect">
            <a:avLst/>
          </a:prstGeom>
          <a:noFill/>
        </p:spPr>
        <p:txBody>
          <a:bodyPr wrap="square" lIns="9144" rIns="9144" tIns="18288" bIns="18288">
            <a:spAutoFit/>
          </a:bodyPr>
          <a:lstStyle/>
          <a:p>
            <a:pPr algn="l">
              <a:lnSpc>
                <a:spcPct val="112000"/>
              </a:lnSpc>
              <a:spcAft>
                <a:spcPts val="400"/>
              </a:spcAft>
            </a:pPr>
            <a:r>
              <a:rPr sz="1700" b="0">
                <a:solidFill>
                  <a:srgbClr val="A5B9D0"/>
                </a:solidFill>
                <a:latin typeface="Segoe UI"/>
              </a:rPr>
              <a:t>Walkthrough outline: deploy a small, licensed inference model that fits the selected GPU.</a:t>
            </a:r>
          </a:p>
        </p:txBody>
      </p:sp>
      <p:cxnSp>
        <p:nvCxnSpPr>
          <p:cNvPr id="6" name="Connector 5"/>
          <p:cNvCxnSpPr/>
          <p:nvPr/>
        </p:nvCxnSpPr>
        <p:spPr>
          <a:xfrm>
            <a:off x="502920" y="6327648"/>
            <a:ext cx="11155680" cy="0"/>
          </a:xfrm>
          <a:prstGeom prst="line">
            <a:avLst/>
          </a:prstGeom>
          <a:ln w="10160">
            <a:solidFill>
              <a:srgbClr val="29435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21207" y="6473952"/>
            <a:ext cx="5303520" cy="201168"/>
          </a:xfrm>
          <a:prstGeom prst="rect">
            <a:avLst/>
          </a:prstGeom>
          <a:noFill/>
        </p:spPr>
        <p:txBody>
          <a:bodyPr wrap="square" lIns="9144" rIns="9144" tIns="18288" bIns="18288">
            <a:spAutoFit/>
          </a:bodyPr>
          <a:lstStyle/>
          <a:p>
            <a:pPr algn="l">
              <a:lnSpc>
                <a:spcPct val="112000"/>
              </a:lnSpc>
              <a:spcAft>
                <a:spcPts val="400"/>
              </a:spcAft>
            </a:pPr>
            <a:r>
              <a:rPr sz="900" b="0">
                <a:solidFill>
                  <a:srgbClr val="A5B9D0"/>
                </a:solidFill>
                <a:latin typeface="Segoe UI"/>
              </a:rPr>
              <a:t>AZURE CONTAINER APPS  /  SERVERLESS GPU</a:t>
            </a:r>
          </a:p>
        </p:txBody>
      </p:sp>
      <p:sp>
        <p:nvSpPr>
          <p:cNvPr id="8" name="TextBox 7"/>
          <p:cNvSpPr txBox="1"/>
          <p:nvPr/>
        </p:nvSpPr>
        <p:spPr>
          <a:xfrm>
            <a:off x="5486400" y="6455664"/>
            <a:ext cx="5303520" cy="256032"/>
          </a:xfrm>
          <a:prstGeom prst="rect">
            <a:avLst/>
          </a:prstGeom>
          <a:noFill/>
        </p:spPr>
        <p:txBody>
          <a:bodyPr wrap="square" lIns="9144" rIns="9144" tIns="18288" bIns="18288">
            <a:spAutoFit/>
          </a:bodyPr>
          <a:lstStyle/>
          <a:p>
            <a:pPr algn="r">
              <a:lnSpc>
                <a:spcPct val="112000"/>
              </a:lnSpc>
              <a:spcAft>
                <a:spcPts val="400"/>
              </a:spcAft>
            </a:pPr>
            <a:r>
              <a:rPr sz="900" b="0">
                <a:solidFill>
                  <a:srgbClr val="A5B9D0"/>
                </a:solidFill>
                <a:latin typeface="Segoe UI"/>
                <a:hlinkClick r:id="rId2"/>
              </a:rPr>
              <a:t>Source: GPU overview | Health probes</a:t>
            </a:r>
          </a:p>
        </p:txBody>
      </p:sp>
      <p:sp>
        <p:nvSpPr>
          <p:cNvPr id="9" name="TextBox 8"/>
          <p:cNvSpPr txBox="1"/>
          <p:nvPr/>
        </p:nvSpPr>
        <p:spPr>
          <a:xfrm>
            <a:off x="11082528" y="6428232"/>
            <a:ext cx="548640" cy="274320"/>
          </a:xfrm>
          <a:prstGeom prst="rect">
            <a:avLst/>
          </a:prstGeom>
          <a:noFill/>
        </p:spPr>
        <p:txBody>
          <a:bodyPr wrap="square" lIns="9144" rIns="9144" tIns="18288" bIns="18288">
            <a:spAutoFit/>
          </a:bodyPr>
          <a:lstStyle/>
          <a:p>
            <a:pPr algn="r">
              <a:lnSpc>
                <a:spcPct val="112000"/>
              </a:lnSpc>
              <a:spcAft>
                <a:spcPts val="400"/>
              </a:spcAft>
            </a:pPr>
            <a:r>
              <a:rPr sz="1200" b="0">
                <a:solidFill>
                  <a:srgbClr val="53D5F5"/>
                </a:solidFill>
                <a:latin typeface="Segoe UI"/>
              </a:rPr>
              <a:t>11</a:t>
            </a:r>
          </a:p>
        </p:txBody>
      </p:sp>
      <p:sp>
        <p:nvSpPr>
          <p:cNvPr id="10" name="Oval 9"/>
          <p:cNvSpPr/>
          <p:nvPr/>
        </p:nvSpPr>
        <p:spPr>
          <a:xfrm>
            <a:off x="548640" y="2267712"/>
            <a:ext cx="438912" cy="43891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99716"/>
            <a:ext cx="438912" cy="292608"/>
          </a:xfrm>
          <a:prstGeom prst="rect">
            <a:avLst/>
          </a:prstGeom>
          <a:noFill/>
        </p:spPr>
        <p:txBody>
          <a:bodyPr wrap="square" lIns="9144" rIns="9144" tIns="18288" bIns="18288">
            <a:spAutoFit/>
          </a:bodyPr>
          <a:lstStyle/>
          <a:p>
            <a:pPr algn="ctr">
              <a:lnSpc>
                <a:spcPct val="112000"/>
              </a:lnSpc>
              <a:spcAft>
                <a:spcPts val="400"/>
              </a:spcAft>
            </a:pPr>
            <a:r>
              <a:rPr sz="1600" b="1">
                <a:solidFill>
                  <a:srgbClr val="F4F8FF"/>
                </a:solidFill>
                <a:latin typeface="Segoe UI"/>
              </a:rPr>
              <a:t>1</a:t>
            </a:r>
          </a:p>
        </p:txBody>
      </p:sp>
      <p:sp>
        <p:nvSpPr>
          <p:cNvPr id="12" name="TextBox 11"/>
          <p:cNvSpPr txBox="1"/>
          <p:nvPr/>
        </p:nvSpPr>
        <p:spPr>
          <a:xfrm>
            <a:off x="1207007" y="2253996"/>
            <a:ext cx="4572000" cy="347472"/>
          </a:xfrm>
          <a:prstGeom prst="rect">
            <a:avLst/>
          </a:prstGeom>
          <a:noFill/>
        </p:spPr>
        <p:txBody>
          <a:bodyPr wrap="square" lIns="9144" rIns="9144" tIns="18288" bIns="18288">
            <a:spAutoFit/>
          </a:bodyPr>
          <a:lstStyle/>
          <a:p>
            <a:pPr algn="l">
              <a:lnSpc>
                <a:spcPct val="112000"/>
              </a:lnSpc>
              <a:spcAft>
                <a:spcPts val="400"/>
              </a:spcAft>
            </a:pPr>
            <a:r>
              <a:rPr sz="2000" b="1">
                <a:solidFill>
                  <a:srgbClr val="F4F8FF"/>
                </a:solidFill>
                <a:latin typeface="Segoe UI"/>
              </a:rPr>
              <a:t>Prepare the image</a:t>
            </a:r>
          </a:p>
        </p:txBody>
      </p:sp>
      <p:sp>
        <p:nvSpPr>
          <p:cNvPr id="13" name="TextBox 12"/>
          <p:cNvSpPr txBox="1"/>
          <p:nvPr/>
        </p:nvSpPr>
        <p:spPr>
          <a:xfrm>
            <a:off x="1207007" y="2633472"/>
            <a:ext cx="4572000" cy="621792"/>
          </a:xfrm>
          <a:prstGeom prst="rect">
            <a:avLst/>
          </a:prstGeom>
          <a:noFill/>
        </p:spPr>
        <p:txBody>
          <a:bodyPr wrap="square" lIns="9144" rIns="9144" tIns="18288" bIns="18288">
            <a:spAutoFit/>
          </a:bodyPr>
          <a:lstStyle/>
          <a:p>
            <a:pPr algn="l">
              <a:lnSpc>
                <a:spcPct val="112000"/>
              </a:lnSpc>
              <a:spcAft>
                <a:spcPts val="400"/>
              </a:spcAft>
            </a:pPr>
            <a:r>
              <a:rPr sz="1600" b="0">
                <a:solidFill>
                  <a:srgbClr val="A5B9D0"/>
                </a:solidFill>
                <a:latin typeface="Segoe UI"/>
              </a:rPr>
              <a:t>Pin runtime versions; test GPU access and model loading.</a:t>
            </a:r>
          </a:p>
        </p:txBody>
      </p:sp>
      <p:sp>
        <p:nvSpPr>
          <p:cNvPr id="14" name="Oval 13"/>
          <p:cNvSpPr/>
          <p:nvPr/>
        </p:nvSpPr>
        <p:spPr>
          <a:xfrm>
            <a:off x="548640" y="3291840"/>
            <a:ext cx="438912" cy="43891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323844"/>
            <a:ext cx="438912" cy="292608"/>
          </a:xfrm>
          <a:prstGeom prst="rect">
            <a:avLst/>
          </a:prstGeom>
          <a:noFill/>
        </p:spPr>
        <p:txBody>
          <a:bodyPr wrap="square" lIns="9144" rIns="9144" tIns="18288" bIns="18288">
            <a:spAutoFit/>
          </a:bodyPr>
          <a:lstStyle/>
          <a:p>
            <a:pPr algn="ctr">
              <a:lnSpc>
                <a:spcPct val="112000"/>
              </a:lnSpc>
              <a:spcAft>
                <a:spcPts val="400"/>
              </a:spcAft>
            </a:pPr>
            <a:r>
              <a:rPr sz="1600" b="1">
                <a:solidFill>
                  <a:srgbClr val="F4F8FF"/>
                </a:solidFill>
                <a:latin typeface="Segoe UI"/>
              </a:rPr>
              <a:t>2</a:t>
            </a:r>
          </a:p>
        </p:txBody>
      </p:sp>
      <p:sp>
        <p:nvSpPr>
          <p:cNvPr id="16" name="TextBox 15"/>
          <p:cNvSpPr txBox="1"/>
          <p:nvPr/>
        </p:nvSpPr>
        <p:spPr>
          <a:xfrm>
            <a:off x="1207007" y="3278124"/>
            <a:ext cx="4572000" cy="347472"/>
          </a:xfrm>
          <a:prstGeom prst="rect">
            <a:avLst/>
          </a:prstGeom>
          <a:noFill/>
        </p:spPr>
        <p:txBody>
          <a:bodyPr wrap="square" lIns="9144" rIns="9144" tIns="18288" bIns="18288">
            <a:spAutoFit/>
          </a:bodyPr>
          <a:lstStyle/>
          <a:p>
            <a:pPr algn="l">
              <a:lnSpc>
                <a:spcPct val="112000"/>
              </a:lnSpc>
              <a:spcAft>
                <a:spcPts val="400"/>
              </a:spcAft>
            </a:pPr>
            <a:r>
              <a:rPr sz="2000" b="1">
                <a:solidFill>
                  <a:srgbClr val="F4F8FF"/>
                </a:solidFill>
                <a:latin typeface="Segoe UI"/>
              </a:rPr>
              <a:t>Create the environment</a:t>
            </a:r>
          </a:p>
        </p:txBody>
      </p:sp>
      <p:sp>
        <p:nvSpPr>
          <p:cNvPr id="17" name="TextBox 16"/>
          <p:cNvSpPr txBox="1"/>
          <p:nvPr/>
        </p:nvSpPr>
        <p:spPr>
          <a:xfrm>
            <a:off x="1207007" y="3657600"/>
            <a:ext cx="4572000" cy="621792"/>
          </a:xfrm>
          <a:prstGeom prst="rect">
            <a:avLst/>
          </a:prstGeom>
          <a:noFill/>
        </p:spPr>
        <p:txBody>
          <a:bodyPr wrap="square" lIns="9144" rIns="9144" tIns="18288" bIns="18288">
            <a:spAutoFit/>
          </a:bodyPr>
          <a:lstStyle/>
          <a:p>
            <a:pPr algn="l">
              <a:lnSpc>
                <a:spcPct val="112000"/>
              </a:lnSpc>
              <a:spcAft>
                <a:spcPts val="400"/>
              </a:spcAft>
            </a:pPr>
            <a:r>
              <a:rPr sz="1600" b="0">
                <a:solidFill>
                  <a:srgbClr val="A5B9D0"/>
                </a:solidFill>
                <a:latin typeface="Segoe UI"/>
              </a:rPr>
              <a:t>Select a supported region and workload-profiles type.</a:t>
            </a:r>
          </a:p>
        </p:txBody>
      </p:sp>
      <p:sp>
        <p:nvSpPr>
          <p:cNvPr id="18" name="Oval 17"/>
          <p:cNvSpPr/>
          <p:nvPr/>
        </p:nvSpPr>
        <p:spPr>
          <a:xfrm>
            <a:off x="548640" y="4315968"/>
            <a:ext cx="438912" cy="43891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347972"/>
            <a:ext cx="438912" cy="292608"/>
          </a:xfrm>
          <a:prstGeom prst="rect">
            <a:avLst/>
          </a:prstGeom>
          <a:noFill/>
        </p:spPr>
        <p:txBody>
          <a:bodyPr wrap="square" lIns="9144" rIns="9144" tIns="18288" bIns="18288">
            <a:spAutoFit/>
          </a:bodyPr>
          <a:lstStyle/>
          <a:p>
            <a:pPr algn="ctr">
              <a:lnSpc>
                <a:spcPct val="112000"/>
              </a:lnSpc>
              <a:spcAft>
                <a:spcPts val="400"/>
              </a:spcAft>
            </a:pPr>
            <a:r>
              <a:rPr sz="1600" b="1">
                <a:solidFill>
                  <a:srgbClr val="F4F8FF"/>
                </a:solidFill>
                <a:latin typeface="Segoe UI"/>
              </a:rPr>
              <a:t>3</a:t>
            </a:r>
          </a:p>
        </p:txBody>
      </p:sp>
      <p:sp>
        <p:nvSpPr>
          <p:cNvPr id="20" name="TextBox 19"/>
          <p:cNvSpPr txBox="1"/>
          <p:nvPr/>
        </p:nvSpPr>
        <p:spPr>
          <a:xfrm>
            <a:off x="1207007" y="4302252"/>
            <a:ext cx="4572000" cy="347472"/>
          </a:xfrm>
          <a:prstGeom prst="rect">
            <a:avLst/>
          </a:prstGeom>
          <a:noFill/>
        </p:spPr>
        <p:txBody>
          <a:bodyPr wrap="square" lIns="9144" rIns="9144" tIns="18288" bIns="18288">
            <a:spAutoFit/>
          </a:bodyPr>
          <a:lstStyle/>
          <a:p>
            <a:pPr algn="l">
              <a:lnSpc>
                <a:spcPct val="112000"/>
              </a:lnSpc>
              <a:spcAft>
                <a:spcPts val="400"/>
              </a:spcAft>
            </a:pPr>
            <a:r>
              <a:rPr sz="2000" b="1">
                <a:solidFill>
                  <a:srgbClr val="F4F8FF"/>
                </a:solidFill>
                <a:latin typeface="Segoe UI"/>
              </a:rPr>
              <a:t>Check GPU quota</a:t>
            </a:r>
          </a:p>
        </p:txBody>
      </p:sp>
      <p:sp>
        <p:nvSpPr>
          <p:cNvPr id="21" name="TextBox 20"/>
          <p:cNvSpPr txBox="1"/>
          <p:nvPr/>
        </p:nvSpPr>
        <p:spPr>
          <a:xfrm>
            <a:off x="1207007" y="4681728"/>
            <a:ext cx="4572000" cy="621792"/>
          </a:xfrm>
          <a:prstGeom prst="rect">
            <a:avLst/>
          </a:prstGeom>
          <a:noFill/>
        </p:spPr>
        <p:txBody>
          <a:bodyPr wrap="square" lIns="9144" rIns="9144" tIns="18288" bIns="18288">
            <a:spAutoFit/>
          </a:bodyPr>
          <a:lstStyle/>
          <a:p>
            <a:pPr algn="l">
              <a:lnSpc>
                <a:spcPct val="112000"/>
              </a:lnSpc>
              <a:spcAft>
                <a:spcPts val="400"/>
              </a:spcAft>
            </a:pPr>
            <a:r>
              <a:rPr sz="1600" b="0">
                <a:solidFill>
                  <a:srgbClr val="A5B9D0"/>
                </a:solidFill>
                <a:latin typeface="Segoe UI"/>
              </a:rPr>
              <a:t>Inspect the environment quota; request more if needed.</a:t>
            </a:r>
          </a:p>
        </p:txBody>
      </p:sp>
      <p:sp>
        <p:nvSpPr>
          <p:cNvPr id="22" name="Oval 21"/>
          <p:cNvSpPr/>
          <p:nvPr/>
        </p:nvSpPr>
        <p:spPr>
          <a:xfrm>
            <a:off x="6217920" y="2267712"/>
            <a:ext cx="438912" cy="43891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0" y="2299716"/>
            <a:ext cx="438912" cy="292608"/>
          </a:xfrm>
          <a:prstGeom prst="rect">
            <a:avLst/>
          </a:prstGeom>
          <a:noFill/>
        </p:spPr>
        <p:txBody>
          <a:bodyPr wrap="square" lIns="9144" rIns="9144" tIns="18288" bIns="18288">
            <a:spAutoFit/>
          </a:bodyPr>
          <a:lstStyle/>
          <a:p>
            <a:pPr algn="ctr">
              <a:lnSpc>
                <a:spcPct val="112000"/>
              </a:lnSpc>
              <a:spcAft>
                <a:spcPts val="400"/>
              </a:spcAft>
            </a:pPr>
            <a:r>
              <a:rPr sz="1600" b="1">
                <a:solidFill>
                  <a:srgbClr val="F4F8FF"/>
                </a:solidFill>
                <a:latin typeface="Segoe UI"/>
              </a:rPr>
              <a:t>4</a:t>
            </a:r>
          </a:p>
        </p:txBody>
      </p:sp>
      <p:sp>
        <p:nvSpPr>
          <p:cNvPr id="24" name="TextBox 23"/>
          <p:cNvSpPr txBox="1"/>
          <p:nvPr/>
        </p:nvSpPr>
        <p:spPr>
          <a:xfrm>
            <a:off x="6876288" y="2253996"/>
            <a:ext cx="4572000" cy="347472"/>
          </a:xfrm>
          <a:prstGeom prst="rect">
            <a:avLst/>
          </a:prstGeom>
          <a:noFill/>
        </p:spPr>
        <p:txBody>
          <a:bodyPr wrap="square" lIns="9144" rIns="9144" tIns="18288" bIns="18288">
            <a:spAutoFit/>
          </a:bodyPr>
          <a:lstStyle/>
          <a:p>
            <a:pPr algn="l">
              <a:lnSpc>
                <a:spcPct val="112000"/>
              </a:lnSpc>
              <a:spcAft>
                <a:spcPts val="400"/>
              </a:spcAft>
            </a:pPr>
            <a:r>
              <a:rPr sz="2000" b="1">
                <a:solidFill>
                  <a:srgbClr val="F4F8FF"/>
                </a:solidFill>
                <a:latin typeface="Segoe UI"/>
              </a:rPr>
              <a:t>Choose GPU resources</a:t>
            </a:r>
          </a:p>
        </p:txBody>
      </p:sp>
      <p:sp>
        <p:nvSpPr>
          <p:cNvPr id="25" name="TextBox 24"/>
          <p:cNvSpPr txBox="1"/>
          <p:nvPr/>
        </p:nvSpPr>
        <p:spPr>
          <a:xfrm>
            <a:off x="6876288" y="2633472"/>
            <a:ext cx="4572000" cy="621792"/>
          </a:xfrm>
          <a:prstGeom prst="rect">
            <a:avLst/>
          </a:prstGeom>
          <a:noFill/>
        </p:spPr>
        <p:txBody>
          <a:bodyPr wrap="square" lIns="9144" rIns="9144" tIns="18288" bIns="18288">
            <a:spAutoFit/>
          </a:bodyPr>
          <a:lstStyle/>
          <a:p>
            <a:pPr algn="l">
              <a:lnSpc>
                <a:spcPct val="112000"/>
              </a:lnSpc>
              <a:spcAft>
                <a:spcPts val="400"/>
              </a:spcAft>
            </a:pPr>
            <a:r>
              <a:rPr sz="1600" b="0">
                <a:solidFill>
                  <a:srgbClr val="A5B9D0"/>
                </a:solidFill>
                <a:latin typeface="Segoe UI"/>
              </a:rPr>
              <a:t>In the Container tab, select GPU, then T4 or A100.</a:t>
            </a:r>
          </a:p>
        </p:txBody>
      </p:sp>
      <p:sp>
        <p:nvSpPr>
          <p:cNvPr id="26" name="Oval 25"/>
          <p:cNvSpPr/>
          <p:nvPr/>
        </p:nvSpPr>
        <p:spPr>
          <a:xfrm>
            <a:off x="6217920" y="3291840"/>
            <a:ext cx="438912" cy="43891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0" y="3323844"/>
            <a:ext cx="438912" cy="292608"/>
          </a:xfrm>
          <a:prstGeom prst="rect">
            <a:avLst/>
          </a:prstGeom>
          <a:noFill/>
        </p:spPr>
        <p:txBody>
          <a:bodyPr wrap="square" lIns="9144" rIns="9144" tIns="18288" bIns="18288">
            <a:spAutoFit/>
          </a:bodyPr>
          <a:lstStyle/>
          <a:p>
            <a:pPr algn="ctr">
              <a:lnSpc>
                <a:spcPct val="112000"/>
              </a:lnSpc>
              <a:spcAft>
                <a:spcPts val="400"/>
              </a:spcAft>
            </a:pPr>
            <a:r>
              <a:rPr sz="1600" b="1">
                <a:solidFill>
                  <a:srgbClr val="F4F8FF"/>
                </a:solidFill>
                <a:latin typeface="Segoe UI"/>
              </a:rPr>
              <a:t>5</a:t>
            </a:r>
          </a:p>
        </p:txBody>
      </p:sp>
      <p:sp>
        <p:nvSpPr>
          <p:cNvPr id="28" name="TextBox 27"/>
          <p:cNvSpPr txBox="1"/>
          <p:nvPr/>
        </p:nvSpPr>
        <p:spPr>
          <a:xfrm>
            <a:off x="6876288" y="3278124"/>
            <a:ext cx="4572000" cy="347472"/>
          </a:xfrm>
          <a:prstGeom prst="rect">
            <a:avLst/>
          </a:prstGeom>
          <a:noFill/>
        </p:spPr>
        <p:txBody>
          <a:bodyPr wrap="square" lIns="9144" rIns="9144" tIns="18288" bIns="18288">
            <a:spAutoFit/>
          </a:bodyPr>
          <a:lstStyle/>
          <a:p>
            <a:pPr algn="l">
              <a:lnSpc>
                <a:spcPct val="112000"/>
              </a:lnSpc>
              <a:spcAft>
                <a:spcPts val="400"/>
              </a:spcAft>
            </a:pPr>
            <a:r>
              <a:rPr sz="2000" b="1">
                <a:solidFill>
                  <a:srgbClr val="F4F8FF"/>
                </a:solidFill>
                <a:latin typeface="Segoe UI"/>
              </a:rPr>
              <a:t>Configure the app</a:t>
            </a:r>
          </a:p>
        </p:txBody>
      </p:sp>
      <p:sp>
        <p:nvSpPr>
          <p:cNvPr id="29" name="TextBox 28"/>
          <p:cNvSpPr txBox="1"/>
          <p:nvPr/>
        </p:nvSpPr>
        <p:spPr>
          <a:xfrm>
            <a:off x="6876288" y="3657600"/>
            <a:ext cx="4572000" cy="621792"/>
          </a:xfrm>
          <a:prstGeom prst="rect">
            <a:avLst/>
          </a:prstGeom>
          <a:noFill/>
        </p:spPr>
        <p:txBody>
          <a:bodyPr wrap="square" lIns="9144" rIns="9144" tIns="18288" bIns="18288">
            <a:spAutoFit/>
          </a:bodyPr>
          <a:lstStyle/>
          <a:p>
            <a:pPr algn="l">
              <a:lnSpc>
                <a:spcPct val="112000"/>
              </a:lnSpc>
              <a:spcAft>
                <a:spcPts val="400"/>
              </a:spcAft>
            </a:pPr>
            <a:r>
              <a:rPr sz="1600" b="0">
                <a:solidFill>
                  <a:srgbClr val="A5B9D0"/>
                </a:solidFill>
                <a:latin typeface="Segoe UI"/>
              </a:rPr>
              <a:t>Set identity, storage, ingress, probes and scale limits.</a:t>
            </a:r>
          </a:p>
        </p:txBody>
      </p:sp>
      <p:sp>
        <p:nvSpPr>
          <p:cNvPr id="30" name="Oval 29"/>
          <p:cNvSpPr/>
          <p:nvPr/>
        </p:nvSpPr>
        <p:spPr>
          <a:xfrm>
            <a:off x="6217920" y="4315968"/>
            <a:ext cx="438912" cy="43891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17920" y="4347972"/>
            <a:ext cx="438912" cy="292608"/>
          </a:xfrm>
          <a:prstGeom prst="rect">
            <a:avLst/>
          </a:prstGeom>
          <a:noFill/>
        </p:spPr>
        <p:txBody>
          <a:bodyPr wrap="square" lIns="9144" rIns="9144" tIns="18288" bIns="18288">
            <a:spAutoFit/>
          </a:bodyPr>
          <a:lstStyle/>
          <a:p>
            <a:pPr algn="ctr">
              <a:lnSpc>
                <a:spcPct val="112000"/>
              </a:lnSpc>
              <a:spcAft>
                <a:spcPts val="400"/>
              </a:spcAft>
            </a:pPr>
            <a:r>
              <a:rPr sz="1600" b="1">
                <a:solidFill>
                  <a:srgbClr val="F4F8FF"/>
                </a:solidFill>
                <a:latin typeface="Segoe UI"/>
              </a:rPr>
              <a:t>6</a:t>
            </a:r>
          </a:p>
        </p:txBody>
      </p:sp>
      <p:sp>
        <p:nvSpPr>
          <p:cNvPr id="32" name="TextBox 31"/>
          <p:cNvSpPr txBox="1"/>
          <p:nvPr/>
        </p:nvSpPr>
        <p:spPr>
          <a:xfrm>
            <a:off x="6876288" y="4302252"/>
            <a:ext cx="4572000" cy="347472"/>
          </a:xfrm>
          <a:prstGeom prst="rect">
            <a:avLst/>
          </a:prstGeom>
          <a:noFill/>
        </p:spPr>
        <p:txBody>
          <a:bodyPr wrap="square" lIns="9144" rIns="9144" tIns="18288" bIns="18288">
            <a:spAutoFit/>
          </a:bodyPr>
          <a:lstStyle/>
          <a:p>
            <a:pPr algn="l">
              <a:lnSpc>
                <a:spcPct val="112000"/>
              </a:lnSpc>
              <a:spcAft>
                <a:spcPts val="400"/>
              </a:spcAft>
            </a:pPr>
            <a:r>
              <a:rPr sz="2000" b="1">
                <a:solidFill>
                  <a:srgbClr val="F4F8FF"/>
                </a:solidFill>
                <a:latin typeface="Segoe UI"/>
              </a:rPr>
              <a:t>Deploy and exercise</a:t>
            </a:r>
          </a:p>
        </p:txBody>
      </p:sp>
      <p:sp>
        <p:nvSpPr>
          <p:cNvPr id="33" name="TextBox 32"/>
          <p:cNvSpPr txBox="1"/>
          <p:nvPr/>
        </p:nvSpPr>
        <p:spPr>
          <a:xfrm>
            <a:off x="6876288" y="4681728"/>
            <a:ext cx="4572000" cy="621792"/>
          </a:xfrm>
          <a:prstGeom prst="rect">
            <a:avLst/>
          </a:prstGeom>
          <a:noFill/>
        </p:spPr>
        <p:txBody>
          <a:bodyPr wrap="square" lIns="9144" rIns="9144" tIns="18288" bIns="18288">
            <a:spAutoFit/>
          </a:bodyPr>
          <a:lstStyle/>
          <a:p>
            <a:pPr algn="l">
              <a:lnSpc>
                <a:spcPct val="112000"/>
              </a:lnSpc>
              <a:spcAft>
                <a:spcPts val="400"/>
              </a:spcAft>
            </a:pPr>
            <a:r>
              <a:rPr sz="1600" b="0">
                <a:solidFill>
                  <a:srgbClr val="A5B9D0"/>
                </a:solidFill>
                <a:latin typeface="Segoe UI"/>
              </a:rPr>
              <a:t>Test activation, inference, burst traffic and scale-in.</a:t>
            </a:r>
          </a:p>
        </p:txBody>
      </p:sp>
      <p:sp>
        <p:nvSpPr>
          <p:cNvPr id="34" name="Rounded Rectangle 33"/>
          <p:cNvSpPr/>
          <p:nvPr/>
        </p:nvSpPr>
        <p:spPr>
          <a:xfrm>
            <a:off x="512064" y="5623560"/>
            <a:ext cx="11109960" cy="45720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 y="5687568"/>
            <a:ext cx="10744200" cy="310896"/>
          </a:xfrm>
          <a:prstGeom prst="rect">
            <a:avLst/>
          </a:prstGeom>
          <a:noFill/>
        </p:spPr>
        <p:txBody>
          <a:bodyPr wrap="square" lIns="9144" rIns="9144" tIns="18288" bIns="18288">
            <a:spAutoFit/>
          </a:bodyPr>
          <a:lstStyle/>
          <a:p>
            <a:pPr algn="l">
              <a:lnSpc>
                <a:spcPct val="112000"/>
              </a:lnSpc>
              <a:spcAft>
                <a:spcPts val="400"/>
              </a:spcAft>
            </a:pPr>
            <a:r>
              <a:rPr sz="1500" b="1">
                <a:solidFill>
                  <a:srgbClr val="53D5F5"/>
                </a:solidFill>
                <a:latin typeface="Segoe UI"/>
              </a:rPr>
              <a:t>Use the same image digest, model revision and request set for repeatable performance comparisons.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9182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548640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53D5F5"/>
                </a:solidFill>
                <a:latin typeface="Segoe UI"/>
              </a:rPr>
              <a:t>11 / DEMO EVIDENCE</a:t>
            </a:r>
          </a:p>
        </p:txBody>
      </p:sp>
      <p:sp>
        <p:nvSpPr>
          <p:cNvPr id="4" name="TextBox 3"/>
          <p:cNvSpPr txBox="1"/>
          <p:nvPr/>
        </p:nvSpPr>
        <p:spPr>
          <a:xfrm>
            <a:off x="502920" y="786384"/>
            <a:ext cx="11109960" cy="658368"/>
          </a:xfrm>
          <a:prstGeom prst="rect">
            <a:avLst/>
          </a:prstGeom>
          <a:noFill/>
        </p:spPr>
        <p:txBody>
          <a:bodyPr wrap="square" lIns="9144" rIns="9144" tIns="18288" bIns="18288">
            <a:spAutoFit/>
          </a:bodyPr>
          <a:lstStyle/>
          <a:p>
            <a:pPr algn="l">
              <a:lnSpc>
                <a:spcPct val="112000"/>
              </a:lnSpc>
              <a:spcAft>
                <a:spcPts val="400"/>
              </a:spcAft>
            </a:pPr>
            <a:r>
              <a:rPr sz="3100" b="1">
                <a:solidFill>
                  <a:srgbClr val="F4F8FF"/>
                </a:solidFill>
                <a:latin typeface="Segoe UI"/>
              </a:rPr>
              <a:t>Prove the behavior, not just a successful deployment</a:t>
            </a:r>
          </a:p>
        </p:txBody>
      </p:sp>
      <p:sp>
        <p:nvSpPr>
          <p:cNvPr id="5" name="TextBox 4"/>
          <p:cNvSpPr txBox="1"/>
          <p:nvPr/>
        </p:nvSpPr>
        <p:spPr>
          <a:xfrm>
            <a:off x="521207" y="1508760"/>
            <a:ext cx="11064240" cy="576072"/>
          </a:xfrm>
          <a:prstGeom prst="rect">
            <a:avLst/>
          </a:prstGeom>
          <a:noFill/>
        </p:spPr>
        <p:txBody>
          <a:bodyPr wrap="square" lIns="9144" rIns="9144" tIns="18288" bIns="18288">
            <a:spAutoFit/>
          </a:bodyPr>
          <a:lstStyle/>
          <a:p>
            <a:pPr algn="l">
              <a:lnSpc>
                <a:spcPct val="112000"/>
              </a:lnSpc>
              <a:spcAft>
                <a:spcPts val="400"/>
              </a:spcAft>
            </a:pPr>
            <a:r>
              <a:rPr sz="1700" b="0">
                <a:solidFill>
                  <a:srgbClr val="A5B9D0"/>
                </a:solidFill>
                <a:latin typeface="Segoe UI"/>
              </a:rPr>
              <a:t>Record real measurements during the demo. No latency or throughput results are assumed here.</a:t>
            </a:r>
          </a:p>
        </p:txBody>
      </p:sp>
      <p:cxnSp>
        <p:nvCxnSpPr>
          <p:cNvPr id="6" name="Connector 5"/>
          <p:cNvCxnSpPr/>
          <p:nvPr/>
        </p:nvCxnSpPr>
        <p:spPr>
          <a:xfrm>
            <a:off x="502920" y="6327648"/>
            <a:ext cx="11155680" cy="0"/>
          </a:xfrm>
          <a:prstGeom prst="line">
            <a:avLst/>
          </a:prstGeom>
          <a:ln w="10160">
            <a:solidFill>
              <a:srgbClr val="29435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21207" y="6473952"/>
            <a:ext cx="5303520" cy="201168"/>
          </a:xfrm>
          <a:prstGeom prst="rect">
            <a:avLst/>
          </a:prstGeom>
          <a:noFill/>
        </p:spPr>
        <p:txBody>
          <a:bodyPr wrap="square" lIns="9144" rIns="9144" tIns="18288" bIns="18288">
            <a:spAutoFit/>
          </a:bodyPr>
          <a:lstStyle/>
          <a:p>
            <a:pPr algn="l">
              <a:lnSpc>
                <a:spcPct val="112000"/>
              </a:lnSpc>
              <a:spcAft>
                <a:spcPts val="400"/>
              </a:spcAft>
            </a:pPr>
            <a:r>
              <a:rPr sz="900" b="0">
                <a:solidFill>
                  <a:srgbClr val="A5B9D0"/>
                </a:solidFill>
                <a:latin typeface="Segoe UI"/>
              </a:rPr>
              <a:t>AZURE CONTAINER APPS  /  SERVERLESS GPU</a:t>
            </a:r>
          </a:p>
        </p:txBody>
      </p:sp>
      <p:sp>
        <p:nvSpPr>
          <p:cNvPr id="8" name="TextBox 7"/>
          <p:cNvSpPr txBox="1"/>
          <p:nvPr/>
        </p:nvSpPr>
        <p:spPr>
          <a:xfrm>
            <a:off x="5486400" y="6455664"/>
            <a:ext cx="5303520" cy="256032"/>
          </a:xfrm>
          <a:prstGeom prst="rect">
            <a:avLst/>
          </a:prstGeom>
          <a:noFill/>
        </p:spPr>
        <p:txBody>
          <a:bodyPr wrap="square" lIns="9144" rIns="9144" tIns="18288" bIns="18288">
            <a:spAutoFit/>
          </a:bodyPr>
          <a:lstStyle/>
          <a:p>
            <a:pPr algn="r">
              <a:lnSpc>
                <a:spcPct val="112000"/>
              </a:lnSpc>
              <a:spcAft>
                <a:spcPts val="400"/>
              </a:spcAft>
            </a:pPr>
            <a:r>
              <a:rPr sz="900" b="0">
                <a:solidFill>
                  <a:srgbClr val="A5B9D0"/>
                </a:solidFill>
                <a:latin typeface="Segoe UI"/>
                <a:hlinkClick r:id="rId2"/>
              </a:rPr>
              <a:t>Source: Scaling | Health probes | Billing</a:t>
            </a:r>
          </a:p>
        </p:txBody>
      </p:sp>
      <p:sp>
        <p:nvSpPr>
          <p:cNvPr id="9" name="TextBox 8"/>
          <p:cNvSpPr txBox="1"/>
          <p:nvPr/>
        </p:nvSpPr>
        <p:spPr>
          <a:xfrm>
            <a:off x="11082528" y="6428232"/>
            <a:ext cx="548640" cy="274320"/>
          </a:xfrm>
          <a:prstGeom prst="rect">
            <a:avLst/>
          </a:prstGeom>
          <a:noFill/>
        </p:spPr>
        <p:txBody>
          <a:bodyPr wrap="square" lIns="9144" rIns="9144" tIns="18288" bIns="18288">
            <a:spAutoFit/>
          </a:bodyPr>
          <a:lstStyle/>
          <a:p>
            <a:pPr algn="r">
              <a:lnSpc>
                <a:spcPct val="112000"/>
              </a:lnSpc>
              <a:spcAft>
                <a:spcPts val="400"/>
              </a:spcAft>
            </a:pPr>
            <a:r>
              <a:rPr sz="1200" b="0">
                <a:solidFill>
                  <a:srgbClr val="53D5F5"/>
                </a:solidFill>
                <a:latin typeface="Segoe UI"/>
              </a:rPr>
              <a:t>12</a:t>
            </a:r>
          </a:p>
        </p:txBody>
      </p:sp>
      <p:sp>
        <p:nvSpPr>
          <p:cNvPr id="10" name="Rounded Rectangle 9"/>
          <p:cNvSpPr/>
          <p:nvPr/>
        </p:nvSpPr>
        <p:spPr>
          <a:xfrm>
            <a:off x="512064" y="2286000"/>
            <a:ext cx="3547872" cy="301752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487168"/>
            <a:ext cx="310896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53D5F5"/>
                </a:solidFill>
                <a:latin typeface="Segoe UI"/>
              </a:rPr>
              <a:t>A / FUNCTIONAL</a:t>
            </a:r>
          </a:p>
        </p:txBody>
      </p:sp>
      <p:sp>
        <p:nvSpPr>
          <p:cNvPr id="12" name="TextBox 11"/>
          <p:cNvSpPr txBox="1"/>
          <p:nvPr/>
        </p:nvSpPr>
        <p:spPr>
          <a:xfrm>
            <a:off x="731520" y="2990088"/>
            <a:ext cx="3108960" cy="850392"/>
          </a:xfrm>
          <a:prstGeom prst="rect">
            <a:avLst/>
          </a:prstGeom>
          <a:noFill/>
        </p:spPr>
        <p:txBody>
          <a:bodyPr wrap="square" lIns="9144" rIns="9144" tIns="18288" bIns="18288">
            <a:spAutoFit/>
          </a:bodyPr>
          <a:lstStyle/>
          <a:p>
            <a:pPr algn="l">
              <a:lnSpc>
                <a:spcPct val="112000"/>
              </a:lnSpc>
              <a:spcAft>
                <a:spcPts val="400"/>
              </a:spcAft>
            </a:pPr>
            <a:r>
              <a:rPr sz="2300" b="1">
                <a:solidFill>
                  <a:srgbClr val="F4F8FF"/>
                </a:solidFill>
                <a:latin typeface="Segoe UI"/>
              </a:rPr>
              <a:t>Model runs on GPU</a:t>
            </a:r>
          </a:p>
        </p:txBody>
      </p:sp>
      <p:sp>
        <p:nvSpPr>
          <p:cNvPr id="13" name="TextBox 12"/>
          <p:cNvSpPr txBox="1"/>
          <p:nvPr/>
        </p:nvSpPr>
        <p:spPr>
          <a:xfrm>
            <a:off x="731520" y="3895344"/>
            <a:ext cx="3108960" cy="1335023"/>
          </a:xfrm>
          <a:prstGeom prst="rect">
            <a:avLst/>
          </a:prstGeom>
          <a:noFill/>
        </p:spPr>
        <p:txBody>
          <a:bodyPr wrap="square" lIns="9144" rIns="9144" tIns="18288" bIns="18288">
            <a:spAutoFit/>
          </a:bodyPr>
          <a:lstStyle/>
          <a:p>
            <a:pPr algn="l">
              <a:lnSpc>
                <a:spcPct val="112000"/>
              </a:lnSpc>
              <a:spcAft>
                <a:spcPts val="400"/>
              </a:spcAft>
            </a:pPr>
            <a:r>
              <a:rPr sz="1700" b="0">
                <a:solidFill>
                  <a:srgbClr val="A5B9D0"/>
                </a:solidFill>
                <a:latin typeface="Segoe UI"/>
              </a:rPr>
              <a:t>Confirm GPU device access.</a:t>
            </a:r>
          </a:p>
          <a:p>
            <a:pPr algn="l">
              <a:lnSpc>
                <a:spcPct val="112000"/>
              </a:lnSpc>
              <a:spcAft>
                <a:spcPts val="400"/>
              </a:spcAft>
            </a:pPr>
            <a:r>
              <a:rPr sz="1700" b="0">
                <a:solidFill>
                  <a:srgbClr val="A5B9D0"/>
                </a:solidFill>
                <a:latin typeface="Segoe UI"/>
              </a:rPr>
              <a:t>Check the model revision.</a:t>
            </a:r>
          </a:p>
          <a:p>
            <a:pPr algn="l">
              <a:lnSpc>
                <a:spcPct val="112000"/>
              </a:lnSpc>
              <a:spcAft>
                <a:spcPts val="400"/>
              </a:spcAft>
            </a:pPr>
            <a:r>
              <a:rPr sz="1700" b="0">
                <a:solidFill>
                  <a:srgbClr val="A5B9D0"/>
                </a:solidFill>
                <a:latin typeface="Segoe UI"/>
              </a:rPr>
              <a:t>Validate response quality.</a:t>
            </a:r>
          </a:p>
        </p:txBody>
      </p:sp>
      <p:sp>
        <p:nvSpPr>
          <p:cNvPr id="14" name="Rounded Rectangle 13"/>
          <p:cNvSpPr/>
          <p:nvPr/>
        </p:nvSpPr>
        <p:spPr>
          <a:xfrm>
            <a:off x="4315968" y="2286000"/>
            <a:ext cx="3547872" cy="301752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35424" y="2487168"/>
            <a:ext cx="310896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70E0BA"/>
                </a:solidFill>
                <a:latin typeface="Segoe UI"/>
              </a:rPr>
              <a:t>B / PERFORMANCE</a:t>
            </a:r>
          </a:p>
        </p:txBody>
      </p:sp>
      <p:sp>
        <p:nvSpPr>
          <p:cNvPr id="16" name="TextBox 15"/>
          <p:cNvSpPr txBox="1"/>
          <p:nvPr/>
        </p:nvSpPr>
        <p:spPr>
          <a:xfrm>
            <a:off x="4535424" y="2990088"/>
            <a:ext cx="3108960" cy="850392"/>
          </a:xfrm>
          <a:prstGeom prst="rect">
            <a:avLst/>
          </a:prstGeom>
          <a:noFill/>
        </p:spPr>
        <p:txBody>
          <a:bodyPr wrap="square" lIns="9144" rIns="9144" tIns="18288" bIns="18288">
            <a:spAutoFit/>
          </a:bodyPr>
          <a:lstStyle/>
          <a:p>
            <a:pPr algn="l">
              <a:lnSpc>
                <a:spcPct val="112000"/>
              </a:lnSpc>
              <a:spcAft>
                <a:spcPts val="400"/>
              </a:spcAft>
            </a:pPr>
            <a:r>
              <a:rPr sz="2300" b="1">
                <a:solidFill>
                  <a:srgbClr val="F4F8FF"/>
                </a:solidFill>
                <a:latin typeface="Segoe UI"/>
              </a:rPr>
              <a:t>Compare cold vs. warm</a:t>
            </a:r>
          </a:p>
        </p:txBody>
      </p:sp>
      <p:sp>
        <p:nvSpPr>
          <p:cNvPr id="17" name="TextBox 16"/>
          <p:cNvSpPr txBox="1"/>
          <p:nvPr/>
        </p:nvSpPr>
        <p:spPr>
          <a:xfrm>
            <a:off x="4535424" y="3895344"/>
            <a:ext cx="3108960" cy="1335023"/>
          </a:xfrm>
          <a:prstGeom prst="rect">
            <a:avLst/>
          </a:prstGeom>
          <a:noFill/>
        </p:spPr>
        <p:txBody>
          <a:bodyPr wrap="square" lIns="9144" rIns="9144" tIns="18288" bIns="18288">
            <a:spAutoFit/>
          </a:bodyPr>
          <a:lstStyle/>
          <a:p>
            <a:pPr algn="l">
              <a:lnSpc>
                <a:spcPct val="112000"/>
              </a:lnSpc>
              <a:spcAft>
                <a:spcPts val="400"/>
              </a:spcAft>
            </a:pPr>
            <a:r>
              <a:rPr sz="1700" b="0">
                <a:solidFill>
                  <a:srgbClr val="A5B9D0"/>
                </a:solidFill>
                <a:latin typeface="Segoe UI"/>
              </a:rPr>
              <a:t>Record cold-start delay.</a:t>
            </a:r>
          </a:p>
          <a:p>
            <a:pPr algn="l">
              <a:lnSpc>
                <a:spcPct val="112000"/>
              </a:lnSpc>
              <a:spcAft>
                <a:spcPts val="400"/>
              </a:spcAft>
            </a:pPr>
            <a:r>
              <a:rPr sz="1700" b="0">
                <a:solidFill>
                  <a:srgbClr val="A5B9D0"/>
                </a:solidFill>
                <a:latin typeface="Segoe UI"/>
              </a:rPr>
              <a:t>Measure warm p50 / p95.</a:t>
            </a:r>
          </a:p>
          <a:p>
            <a:pPr algn="l">
              <a:lnSpc>
                <a:spcPct val="112000"/>
              </a:lnSpc>
              <a:spcAft>
                <a:spcPts val="400"/>
              </a:spcAft>
            </a:pPr>
            <a:r>
              <a:rPr sz="1700" b="0">
                <a:solidFill>
                  <a:srgbClr val="A5B9D0"/>
                </a:solidFill>
                <a:latin typeface="Segoe UI"/>
              </a:rPr>
              <a:t>Track tokens or results/sec.</a:t>
            </a:r>
          </a:p>
        </p:txBody>
      </p:sp>
      <p:sp>
        <p:nvSpPr>
          <p:cNvPr id="18" name="Rounded Rectangle 17"/>
          <p:cNvSpPr/>
          <p:nvPr/>
        </p:nvSpPr>
        <p:spPr>
          <a:xfrm>
            <a:off x="8119872" y="2286000"/>
            <a:ext cx="3502152" cy="301752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39328" y="2487168"/>
            <a:ext cx="306324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FFC66D"/>
                </a:solidFill>
                <a:latin typeface="Segoe UI"/>
              </a:rPr>
              <a:t>C / ELASTICITY</a:t>
            </a:r>
          </a:p>
        </p:txBody>
      </p:sp>
      <p:sp>
        <p:nvSpPr>
          <p:cNvPr id="20" name="TextBox 19"/>
          <p:cNvSpPr txBox="1"/>
          <p:nvPr/>
        </p:nvSpPr>
        <p:spPr>
          <a:xfrm>
            <a:off x="8339328" y="2990088"/>
            <a:ext cx="3063240" cy="850392"/>
          </a:xfrm>
          <a:prstGeom prst="rect">
            <a:avLst/>
          </a:prstGeom>
          <a:noFill/>
        </p:spPr>
        <p:txBody>
          <a:bodyPr wrap="square" lIns="9144" rIns="9144" tIns="18288" bIns="18288">
            <a:spAutoFit/>
          </a:bodyPr>
          <a:lstStyle/>
          <a:p>
            <a:pPr algn="l">
              <a:lnSpc>
                <a:spcPct val="112000"/>
              </a:lnSpc>
              <a:spcAft>
                <a:spcPts val="400"/>
              </a:spcAft>
            </a:pPr>
            <a:r>
              <a:rPr sz="2300" b="1">
                <a:solidFill>
                  <a:srgbClr val="F4F8FF"/>
                </a:solidFill>
                <a:latin typeface="Segoe UI"/>
              </a:rPr>
              <a:t>Watch replicas scale</a:t>
            </a:r>
          </a:p>
        </p:txBody>
      </p:sp>
      <p:sp>
        <p:nvSpPr>
          <p:cNvPr id="21" name="TextBox 20"/>
          <p:cNvSpPr txBox="1"/>
          <p:nvPr/>
        </p:nvSpPr>
        <p:spPr>
          <a:xfrm>
            <a:off x="8339328" y="3895344"/>
            <a:ext cx="3063240" cy="1335023"/>
          </a:xfrm>
          <a:prstGeom prst="rect">
            <a:avLst/>
          </a:prstGeom>
          <a:noFill/>
        </p:spPr>
        <p:txBody>
          <a:bodyPr wrap="square" lIns="9144" rIns="9144" tIns="18288" bIns="18288">
            <a:spAutoFit/>
          </a:bodyPr>
          <a:lstStyle/>
          <a:p>
            <a:pPr algn="l">
              <a:lnSpc>
                <a:spcPct val="112000"/>
              </a:lnSpc>
              <a:spcAft>
                <a:spcPts val="400"/>
              </a:spcAft>
            </a:pPr>
            <a:r>
              <a:rPr sz="1700" b="0">
                <a:solidFill>
                  <a:srgbClr val="A5B9D0"/>
                </a:solidFill>
                <a:latin typeface="Segoe UI"/>
              </a:rPr>
              <a:t>Observe zero-to-one startup.</a:t>
            </a:r>
          </a:p>
          <a:p>
            <a:pPr algn="l">
              <a:lnSpc>
                <a:spcPct val="112000"/>
              </a:lnSpc>
              <a:spcAft>
                <a:spcPts val="400"/>
              </a:spcAft>
            </a:pPr>
            <a:r>
              <a:rPr sz="1700" b="0">
                <a:solidFill>
                  <a:srgbClr val="A5B9D0"/>
                </a:solidFill>
                <a:latin typeface="Segoe UI"/>
              </a:rPr>
              <a:t>Verify capped scale-out.</a:t>
            </a:r>
          </a:p>
          <a:p>
            <a:pPr algn="l">
              <a:lnSpc>
                <a:spcPct val="112000"/>
              </a:lnSpc>
              <a:spcAft>
                <a:spcPts val="400"/>
              </a:spcAft>
            </a:pPr>
            <a:r>
              <a:rPr sz="1700" b="0">
                <a:solidFill>
                  <a:srgbClr val="A5B9D0"/>
                </a:solidFill>
                <a:latin typeface="Segoe UI"/>
              </a:rPr>
              <a:t>Confirm scale-in to zero.</a:t>
            </a:r>
          </a:p>
        </p:txBody>
      </p:sp>
      <p:sp>
        <p:nvSpPr>
          <p:cNvPr id="22" name="Rounded Rectangle 21"/>
          <p:cNvSpPr/>
          <p:nvPr/>
        </p:nvSpPr>
        <p:spPr>
          <a:xfrm>
            <a:off x="512064" y="5623560"/>
            <a:ext cx="11109960" cy="45720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687568"/>
            <a:ext cx="10744200" cy="310896"/>
          </a:xfrm>
          <a:prstGeom prst="rect">
            <a:avLst/>
          </a:prstGeom>
          <a:noFill/>
        </p:spPr>
        <p:txBody>
          <a:bodyPr wrap="square" lIns="9144" rIns="9144" tIns="18288" bIns="18288">
            <a:spAutoFit/>
          </a:bodyPr>
          <a:lstStyle/>
          <a:p>
            <a:pPr algn="l">
              <a:lnSpc>
                <a:spcPct val="112000"/>
              </a:lnSpc>
              <a:spcAft>
                <a:spcPts val="400"/>
              </a:spcAft>
            </a:pPr>
            <a:r>
              <a:rPr sz="1500" b="1">
                <a:solidFill>
                  <a:srgbClr val="53D5F5"/>
                </a:solidFill>
                <a:latin typeface="Segoe UI"/>
              </a:rPr>
              <a:t>Also test one failure: invalid input, model-load failure, saturation or an unavailable dependency.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9182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548640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53D5F5"/>
                </a:solidFill>
                <a:latin typeface="Segoe UI"/>
              </a:rPr>
              <a:t>12 / ECONOMICS</a:t>
            </a:r>
          </a:p>
        </p:txBody>
      </p:sp>
      <p:sp>
        <p:nvSpPr>
          <p:cNvPr id="4" name="TextBox 3"/>
          <p:cNvSpPr txBox="1"/>
          <p:nvPr/>
        </p:nvSpPr>
        <p:spPr>
          <a:xfrm>
            <a:off x="502920" y="786384"/>
            <a:ext cx="11109960" cy="658368"/>
          </a:xfrm>
          <a:prstGeom prst="rect">
            <a:avLst/>
          </a:prstGeom>
          <a:noFill/>
        </p:spPr>
        <p:txBody>
          <a:bodyPr wrap="square" lIns="9144" rIns="9144" tIns="18288" bIns="18288">
            <a:spAutoFit/>
          </a:bodyPr>
          <a:lstStyle/>
          <a:p>
            <a:pPr algn="l">
              <a:lnSpc>
                <a:spcPct val="112000"/>
              </a:lnSpc>
              <a:spcAft>
                <a:spcPts val="400"/>
              </a:spcAft>
            </a:pPr>
            <a:r>
              <a:rPr sz="3100" b="1">
                <a:solidFill>
                  <a:srgbClr val="F4F8FF"/>
                </a:solidFill>
                <a:latin typeface="Segoe UI"/>
              </a:rPr>
              <a:t>You pay for allocated GPU time, not GPU utilization</a:t>
            </a:r>
          </a:p>
        </p:txBody>
      </p:sp>
      <p:sp>
        <p:nvSpPr>
          <p:cNvPr id="5" name="TextBox 4"/>
          <p:cNvSpPr txBox="1"/>
          <p:nvPr/>
        </p:nvSpPr>
        <p:spPr>
          <a:xfrm>
            <a:off x="521207" y="1508760"/>
            <a:ext cx="11064240" cy="576072"/>
          </a:xfrm>
          <a:prstGeom prst="rect">
            <a:avLst/>
          </a:prstGeom>
          <a:noFill/>
        </p:spPr>
        <p:txBody>
          <a:bodyPr wrap="square" lIns="9144" rIns="9144" tIns="18288" bIns="18288">
            <a:spAutoFit/>
          </a:bodyPr>
          <a:lstStyle/>
          <a:p>
            <a:pPr algn="l">
              <a:lnSpc>
                <a:spcPct val="112000"/>
              </a:lnSpc>
              <a:spcAft>
                <a:spcPts val="400"/>
              </a:spcAft>
            </a:pPr>
            <a:r>
              <a:rPr sz="1700" b="0">
                <a:solidFill>
                  <a:srgbClr val="A5B9D0"/>
                </a:solidFill>
                <a:latin typeface="Segoe UI"/>
              </a:rPr>
              <a:t>Serverless GPU replicas are always billed at active rates while running. There is no GPU idle discount.</a:t>
            </a:r>
          </a:p>
        </p:txBody>
      </p:sp>
      <p:cxnSp>
        <p:nvCxnSpPr>
          <p:cNvPr id="6" name="Connector 5"/>
          <p:cNvCxnSpPr/>
          <p:nvPr/>
        </p:nvCxnSpPr>
        <p:spPr>
          <a:xfrm>
            <a:off x="502920" y="6327648"/>
            <a:ext cx="11155680" cy="0"/>
          </a:xfrm>
          <a:prstGeom prst="line">
            <a:avLst/>
          </a:prstGeom>
          <a:ln w="10160">
            <a:solidFill>
              <a:srgbClr val="29435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21207" y="6473952"/>
            <a:ext cx="5303520" cy="201168"/>
          </a:xfrm>
          <a:prstGeom prst="rect">
            <a:avLst/>
          </a:prstGeom>
          <a:noFill/>
        </p:spPr>
        <p:txBody>
          <a:bodyPr wrap="square" lIns="9144" rIns="9144" tIns="18288" bIns="18288">
            <a:spAutoFit/>
          </a:bodyPr>
          <a:lstStyle/>
          <a:p>
            <a:pPr algn="l">
              <a:lnSpc>
                <a:spcPct val="112000"/>
              </a:lnSpc>
              <a:spcAft>
                <a:spcPts val="400"/>
              </a:spcAft>
            </a:pPr>
            <a:r>
              <a:rPr sz="900" b="0">
                <a:solidFill>
                  <a:srgbClr val="A5B9D0"/>
                </a:solidFill>
                <a:latin typeface="Segoe UI"/>
              </a:rPr>
              <a:t>AZURE CONTAINER APPS  /  SERVERLESS GPU</a:t>
            </a:r>
          </a:p>
        </p:txBody>
      </p:sp>
      <p:sp>
        <p:nvSpPr>
          <p:cNvPr id="8" name="TextBox 7"/>
          <p:cNvSpPr txBox="1"/>
          <p:nvPr/>
        </p:nvSpPr>
        <p:spPr>
          <a:xfrm>
            <a:off x="5486400" y="6455664"/>
            <a:ext cx="5303520" cy="256032"/>
          </a:xfrm>
          <a:prstGeom prst="rect">
            <a:avLst/>
          </a:prstGeom>
          <a:noFill/>
        </p:spPr>
        <p:txBody>
          <a:bodyPr wrap="square" lIns="9144" rIns="9144" tIns="18288" bIns="18288">
            <a:spAutoFit/>
          </a:bodyPr>
          <a:lstStyle/>
          <a:p>
            <a:pPr algn="r">
              <a:lnSpc>
                <a:spcPct val="112000"/>
              </a:lnSpc>
              <a:spcAft>
                <a:spcPts val="400"/>
              </a:spcAft>
            </a:pPr>
            <a:r>
              <a:rPr sz="900" b="0">
                <a:solidFill>
                  <a:srgbClr val="A5B9D0"/>
                </a:solidFill>
                <a:latin typeface="Segoe UI"/>
                <a:hlinkClick r:id="rId2"/>
              </a:rPr>
              <a:t>Source: Billing | Pricing</a:t>
            </a:r>
          </a:p>
        </p:txBody>
      </p:sp>
      <p:sp>
        <p:nvSpPr>
          <p:cNvPr id="9" name="TextBox 8"/>
          <p:cNvSpPr txBox="1"/>
          <p:nvPr/>
        </p:nvSpPr>
        <p:spPr>
          <a:xfrm>
            <a:off x="11082528" y="6428232"/>
            <a:ext cx="548640" cy="274320"/>
          </a:xfrm>
          <a:prstGeom prst="rect">
            <a:avLst/>
          </a:prstGeom>
          <a:noFill/>
        </p:spPr>
        <p:txBody>
          <a:bodyPr wrap="square" lIns="9144" rIns="9144" tIns="18288" bIns="18288">
            <a:spAutoFit/>
          </a:bodyPr>
          <a:lstStyle/>
          <a:p>
            <a:pPr algn="r">
              <a:lnSpc>
                <a:spcPct val="112000"/>
              </a:lnSpc>
              <a:spcAft>
                <a:spcPts val="400"/>
              </a:spcAft>
            </a:pPr>
            <a:r>
              <a:rPr sz="1200" b="0">
                <a:solidFill>
                  <a:srgbClr val="53D5F5"/>
                </a:solidFill>
                <a:latin typeface="Segoe UI"/>
              </a:rPr>
              <a:t>13</a:t>
            </a:r>
          </a:p>
        </p:txBody>
      </p:sp>
      <p:sp>
        <p:nvSpPr>
          <p:cNvPr id="10" name="Rounded Rectangle 9"/>
          <p:cNvSpPr/>
          <p:nvPr/>
        </p:nvSpPr>
        <p:spPr>
          <a:xfrm>
            <a:off x="521207" y="2286000"/>
            <a:ext cx="6583680" cy="2624328"/>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514600"/>
            <a:ext cx="585216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FFC66D"/>
                </a:solidFill>
                <a:latin typeface="Segoe UI"/>
              </a:rPr>
              <a:t>ILLUSTRATIVE GPU-SECONDS ONLY</a:t>
            </a:r>
          </a:p>
        </p:txBody>
      </p:sp>
      <p:sp>
        <p:nvSpPr>
          <p:cNvPr id="12" name="TextBox 11"/>
          <p:cNvSpPr txBox="1"/>
          <p:nvPr/>
        </p:nvSpPr>
        <p:spPr>
          <a:xfrm>
            <a:off x="749808" y="3017520"/>
            <a:ext cx="5943600" cy="612648"/>
          </a:xfrm>
          <a:prstGeom prst="rect">
            <a:avLst/>
          </a:prstGeom>
          <a:noFill/>
        </p:spPr>
        <p:txBody>
          <a:bodyPr wrap="square" lIns="9144" rIns="9144" tIns="18288" bIns="18288">
            <a:spAutoFit/>
          </a:bodyPr>
          <a:lstStyle/>
          <a:p>
            <a:pPr algn="l">
              <a:lnSpc>
                <a:spcPct val="112000"/>
              </a:lnSpc>
              <a:spcAft>
                <a:spcPts val="400"/>
              </a:spcAft>
            </a:pPr>
            <a:r>
              <a:rPr sz="2900" b="1">
                <a:solidFill>
                  <a:srgbClr val="F4F8FF"/>
                </a:solidFill>
                <a:latin typeface="Segoe UI"/>
              </a:rPr>
              <a:t>24 hours -&gt; 2 hours allocated</a:t>
            </a:r>
          </a:p>
        </p:txBody>
      </p:sp>
      <p:sp>
        <p:nvSpPr>
          <p:cNvPr id="13" name="TextBox 12"/>
          <p:cNvSpPr txBox="1"/>
          <p:nvPr/>
        </p:nvSpPr>
        <p:spPr>
          <a:xfrm>
            <a:off x="749808" y="3822191"/>
            <a:ext cx="5943600" cy="859536"/>
          </a:xfrm>
          <a:prstGeom prst="rect">
            <a:avLst/>
          </a:prstGeom>
          <a:noFill/>
        </p:spPr>
        <p:txBody>
          <a:bodyPr wrap="square" lIns="9144" rIns="9144" tIns="18288" bIns="18288">
            <a:spAutoFit/>
          </a:bodyPr>
          <a:lstStyle/>
          <a:p>
            <a:pPr algn="l">
              <a:lnSpc>
                <a:spcPct val="112000"/>
              </a:lnSpc>
              <a:spcAft>
                <a:spcPts val="400"/>
              </a:spcAft>
            </a:pPr>
            <a:r>
              <a:rPr sz="2100" b="0">
                <a:solidFill>
                  <a:srgbClr val="70E0BA"/>
                </a:solidFill>
                <a:latin typeface="Segoe UI"/>
              </a:rPr>
              <a:t>86,400 -&gt; 7,200 GPU-seconds</a:t>
            </a:r>
          </a:p>
          <a:p>
            <a:pPr algn="l">
              <a:lnSpc>
                <a:spcPct val="112000"/>
              </a:lnSpc>
              <a:spcAft>
                <a:spcPts val="400"/>
              </a:spcAft>
            </a:pPr>
            <a:r>
              <a:rPr sz="2100" b="0">
                <a:solidFill>
                  <a:srgbClr val="70E0BA"/>
                </a:solidFill>
                <a:latin typeface="Segoe UI"/>
              </a:rPr>
              <a:t>91.7% fewer allocated GPU-seconds</a:t>
            </a:r>
          </a:p>
        </p:txBody>
      </p:sp>
      <p:sp>
        <p:nvSpPr>
          <p:cNvPr id="14" name="TextBox 13"/>
          <p:cNvSpPr txBox="1"/>
          <p:nvPr/>
        </p:nvSpPr>
        <p:spPr>
          <a:xfrm>
            <a:off x="7479792" y="2487168"/>
            <a:ext cx="3950208" cy="457200"/>
          </a:xfrm>
          <a:prstGeom prst="rect">
            <a:avLst/>
          </a:prstGeom>
          <a:noFill/>
        </p:spPr>
        <p:txBody>
          <a:bodyPr wrap="square" lIns="9144" rIns="9144" tIns="18288" bIns="18288">
            <a:spAutoFit/>
          </a:bodyPr>
          <a:lstStyle/>
          <a:p>
            <a:pPr algn="l">
              <a:lnSpc>
                <a:spcPct val="112000"/>
              </a:lnSpc>
              <a:spcAft>
                <a:spcPts val="400"/>
              </a:spcAft>
            </a:pPr>
            <a:r>
              <a:rPr sz="2300" b="1">
                <a:solidFill>
                  <a:srgbClr val="F4F8FF"/>
                </a:solidFill>
                <a:latin typeface="Segoe UI"/>
              </a:rPr>
              <a:t>Estimate the whole system</a:t>
            </a:r>
          </a:p>
        </p:txBody>
      </p:sp>
      <p:sp>
        <p:nvSpPr>
          <p:cNvPr id="15" name="TextBox 14"/>
          <p:cNvSpPr txBox="1"/>
          <p:nvPr/>
        </p:nvSpPr>
        <p:spPr>
          <a:xfrm>
            <a:off x="7479792" y="3163824"/>
            <a:ext cx="3950208" cy="1682496"/>
          </a:xfrm>
          <a:prstGeom prst="rect">
            <a:avLst/>
          </a:prstGeom>
          <a:noFill/>
        </p:spPr>
        <p:txBody>
          <a:bodyPr wrap="square" lIns="9144" rIns="9144" tIns="18288" bIns="18288">
            <a:spAutoFit/>
          </a:bodyPr>
          <a:lstStyle/>
          <a:p>
            <a:pPr algn="l">
              <a:lnSpc>
                <a:spcPct val="112000"/>
              </a:lnSpc>
              <a:spcAft>
                <a:spcPts val="400"/>
              </a:spcAft>
            </a:pPr>
            <a:r>
              <a:rPr sz="1800" b="0">
                <a:solidFill>
                  <a:srgbClr val="A5B9D0"/>
                </a:solidFill>
                <a:latin typeface="Segoe UI"/>
              </a:rPr>
              <a:t>GPU + CPU + memory meters</a:t>
            </a:r>
          </a:p>
          <a:p>
            <a:pPr algn="l">
              <a:lnSpc>
                <a:spcPct val="112000"/>
              </a:lnSpc>
              <a:spcAft>
                <a:spcPts val="400"/>
              </a:spcAft>
            </a:pPr>
            <a:r>
              <a:rPr sz="1800" b="0">
                <a:solidFill>
                  <a:srgbClr val="A5B9D0"/>
                </a:solidFill>
                <a:latin typeface="Segoe UI"/>
              </a:rPr>
              <a:t>Billable external HTTP requests</a:t>
            </a:r>
          </a:p>
          <a:p>
            <a:pPr algn="l">
              <a:lnSpc>
                <a:spcPct val="112000"/>
              </a:lnSpc>
              <a:spcAft>
                <a:spcPts val="400"/>
              </a:spcAft>
            </a:pPr>
            <a:r>
              <a:rPr sz="1800" b="0">
                <a:solidFill>
                  <a:srgbClr val="A5B9D0"/>
                </a:solidFill>
                <a:latin typeface="Segoe UI"/>
              </a:rPr>
              <a:t>Registry, storage and logs</a:t>
            </a:r>
          </a:p>
          <a:p>
            <a:pPr algn="l">
              <a:lnSpc>
                <a:spcPct val="112000"/>
              </a:lnSpc>
              <a:spcAft>
                <a:spcPts val="400"/>
              </a:spcAft>
            </a:pPr>
            <a:r>
              <a:rPr sz="1800" b="0">
                <a:solidFill>
                  <a:srgbClr val="A5B9D0"/>
                </a:solidFill>
                <a:latin typeface="Segoe UI"/>
              </a:rPr>
              <a:t>Networking and feature charges</a:t>
            </a:r>
          </a:p>
        </p:txBody>
      </p:sp>
      <p:sp>
        <p:nvSpPr>
          <p:cNvPr id="16" name="TextBox 15"/>
          <p:cNvSpPr txBox="1"/>
          <p:nvPr/>
        </p:nvSpPr>
        <p:spPr>
          <a:xfrm>
            <a:off x="640080" y="5120640"/>
            <a:ext cx="10881360" cy="384048"/>
          </a:xfrm>
          <a:prstGeom prst="rect">
            <a:avLst/>
          </a:prstGeom>
          <a:noFill/>
        </p:spPr>
        <p:txBody>
          <a:bodyPr wrap="square" lIns="9144" rIns="9144" tIns="18288" bIns="18288">
            <a:spAutoFit/>
          </a:bodyPr>
          <a:lstStyle/>
          <a:p>
            <a:pPr algn="l">
              <a:lnSpc>
                <a:spcPct val="112000"/>
              </a:lnSpc>
              <a:spcAft>
                <a:spcPts val="400"/>
              </a:spcAft>
            </a:pPr>
            <a:r>
              <a:rPr sz="1900" b="1">
                <a:solidFill>
                  <a:srgbClr val="F4F8FF"/>
                </a:solidFill>
                <a:latin typeface="Segoe UI"/>
              </a:rPr>
              <a:t>GPU cost = allocated GPU-seconds x applicable GPU rate; add all other billable meters.</a:t>
            </a:r>
          </a:p>
        </p:txBody>
      </p:sp>
      <p:sp>
        <p:nvSpPr>
          <p:cNvPr id="17" name="Rounded Rectangle 16"/>
          <p:cNvSpPr/>
          <p:nvPr/>
        </p:nvSpPr>
        <p:spPr>
          <a:xfrm>
            <a:off x="512064" y="5623560"/>
            <a:ext cx="11109960" cy="45720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5687568"/>
            <a:ext cx="10744200" cy="310896"/>
          </a:xfrm>
          <a:prstGeom prst="rect">
            <a:avLst/>
          </a:prstGeom>
          <a:noFill/>
        </p:spPr>
        <p:txBody>
          <a:bodyPr wrap="square" lIns="9144" rIns="9144" tIns="18288" bIns="18288">
            <a:spAutoFit/>
          </a:bodyPr>
          <a:lstStyle/>
          <a:p>
            <a:pPr algn="l">
              <a:lnSpc>
                <a:spcPct val="112000"/>
              </a:lnSpc>
              <a:spcAft>
                <a:spcPts val="400"/>
              </a:spcAft>
            </a:pPr>
            <a:r>
              <a:rPr sz="1500" b="1">
                <a:solidFill>
                  <a:srgbClr val="FFC66D"/>
                </a:solidFill>
                <a:latin typeface="Segoe UI"/>
              </a:rPr>
              <a:t>This is not a bill estimate: startup, warm time, scale-in delay and rate differences change the outcome.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9182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548640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53D5F5"/>
                </a:solidFill>
                <a:latin typeface="Segoe UI"/>
              </a:rPr>
              <a:t>13 / SECURITY &amp; GOVERNANCE</a:t>
            </a:r>
          </a:p>
        </p:txBody>
      </p:sp>
      <p:sp>
        <p:nvSpPr>
          <p:cNvPr id="4" name="TextBox 3"/>
          <p:cNvSpPr txBox="1"/>
          <p:nvPr/>
        </p:nvSpPr>
        <p:spPr>
          <a:xfrm>
            <a:off x="502920" y="786384"/>
            <a:ext cx="11109960" cy="658368"/>
          </a:xfrm>
          <a:prstGeom prst="rect">
            <a:avLst/>
          </a:prstGeom>
          <a:noFill/>
        </p:spPr>
        <p:txBody>
          <a:bodyPr wrap="square" lIns="9144" rIns="9144" tIns="18288" bIns="18288">
            <a:spAutoFit/>
          </a:bodyPr>
          <a:lstStyle/>
          <a:p>
            <a:pPr algn="l">
              <a:lnSpc>
                <a:spcPct val="112000"/>
              </a:lnSpc>
              <a:spcAft>
                <a:spcPts val="400"/>
              </a:spcAft>
            </a:pPr>
            <a:r>
              <a:rPr sz="3100" b="1">
                <a:solidFill>
                  <a:srgbClr val="F4F8FF"/>
                </a:solidFill>
                <a:latin typeface="Segoe UI"/>
              </a:rPr>
              <a:t>Managed infrastructure is not automatic data protection</a:t>
            </a:r>
          </a:p>
        </p:txBody>
      </p:sp>
      <p:sp>
        <p:nvSpPr>
          <p:cNvPr id="5" name="TextBox 4"/>
          <p:cNvSpPr txBox="1"/>
          <p:nvPr/>
        </p:nvSpPr>
        <p:spPr>
          <a:xfrm>
            <a:off x="521207" y="1508760"/>
            <a:ext cx="11064240" cy="576072"/>
          </a:xfrm>
          <a:prstGeom prst="rect">
            <a:avLst/>
          </a:prstGeom>
          <a:noFill/>
        </p:spPr>
        <p:txBody>
          <a:bodyPr wrap="square" lIns="9144" rIns="9144" tIns="18288" bIns="18288">
            <a:spAutoFit/>
          </a:bodyPr>
          <a:lstStyle/>
          <a:p>
            <a:pPr algn="l">
              <a:lnSpc>
                <a:spcPct val="112000"/>
              </a:lnSpc>
              <a:spcAft>
                <a:spcPts val="400"/>
              </a:spcAft>
            </a:pPr>
            <a:r>
              <a:rPr sz="1700" b="0">
                <a:solidFill>
                  <a:srgbClr val="A5B9D0"/>
                </a:solidFill>
                <a:latin typeface="Segoe UI"/>
              </a:rPr>
              <a:t>Treat prompts, outputs, model files and telemetry as governed application data.</a:t>
            </a:r>
          </a:p>
        </p:txBody>
      </p:sp>
      <p:cxnSp>
        <p:nvCxnSpPr>
          <p:cNvPr id="6" name="Connector 5"/>
          <p:cNvCxnSpPr/>
          <p:nvPr/>
        </p:nvCxnSpPr>
        <p:spPr>
          <a:xfrm>
            <a:off x="502920" y="6327648"/>
            <a:ext cx="11155680" cy="0"/>
          </a:xfrm>
          <a:prstGeom prst="line">
            <a:avLst/>
          </a:prstGeom>
          <a:ln w="10160">
            <a:solidFill>
              <a:srgbClr val="29435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21207" y="6473952"/>
            <a:ext cx="5303520" cy="201168"/>
          </a:xfrm>
          <a:prstGeom prst="rect">
            <a:avLst/>
          </a:prstGeom>
          <a:noFill/>
        </p:spPr>
        <p:txBody>
          <a:bodyPr wrap="square" lIns="9144" rIns="9144" tIns="18288" bIns="18288">
            <a:spAutoFit/>
          </a:bodyPr>
          <a:lstStyle/>
          <a:p>
            <a:pPr algn="l">
              <a:lnSpc>
                <a:spcPct val="112000"/>
              </a:lnSpc>
              <a:spcAft>
                <a:spcPts val="400"/>
              </a:spcAft>
            </a:pPr>
            <a:r>
              <a:rPr sz="900" b="0">
                <a:solidFill>
                  <a:srgbClr val="A5B9D0"/>
                </a:solidFill>
                <a:latin typeface="Segoe UI"/>
              </a:rPr>
              <a:t>AZURE CONTAINER APPS  /  SERVERLESS GPU</a:t>
            </a:r>
          </a:p>
        </p:txBody>
      </p:sp>
      <p:sp>
        <p:nvSpPr>
          <p:cNvPr id="8" name="TextBox 7"/>
          <p:cNvSpPr txBox="1"/>
          <p:nvPr/>
        </p:nvSpPr>
        <p:spPr>
          <a:xfrm>
            <a:off x="5486400" y="6455664"/>
            <a:ext cx="5303520" cy="256032"/>
          </a:xfrm>
          <a:prstGeom prst="rect">
            <a:avLst/>
          </a:prstGeom>
          <a:noFill/>
        </p:spPr>
        <p:txBody>
          <a:bodyPr wrap="square" lIns="9144" rIns="9144" tIns="18288" bIns="18288">
            <a:spAutoFit/>
          </a:bodyPr>
          <a:lstStyle/>
          <a:p>
            <a:pPr algn="r">
              <a:lnSpc>
                <a:spcPct val="112000"/>
              </a:lnSpc>
              <a:spcAft>
                <a:spcPts val="400"/>
              </a:spcAft>
            </a:pPr>
            <a:r>
              <a:rPr sz="900" b="0">
                <a:solidFill>
                  <a:srgbClr val="A5B9D0"/>
                </a:solidFill>
                <a:latin typeface="Segoe UI"/>
                <a:hlinkClick r:id="rId2"/>
              </a:rPr>
              <a:t>Source: GPU overview | Workload profiles</a:t>
            </a:r>
          </a:p>
        </p:txBody>
      </p:sp>
      <p:sp>
        <p:nvSpPr>
          <p:cNvPr id="9" name="TextBox 8"/>
          <p:cNvSpPr txBox="1"/>
          <p:nvPr/>
        </p:nvSpPr>
        <p:spPr>
          <a:xfrm>
            <a:off x="11082528" y="6428232"/>
            <a:ext cx="548640" cy="274320"/>
          </a:xfrm>
          <a:prstGeom prst="rect">
            <a:avLst/>
          </a:prstGeom>
          <a:noFill/>
        </p:spPr>
        <p:txBody>
          <a:bodyPr wrap="square" lIns="9144" rIns="9144" tIns="18288" bIns="18288">
            <a:spAutoFit/>
          </a:bodyPr>
          <a:lstStyle/>
          <a:p>
            <a:pPr algn="r">
              <a:lnSpc>
                <a:spcPct val="112000"/>
              </a:lnSpc>
              <a:spcAft>
                <a:spcPts val="400"/>
              </a:spcAft>
            </a:pPr>
            <a:r>
              <a:rPr sz="1200" b="0">
                <a:solidFill>
                  <a:srgbClr val="53D5F5"/>
                </a:solidFill>
                <a:latin typeface="Segoe UI"/>
              </a:rPr>
              <a:t>14</a:t>
            </a:r>
          </a:p>
        </p:txBody>
      </p:sp>
      <p:sp>
        <p:nvSpPr>
          <p:cNvPr id="10" name="Rounded Rectangle 9"/>
          <p:cNvSpPr/>
          <p:nvPr/>
        </p:nvSpPr>
        <p:spPr>
          <a:xfrm>
            <a:off x="548640" y="2286000"/>
            <a:ext cx="5394960" cy="128016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404872"/>
            <a:ext cx="5029200" cy="365760"/>
          </a:xfrm>
          <a:prstGeom prst="rect">
            <a:avLst/>
          </a:prstGeom>
          <a:noFill/>
        </p:spPr>
        <p:txBody>
          <a:bodyPr wrap="square" lIns="9144" rIns="9144" tIns="18288" bIns="18288">
            <a:spAutoFit/>
          </a:bodyPr>
          <a:lstStyle/>
          <a:p>
            <a:pPr algn="l">
              <a:lnSpc>
                <a:spcPct val="112000"/>
              </a:lnSpc>
              <a:spcAft>
                <a:spcPts val="400"/>
              </a:spcAft>
            </a:pPr>
            <a:r>
              <a:rPr sz="2100" b="1">
                <a:solidFill>
                  <a:srgbClr val="F4F8FF"/>
                </a:solidFill>
                <a:latin typeface="Segoe UI"/>
              </a:rPr>
              <a:t>Identity first</a:t>
            </a:r>
          </a:p>
        </p:txBody>
      </p:sp>
      <p:sp>
        <p:nvSpPr>
          <p:cNvPr id="12" name="TextBox 11"/>
          <p:cNvSpPr txBox="1"/>
          <p:nvPr/>
        </p:nvSpPr>
        <p:spPr>
          <a:xfrm>
            <a:off x="731520" y="2852928"/>
            <a:ext cx="5029200" cy="694944"/>
          </a:xfrm>
          <a:prstGeom prst="rect">
            <a:avLst/>
          </a:prstGeom>
          <a:noFill/>
        </p:spPr>
        <p:txBody>
          <a:bodyPr wrap="square" lIns="9144" rIns="9144" tIns="18288" bIns="18288">
            <a:spAutoFit/>
          </a:bodyPr>
          <a:lstStyle/>
          <a:p>
            <a:pPr algn="l">
              <a:lnSpc>
                <a:spcPct val="112000"/>
              </a:lnSpc>
              <a:spcAft>
                <a:spcPts val="400"/>
              </a:spcAft>
            </a:pPr>
            <a:r>
              <a:rPr sz="1500" b="0">
                <a:solidFill>
                  <a:srgbClr val="A5B9D0"/>
                </a:solidFill>
                <a:latin typeface="Segoe UI"/>
              </a:rPr>
              <a:t>Prefer managed identity for supported Azure access.</a:t>
            </a:r>
          </a:p>
          <a:p>
            <a:pPr algn="l">
              <a:lnSpc>
                <a:spcPct val="112000"/>
              </a:lnSpc>
              <a:spcAft>
                <a:spcPts val="400"/>
              </a:spcAft>
            </a:pPr>
            <a:r>
              <a:rPr sz="1500" b="0">
                <a:solidFill>
                  <a:srgbClr val="A5B9D0"/>
                </a:solidFill>
                <a:latin typeface="Segoe UI"/>
              </a:rPr>
              <a:t>Scope permissions; keep secrets out of images.</a:t>
            </a:r>
          </a:p>
        </p:txBody>
      </p:sp>
      <p:sp>
        <p:nvSpPr>
          <p:cNvPr id="13" name="Rounded Rectangle 12"/>
          <p:cNvSpPr/>
          <p:nvPr/>
        </p:nvSpPr>
        <p:spPr>
          <a:xfrm>
            <a:off x="548640" y="3767328"/>
            <a:ext cx="5394960" cy="128016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886200"/>
            <a:ext cx="5029200" cy="365760"/>
          </a:xfrm>
          <a:prstGeom prst="rect">
            <a:avLst/>
          </a:prstGeom>
          <a:noFill/>
        </p:spPr>
        <p:txBody>
          <a:bodyPr wrap="square" lIns="9144" rIns="9144" tIns="18288" bIns="18288">
            <a:spAutoFit/>
          </a:bodyPr>
          <a:lstStyle/>
          <a:p>
            <a:pPr algn="l">
              <a:lnSpc>
                <a:spcPct val="112000"/>
              </a:lnSpc>
              <a:spcAft>
                <a:spcPts val="400"/>
              </a:spcAft>
            </a:pPr>
            <a:r>
              <a:rPr sz="2100" b="1">
                <a:solidFill>
                  <a:srgbClr val="F4F8FF"/>
                </a:solidFill>
                <a:latin typeface="Segoe UI"/>
              </a:rPr>
              <a:t>Network deliberately</a:t>
            </a:r>
          </a:p>
        </p:txBody>
      </p:sp>
      <p:sp>
        <p:nvSpPr>
          <p:cNvPr id="15" name="TextBox 14"/>
          <p:cNvSpPr txBox="1"/>
          <p:nvPr/>
        </p:nvSpPr>
        <p:spPr>
          <a:xfrm>
            <a:off x="731520" y="4334256"/>
            <a:ext cx="5029200" cy="694944"/>
          </a:xfrm>
          <a:prstGeom prst="rect">
            <a:avLst/>
          </a:prstGeom>
          <a:noFill/>
        </p:spPr>
        <p:txBody>
          <a:bodyPr wrap="square" lIns="9144" rIns="9144" tIns="18288" bIns="18288">
            <a:spAutoFit/>
          </a:bodyPr>
          <a:lstStyle/>
          <a:p>
            <a:pPr algn="l">
              <a:lnSpc>
                <a:spcPct val="112000"/>
              </a:lnSpc>
              <a:spcAft>
                <a:spcPts val="400"/>
              </a:spcAft>
            </a:pPr>
            <a:r>
              <a:rPr sz="1500" b="0">
                <a:solidFill>
                  <a:srgbClr val="A5B9D0"/>
                </a:solidFill>
                <a:latin typeface="Segoe UI"/>
              </a:rPr>
              <a:t>Choose internal or external ingress intentionally.</a:t>
            </a:r>
          </a:p>
          <a:p>
            <a:pPr algn="l">
              <a:lnSpc>
                <a:spcPct val="112000"/>
              </a:lnSpc>
              <a:spcAft>
                <a:spcPts val="400"/>
              </a:spcAft>
            </a:pPr>
            <a:r>
              <a:rPr sz="1500" b="0">
                <a:solidFill>
                  <a:srgbClr val="A5B9D0"/>
                </a:solidFill>
                <a:latin typeface="Segoe UI"/>
              </a:rPr>
              <a:t>Authenticate callers and constrain data egress.</a:t>
            </a:r>
          </a:p>
        </p:txBody>
      </p:sp>
      <p:sp>
        <p:nvSpPr>
          <p:cNvPr id="16" name="Rounded Rectangle 15"/>
          <p:cNvSpPr/>
          <p:nvPr/>
        </p:nvSpPr>
        <p:spPr>
          <a:xfrm>
            <a:off x="6217920" y="2286000"/>
            <a:ext cx="5394960" cy="128016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2404872"/>
            <a:ext cx="5029200" cy="365760"/>
          </a:xfrm>
          <a:prstGeom prst="rect">
            <a:avLst/>
          </a:prstGeom>
          <a:noFill/>
        </p:spPr>
        <p:txBody>
          <a:bodyPr wrap="square" lIns="9144" rIns="9144" tIns="18288" bIns="18288">
            <a:spAutoFit/>
          </a:bodyPr>
          <a:lstStyle/>
          <a:p>
            <a:pPr algn="l">
              <a:lnSpc>
                <a:spcPct val="112000"/>
              </a:lnSpc>
              <a:spcAft>
                <a:spcPts val="400"/>
              </a:spcAft>
            </a:pPr>
            <a:r>
              <a:rPr sz="2100" b="1">
                <a:solidFill>
                  <a:srgbClr val="F4F8FF"/>
                </a:solidFill>
                <a:latin typeface="Segoe UI"/>
              </a:rPr>
              <a:t>Protect artifacts</a:t>
            </a:r>
          </a:p>
        </p:txBody>
      </p:sp>
      <p:sp>
        <p:nvSpPr>
          <p:cNvPr id="18" name="TextBox 17"/>
          <p:cNvSpPr txBox="1"/>
          <p:nvPr/>
        </p:nvSpPr>
        <p:spPr>
          <a:xfrm>
            <a:off x="6400800" y="2852928"/>
            <a:ext cx="5029200" cy="694944"/>
          </a:xfrm>
          <a:prstGeom prst="rect">
            <a:avLst/>
          </a:prstGeom>
          <a:noFill/>
        </p:spPr>
        <p:txBody>
          <a:bodyPr wrap="square" lIns="9144" rIns="9144" tIns="18288" bIns="18288">
            <a:spAutoFit/>
          </a:bodyPr>
          <a:lstStyle/>
          <a:p>
            <a:pPr algn="l">
              <a:lnSpc>
                <a:spcPct val="112000"/>
              </a:lnSpc>
              <a:spcAft>
                <a:spcPts val="400"/>
              </a:spcAft>
            </a:pPr>
            <a:r>
              <a:rPr sz="1500" b="0">
                <a:solidFill>
                  <a:srgbClr val="A5B9D0"/>
                </a:solidFill>
                <a:latin typeface="Segoe UI"/>
              </a:rPr>
              <a:t>Pin and scan images; verify model provenance.</a:t>
            </a:r>
          </a:p>
          <a:p>
            <a:pPr algn="l">
              <a:lnSpc>
                <a:spcPct val="112000"/>
              </a:lnSpc>
              <a:spcAft>
                <a:spcPts val="400"/>
              </a:spcAft>
            </a:pPr>
            <a:r>
              <a:rPr sz="1500" b="0">
                <a:solidFill>
                  <a:srgbClr val="A5B9D0"/>
                </a:solidFill>
                <a:latin typeface="Segoe UI"/>
              </a:rPr>
              <a:t>Approve model licenses and storage locations.</a:t>
            </a:r>
          </a:p>
        </p:txBody>
      </p:sp>
      <p:sp>
        <p:nvSpPr>
          <p:cNvPr id="19" name="Rounded Rectangle 18"/>
          <p:cNvSpPr/>
          <p:nvPr/>
        </p:nvSpPr>
        <p:spPr>
          <a:xfrm>
            <a:off x="6217920" y="3767328"/>
            <a:ext cx="5394960" cy="128016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3886200"/>
            <a:ext cx="5029200" cy="365760"/>
          </a:xfrm>
          <a:prstGeom prst="rect">
            <a:avLst/>
          </a:prstGeom>
          <a:noFill/>
        </p:spPr>
        <p:txBody>
          <a:bodyPr wrap="square" lIns="9144" rIns="9144" tIns="18288" bIns="18288">
            <a:spAutoFit/>
          </a:bodyPr>
          <a:lstStyle/>
          <a:p>
            <a:pPr algn="l">
              <a:lnSpc>
                <a:spcPct val="112000"/>
              </a:lnSpc>
              <a:spcAft>
                <a:spcPts val="400"/>
              </a:spcAft>
            </a:pPr>
            <a:r>
              <a:rPr sz="2100" b="1">
                <a:solidFill>
                  <a:srgbClr val="F4F8FF"/>
                </a:solidFill>
                <a:latin typeface="Segoe UI"/>
              </a:rPr>
              <a:t>Govern data</a:t>
            </a:r>
          </a:p>
        </p:txBody>
      </p:sp>
      <p:sp>
        <p:nvSpPr>
          <p:cNvPr id="21" name="TextBox 20"/>
          <p:cNvSpPr txBox="1"/>
          <p:nvPr/>
        </p:nvSpPr>
        <p:spPr>
          <a:xfrm>
            <a:off x="6400800" y="4334256"/>
            <a:ext cx="5029200" cy="694944"/>
          </a:xfrm>
          <a:prstGeom prst="rect">
            <a:avLst/>
          </a:prstGeom>
          <a:noFill/>
        </p:spPr>
        <p:txBody>
          <a:bodyPr wrap="square" lIns="9144" rIns="9144" tIns="18288" bIns="18288">
            <a:spAutoFit/>
          </a:bodyPr>
          <a:lstStyle/>
          <a:p>
            <a:pPr algn="l">
              <a:lnSpc>
                <a:spcPct val="112000"/>
              </a:lnSpc>
              <a:spcAft>
                <a:spcPts val="400"/>
              </a:spcAft>
            </a:pPr>
            <a:r>
              <a:rPr sz="1500" b="0">
                <a:solidFill>
                  <a:srgbClr val="A5B9D0"/>
                </a:solidFill>
                <a:latin typeface="Segoe UI"/>
              </a:rPr>
              <a:t>Define retention and output access policies.</a:t>
            </a:r>
          </a:p>
          <a:p>
            <a:pPr algn="l">
              <a:lnSpc>
                <a:spcPct val="112000"/>
              </a:lnSpc>
              <a:spcAft>
                <a:spcPts val="400"/>
              </a:spcAft>
            </a:pPr>
            <a:r>
              <a:rPr sz="1500" b="0">
                <a:solidFill>
                  <a:srgbClr val="A5B9D0"/>
                </a:solidFill>
                <a:latin typeface="Segoe UI"/>
              </a:rPr>
              <a:t>Redact sensitive prompts and results from logs.</a:t>
            </a:r>
          </a:p>
        </p:txBody>
      </p:sp>
      <p:sp>
        <p:nvSpPr>
          <p:cNvPr id="22" name="Rounded Rectangle 21"/>
          <p:cNvSpPr/>
          <p:nvPr/>
        </p:nvSpPr>
        <p:spPr>
          <a:xfrm>
            <a:off x="512064" y="5623560"/>
            <a:ext cx="11109960" cy="45720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687568"/>
            <a:ext cx="10744200" cy="310896"/>
          </a:xfrm>
          <a:prstGeom prst="rect">
            <a:avLst/>
          </a:prstGeom>
          <a:noFill/>
        </p:spPr>
        <p:txBody>
          <a:bodyPr wrap="square" lIns="9144" rIns="9144" tIns="18288" bIns="18288">
            <a:spAutoFit/>
          </a:bodyPr>
          <a:lstStyle/>
          <a:p>
            <a:pPr algn="l">
              <a:lnSpc>
                <a:spcPct val="112000"/>
              </a:lnSpc>
              <a:spcAft>
                <a:spcPts val="400"/>
              </a:spcAft>
            </a:pPr>
            <a:r>
              <a:rPr sz="1500" b="1">
                <a:solidFill>
                  <a:srgbClr val="FFC66D"/>
                </a:solidFill>
                <a:latin typeface="Segoe UI"/>
              </a:rPr>
              <a:t>Data can still leave via your code, outbound calls, mounts or logs. Configure and verify each path.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9182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548640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53D5F5"/>
                </a:solidFill>
                <a:latin typeface="Segoe UI"/>
              </a:rPr>
              <a:t>14 / OBSERVABILITY</a:t>
            </a:r>
          </a:p>
        </p:txBody>
      </p:sp>
      <p:sp>
        <p:nvSpPr>
          <p:cNvPr id="4" name="TextBox 3"/>
          <p:cNvSpPr txBox="1"/>
          <p:nvPr/>
        </p:nvSpPr>
        <p:spPr>
          <a:xfrm>
            <a:off x="502920" y="786384"/>
            <a:ext cx="11109960" cy="658368"/>
          </a:xfrm>
          <a:prstGeom prst="rect">
            <a:avLst/>
          </a:prstGeom>
          <a:noFill/>
        </p:spPr>
        <p:txBody>
          <a:bodyPr wrap="square" lIns="9144" rIns="9144" tIns="18288" bIns="18288">
            <a:spAutoFit/>
          </a:bodyPr>
          <a:lstStyle/>
          <a:p>
            <a:pPr algn="l">
              <a:lnSpc>
                <a:spcPct val="112000"/>
              </a:lnSpc>
              <a:spcAft>
                <a:spcPts val="400"/>
              </a:spcAft>
            </a:pPr>
            <a:r>
              <a:rPr sz="3100" b="1">
                <a:solidFill>
                  <a:srgbClr val="F4F8FF"/>
                </a:solidFill>
                <a:latin typeface="Segoe UI"/>
              </a:rPr>
              <a:t>Measure the model, the service and the scaling loop</a:t>
            </a:r>
          </a:p>
        </p:txBody>
      </p:sp>
      <p:sp>
        <p:nvSpPr>
          <p:cNvPr id="5" name="TextBox 4"/>
          <p:cNvSpPr txBox="1"/>
          <p:nvPr/>
        </p:nvSpPr>
        <p:spPr>
          <a:xfrm>
            <a:off x="521207" y="1508760"/>
            <a:ext cx="11064240" cy="576072"/>
          </a:xfrm>
          <a:prstGeom prst="rect">
            <a:avLst/>
          </a:prstGeom>
          <a:noFill/>
        </p:spPr>
        <p:txBody>
          <a:bodyPr wrap="square" lIns="9144" rIns="9144" tIns="18288" bIns="18288">
            <a:spAutoFit/>
          </a:bodyPr>
          <a:lstStyle/>
          <a:p>
            <a:pPr algn="l">
              <a:lnSpc>
                <a:spcPct val="112000"/>
              </a:lnSpc>
              <a:spcAft>
                <a:spcPts val="400"/>
              </a:spcAft>
            </a:pPr>
            <a:r>
              <a:rPr sz="1700" b="0">
                <a:solidFill>
                  <a:srgbClr val="A5B9D0"/>
                </a:solidFill>
                <a:latin typeface="Segoe UI"/>
              </a:rPr>
              <a:t>Collect application and runtime metrics explicitly; not every GPU metric is emitted by default.</a:t>
            </a:r>
          </a:p>
        </p:txBody>
      </p:sp>
      <p:cxnSp>
        <p:nvCxnSpPr>
          <p:cNvPr id="6" name="Connector 5"/>
          <p:cNvCxnSpPr/>
          <p:nvPr/>
        </p:nvCxnSpPr>
        <p:spPr>
          <a:xfrm>
            <a:off x="502920" y="6327648"/>
            <a:ext cx="11155680" cy="0"/>
          </a:xfrm>
          <a:prstGeom prst="line">
            <a:avLst/>
          </a:prstGeom>
          <a:ln w="10160">
            <a:solidFill>
              <a:srgbClr val="29435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21207" y="6473952"/>
            <a:ext cx="5303520" cy="201168"/>
          </a:xfrm>
          <a:prstGeom prst="rect">
            <a:avLst/>
          </a:prstGeom>
          <a:noFill/>
        </p:spPr>
        <p:txBody>
          <a:bodyPr wrap="square" lIns="9144" rIns="9144" tIns="18288" bIns="18288">
            <a:spAutoFit/>
          </a:bodyPr>
          <a:lstStyle/>
          <a:p>
            <a:pPr algn="l">
              <a:lnSpc>
                <a:spcPct val="112000"/>
              </a:lnSpc>
              <a:spcAft>
                <a:spcPts val="400"/>
              </a:spcAft>
            </a:pPr>
            <a:r>
              <a:rPr sz="900" b="0">
                <a:solidFill>
                  <a:srgbClr val="A5B9D0"/>
                </a:solidFill>
                <a:latin typeface="Segoe UI"/>
              </a:rPr>
              <a:t>AZURE CONTAINER APPS  /  SERVERLESS GPU</a:t>
            </a:r>
          </a:p>
        </p:txBody>
      </p:sp>
      <p:sp>
        <p:nvSpPr>
          <p:cNvPr id="8" name="TextBox 7"/>
          <p:cNvSpPr txBox="1"/>
          <p:nvPr/>
        </p:nvSpPr>
        <p:spPr>
          <a:xfrm>
            <a:off x="5486400" y="6455664"/>
            <a:ext cx="5303520" cy="256032"/>
          </a:xfrm>
          <a:prstGeom prst="rect">
            <a:avLst/>
          </a:prstGeom>
          <a:noFill/>
        </p:spPr>
        <p:txBody>
          <a:bodyPr wrap="square" lIns="9144" rIns="9144" tIns="18288" bIns="18288">
            <a:spAutoFit/>
          </a:bodyPr>
          <a:lstStyle/>
          <a:p>
            <a:pPr algn="r">
              <a:lnSpc>
                <a:spcPct val="112000"/>
              </a:lnSpc>
              <a:spcAft>
                <a:spcPts val="400"/>
              </a:spcAft>
            </a:pPr>
            <a:r>
              <a:rPr sz="900" b="0">
                <a:solidFill>
                  <a:srgbClr val="A5B9D0"/>
                </a:solidFill>
                <a:latin typeface="Segoe UI"/>
                <a:hlinkClick r:id="rId2"/>
              </a:rPr>
              <a:t>Source: Cold starts | Scaling | Health probes</a:t>
            </a:r>
          </a:p>
        </p:txBody>
      </p:sp>
      <p:sp>
        <p:nvSpPr>
          <p:cNvPr id="9" name="TextBox 8"/>
          <p:cNvSpPr txBox="1"/>
          <p:nvPr/>
        </p:nvSpPr>
        <p:spPr>
          <a:xfrm>
            <a:off x="11082528" y="6428232"/>
            <a:ext cx="548640" cy="274320"/>
          </a:xfrm>
          <a:prstGeom prst="rect">
            <a:avLst/>
          </a:prstGeom>
          <a:noFill/>
        </p:spPr>
        <p:txBody>
          <a:bodyPr wrap="square" lIns="9144" rIns="9144" tIns="18288" bIns="18288">
            <a:spAutoFit/>
          </a:bodyPr>
          <a:lstStyle/>
          <a:p>
            <a:pPr algn="r">
              <a:lnSpc>
                <a:spcPct val="112000"/>
              </a:lnSpc>
              <a:spcAft>
                <a:spcPts val="400"/>
              </a:spcAft>
            </a:pPr>
            <a:r>
              <a:rPr sz="1200" b="0">
                <a:solidFill>
                  <a:srgbClr val="53D5F5"/>
                </a:solidFill>
                <a:latin typeface="Segoe UI"/>
              </a:rPr>
              <a:t>15</a:t>
            </a:r>
          </a:p>
        </p:txBody>
      </p:sp>
      <p:sp>
        <p:nvSpPr>
          <p:cNvPr id="10" name="Rounded Rectangle 9"/>
          <p:cNvSpPr/>
          <p:nvPr/>
        </p:nvSpPr>
        <p:spPr>
          <a:xfrm>
            <a:off x="512064" y="2286000"/>
            <a:ext cx="3547872" cy="301752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487168"/>
            <a:ext cx="310896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53D5F5"/>
                </a:solidFill>
                <a:latin typeface="Segoe UI"/>
              </a:rPr>
              <a:t>USER EXPERIENCE</a:t>
            </a:r>
          </a:p>
        </p:txBody>
      </p:sp>
      <p:sp>
        <p:nvSpPr>
          <p:cNvPr id="12" name="TextBox 11"/>
          <p:cNvSpPr txBox="1"/>
          <p:nvPr/>
        </p:nvSpPr>
        <p:spPr>
          <a:xfrm>
            <a:off x="731520" y="2990088"/>
            <a:ext cx="3108960" cy="850392"/>
          </a:xfrm>
          <a:prstGeom prst="rect">
            <a:avLst/>
          </a:prstGeom>
          <a:noFill/>
        </p:spPr>
        <p:txBody>
          <a:bodyPr wrap="square" lIns="9144" rIns="9144" tIns="18288" bIns="18288">
            <a:spAutoFit/>
          </a:bodyPr>
          <a:lstStyle/>
          <a:p>
            <a:pPr algn="l">
              <a:lnSpc>
                <a:spcPct val="112000"/>
              </a:lnSpc>
              <a:spcAft>
                <a:spcPts val="400"/>
              </a:spcAft>
            </a:pPr>
            <a:r>
              <a:rPr sz="2300" b="1">
                <a:solidFill>
                  <a:srgbClr val="F4F8FF"/>
                </a:solidFill>
                <a:latin typeface="Segoe UI"/>
              </a:rPr>
              <a:t>Did the request succeed?</a:t>
            </a:r>
          </a:p>
        </p:txBody>
      </p:sp>
      <p:sp>
        <p:nvSpPr>
          <p:cNvPr id="13" name="TextBox 12"/>
          <p:cNvSpPr txBox="1"/>
          <p:nvPr/>
        </p:nvSpPr>
        <p:spPr>
          <a:xfrm>
            <a:off x="731520" y="3895344"/>
            <a:ext cx="3108960" cy="1335023"/>
          </a:xfrm>
          <a:prstGeom prst="rect">
            <a:avLst/>
          </a:prstGeom>
          <a:noFill/>
        </p:spPr>
        <p:txBody>
          <a:bodyPr wrap="square" lIns="9144" rIns="9144" tIns="18288" bIns="18288">
            <a:spAutoFit/>
          </a:bodyPr>
          <a:lstStyle/>
          <a:p>
            <a:pPr algn="l">
              <a:lnSpc>
                <a:spcPct val="112000"/>
              </a:lnSpc>
              <a:spcAft>
                <a:spcPts val="400"/>
              </a:spcAft>
            </a:pPr>
            <a:r>
              <a:rPr sz="1700" b="0">
                <a:solidFill>
                  <a:srgbClr val="A5B9D0"/>
                </a:solidFill>
                <a:latin typeface="Segoe UI"/>
              </a:rPr>
              <a:t>End-to-end p50 / p95 latency</a:t>
            </a:r>
          </a:p>
          <a:p>
            <a:pPr algn="l">
              <a:lnSpc>
                <a:spcPct val="112000"/>
              </a:lnSpc>
              <a:spcAft>
                <a:spcPts val="400"/>
              </a:spcAft>
            </a:pPr>
            <a:r>
              <a:rPr sz="1700" b="0">
                <a:solidFill>
                  <a:srgbClr val="A5B9D0"/>
                </a:solidFill>
                <a:latin typeface="Segoe UI"/>
              </a:rPr>
              <a:t>Time to first token or result</a:t>
            </a:r>
          </a:p>
          <a:p>
            <a:pPr algn="l">
              <a:lnSpc>
                <a:spcPct val="112000"/>
              </a:lnSpc>
              <a:spcAft>
                <a:spcPts val="400"/>
              </a:spcAft>
            </a:pPr>
            <a:r>
              <a:rPr sz="1700" b="0">
                <a:solidFill>
                  <a:srgbClr val="A5B9D0"/>
                </a:solidFill>
                <a:latin typeface="Segoe UI"/>
              </a:rPr>
              <a:t>Errors, timeouts and retries</a:t>
            </a:r>
          </a:p>
          <a:p>
            <a:pPr algn="l">
              <a:lnSpc>
                <a:spcPct val="112000"/>
              </a:lnSpc>
              <a:spcAft>
                <a:spcPts val="400"/>
              </a:spcAft>
            </a:pPr>
            <a:r>
              <a:rPr sz="1700" b="0">
                <a:solidFill>
                  <a:srgbClr val="A5B9D0"/>
                </a:solidFill>
                <a:latin typeface="Segoe UI"/>
              </a:rPr>
              <a:t>Queue wait and abandonment</a:t>
            </a:r>
          </a:p>
        </p:txBody>
      </p:sp>
      <p:sp>
        <p:nvSpPr>
          <p:cNvPr id="14" name="Rounded Rectangle 13"/>
          <p:cNvSpPr/>
          <p:nvPr/>
        </p:nvSpPr>
        <p:spPr>
          <a:xfrm>
            <a:off x="4315968" y="2286000"/>
            <a:ext cx="3547872" cy="301752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35424" y="2487168"/>
            <a:ext cx="310896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70E0BA"/>
                </a:solidFill>
                <a:latin typeface="Segoe UI"/>
              </a:rPr>
              <a:t>GPU RUNTIME</a:t>
            </a:r>
          </a:p>
        </p:txBody>
      </p:sp>
      <p:sp>
        <p:nvSpPr>
          <p:cNvPr id="16" name="TextBox 15"/>
          <p:cNvSpPr txBox="1"/>
          <p:nvPr/>
        </p:nvSpPr>
        <p:spPr>
          <a:xfrm>
            <a:off x="4535424" y="2990088"/>
            <a:ext cx="3108960" cy="850392"/>
          </a:xfrm>
          <a:prstGeom prst="rect">
            <a:avLst/>
          </a:prstGeom>
          <a:noFill/>
        </p:spPr>
        <p:txBody>
          <a:bodyPr wrap="square" lIns="9144" rIns="9144" tIns="18288" bIns="18288">
            <a:spAutoFit/>
          </a:bodyPr>
          <a:lstStyle/>
          <a:p>
            <a:pPr algn="l">
              <a:lnSpc>
                <a:spcPct val="112000"/>
              </a:lnSpc>
              <a:spcAft>
                <a:spcPts val="400"/>
              </a:spcAft>
            </a:pPr>
            <a:r>
              <a:rPr sz="2300" b="1">
                <a:solidFill>
                  <a:srgbClr val="F4F8FF"/>
                </a:solidFill>
                <a:latin typeface="Segoe UI"/>
              </a:rPr>
              <a:t>Is the model healthy?</a:t>
            </a:r>
          </a:p>
        </p:txBody>
      </p:sp>
      <p:sp>
        <p:nvSpPr>
          <p:cNvPr id="17" name="TextBox 16"/>
          <p:cNvSpPr txBox="1"/>
          <p:nvPr/>
        </p:nvSpPr>
        <p:spPr>
          <a:xfrm>
            <a:off x="4535424" y="3895344"/>
            <a:ext cx="3108960" cy="1335023"/>
          </a:xfrm>
          <a:prstGeom prst="rect">
            <a:avLst/>
          </a:prstGeom>
          <a:noFill/>
        </p:spPr>
        <p:txBody>
          <a:bodyPr wrap="square" lIns="9144" rIns="9144" tIns="18288" bIns="18288">
            <a:spAutoFit/>
          </a:bodyPr>
          <a:lstStyle/>
          <a:p>
            <a:pPr algn="l">
              <a:lnSpc>
                <a:spcPct val="112000"/>
              </a:lnSpc>
              <a:spcAft>
                <a:spcPts val="400"/>
              </a:spcAft>
            </a:pPr>
            <a:r>
              <a:rPr sz="1700" b="0">
                <a:solidFill>
                  <a:srgbClr val="A5B9D0"/>
                </a:solidFill>
                <a:latin typeface="Segoe UI"/>
              </a:rPr>
              <a:t>GPU memory and OOMs</a:t>
            </a:r>
          </a:p>
          <a:p>
            <a:pPr algn="l">
              <a:lnSpc>
                <a:spcPct val="112000"/>
              </a:lnSpc>
              <a:spcAft>
                <a:spcPts val="400"/>
              </a:spcAft>
            </a:pPr>
            <a:r>
              <a:rPr sz="1700" b="0">
                <a:solidFill>
                  <a:srgbClr val="A5B9D0"/>
                </a:solidFill>
                <a:latin typeface="Segoe UI"/>
              </a:rPr>
              <a:t>Model-load / warm-up time</a:t>
            </a:r>
          </a:p>
          <a:p>
            <a:pPr algn="l">
              <a:lnSpc>
                <a:spcPct val="112000"/>
              </a:lnSpc>
              <a:spcAft>
                <a:spcPts val="400"/>
              </a:spcAft>
            </a:pPr>
            <a:r>
              <a:rPr sz="1700" b="0">
                <a:solidFill>
                  <a:srgbClr val="A5B9D0"/>
                </a:solidFill>
                <a:latin typeface="Segoe UI"/>
              </a:rPr>
              <a:t>Throughput and batch size</a:t>
            </a:r>
          </a:p>
          <a:p>
            <a:pPr algn="l">
              <a:lnSpc>
                <a:spcPct val="112000"/>
              </a:lnSpc>
              <a:spcAft>
                <a:spcPts val="400"/>
              </a:spcAft>
            </a:pPr>
            <a:r>
              <a:rPr sz="1700" b="0">
                <a:solidFill>
                  <a:srgbClr val="A5B9D0"/>
                </a:solidFill>
                <a:latin typeface="Segoe UI"/>
              </a:rPr>
              <a:t>Device and model revision</a:t>
            </a:r>
          </a:p>
        </p:txBody>
      </p:sp>
      <p:sp>
        <p:nvSpPr>
          <p:cNvPr id="18" name="Rounded Rectangle 17"/>
          <p:cNvSpPr/>
          <p:nvPr/>
        </p:nvSpPr>
        <p:spPr>
          <a:xfrm>
            <a:off x="8119872" y="2286000"/>
            <a:ext cx="3502152" cy="301752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39328" y="2487168"/>
            <a:ext cx="306324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FFC66D"/>
                </a:solidFill>
                <a:latin typeface="Segoe UI"/>
              </a:rPr>
              <a:t>PLATFORM &amp; COST</a:t>
            </a:r>
          </a:p>
        </p:txBody>
      </p:sp>
      <p:sp>
        <p:nvSpPr>
          <p:cNvPr id="20" name="TextBox 19"/>
          <p:cNvSpPr txBox="1"/>
          <p:nvPr/>
        </p:nvSpPr>
        <p:spPr>
          <a:xfrm>
            <a:off x="8339328" y="2990088"/>
            <a:ext cx="3063240" cy="850392"/>
          </a:xfrm>
          <a:prstGeom prst="rect">
            <a:avLst/>
          </a:prstGeom>
          <a:noFill/>
        </p:spPr>
        <p:txBody>
          <a:bodyPr wrap="square" lIns="9144" rIns="9144" tIns="18288" bIns="18288">
            <a:spAutoFit/>
          </a:bodyPr>
          <a:lstStyle/>
          <a:p>
            <a:pPr algn="l">
              <a:lnSpc>
                <a:spcPct val="112000"/>
              </a:lnSpc>
              <a:spcAft>
                <a:spcPts val="400"/>
              </a:spcAft>
            </a:pPr>
            <a:r>
              <a:rPr sz="2300" b="1">
                <a:solidFill>
                  <a:srgbClr val="F4F8FF"/>
                </a:solidFill>
                <a:latin typeface="Segoe UI"/>
              </a:rPr>
              <a:t>Is elasticity working?</a:t>
            </a:r>
          </a:p>
        </p:txBody>
      </p:sp>
      <p:sp>
        <p:nvSpPr>
          <p:cNvPr id="21" name="TextBox 20"/>
          <p:cNvSpPr txBox="1"/>
          <p:nvPr/>
        </p:nvSpPr>
        <p:spPr>
          <a:xfrm>
            <a:off x="8339328" y="3895344"/>
            <a:ext cx="3063240" cy="1335023"/>
          </a:xfrm>
          <a:prstGeom prst="rect">
            <a:avLst/>
          </a:prstGeom>
          <a:noFill/>
        </p:spPr>
        <p:txBody>
          <a:bodyPr wrap="square" lIns="9144" rIns="9144" tIns="18288" bIns="18288">
            <a:spAutoFit/>
          </a:bodyPr>
          <a:lstStyle/>
          <a:p>
            <a:pPr algn="l">
              <a:lnSpc>
                <a:spcPct val="112000"/>
              </a:lnSpc>
              <a:spcAft>
                <a:spcPts val="400"/>
              </a:spcAft>
            </a:pPr>
            <a:r>
              <a:rPr sz="1700" b="0">
                <a:solidFill>
                  <a:srgbClr val="A5B9D0"/>
                </a:solidFill>
                <a:latin typeface="Segoe UI"/>
              </a:rPr>
              <a:t>Replica counts by revision</a:t>
            </a:r>
          </a:p>
          <a:p>
            <a:pPr algn="l">
              <a:lnSpc>
                <a:spcPct val="112000"/>
              </a:lnSpc>
              <a:spcAft>
                <a:spcPts val="400"/>
              </a:spcAft>
            </a:pPr>
            <a:r>
              <a:rPr sz="1700" b="0">
                <a:solidFill>
                  <a:srgbClr val="A5B9D0"/>
                </a:solidFill>
                <a:latin typeface="Segoe UI"/>
              </a:rPr>
              <a:t>Activation and restart events</a:t>
            </a:r>
          </a:p>
          <a:p>
            <a:pPr algn="l">
              <a:lnSpc>
                <a:spcPct val="112000"/>
              </a:lnSpc>
              <a:spcAft>
                <a:spcPts val="400"/>
              </a:spcAft>
            </a:pPr>
            <a:r>
              <a:rPr sz="1700" b="0">
                <a:solidFill>
                  <a:srgbClr val="A5B9D0"/>
                </a:solidFill>
                <a:latin typeface="Segoe UI"/>
              </a:rPr>
              <a:t>Quota / capacity failures</a:t>
            </a:r>
          </a:p>
          <a:p>
            <a:pPr algn="l">
              <a:lnSpc>
                <a:spcPct val="112000"/>
              </a:lnSpc>
              <a:spcAft>
                <a:spcPts val="400"/>
              </a:spcAft>
            </a:pPr>
            <a:r>
              <a:rPr sz="1700" b="0">
                <a:solidFill>
                  <a:srgbClr val="A5B9D0"/>
                </a:solidFill>
                <a:latin typeface="Segoe UI"/>
              </a:rPr>
              <a:t>Allocated time and spend</a:t>
            </a:r>
          </a:p>
        </p:txBody>
      </p:sp>
      <p:sp>
        <p:nvSpPr>
          <p:cNvPr id="22" name="Rounded Rectangle 21"/>
          <p:cNvSpPr/>
          <p:nvPr/>
        </p:nvSpPr>
        <p:spPr>
          <a:xfrm>
            <a:off x="512064" y="5623560"/>
            <a:ext cx="11109960" cy="45720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687568"/>
            <a:ext cx="10744200" cy="310896"/>
          </a:xfrm>
          <a:prstGeom prst="rect">
            <a:avLst/>
          </a:prstGeom>
          <a:noFill/>
        </p:spPr>
        <p:txBody>
          <a:bodyPr wrap="square" lIns="9144" rIns="9144" tIns="18288" bIns="18288">
            <a:spAutoFit/>
          </a:bodyPr>
          <a:lstStyle/>
          <a:p>
            <a:pPr algn="l">
              <a:lnSpc>
                <a:spcPct val="112000"/>
              </a:lnSpc>
              <a:spcAft>
                <a:spcPts val="400"/>
              </a:spcAft>
            </a:pPr>
            <a:r>
              <a:rPr sz="1500" b="1">
                <a:solidFill>
                  <a:srgbClr val="53D5F5"/>
                </a:solidFill>
                <a:latin typeface="Segoe UI"/>
              </a:rPr>
              <a:t>Correlate requests, model version and replica/revision IDs so failures can be reproduced.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9182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548640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53D5F5"/>
                </a:solidFill>
                <a:latin typeface="Segoe UI"/>
              </a:rPr>
              <a:t>15 / CONSTRAINTS</a:t>
            </a:r>
          </a:p>
        </p:txBody>
      </p:sp>
      <p:sp>
        <p:nvSpPr>
          <p:cNvPr id="4" name="TextBox 3"/>
          <p:cNvSpPr txBox="1"/>
          <p:nvPr/>
        </p:nvSpPr>
        <p:spPr>
          <a:xfrm>
            <a:off x="502920" y="786384"/>
            <a:ext cx="11109960" cy="658368"/>
          </a:xfrm>
          <a:prstGeom prst="rect">
            <a:avLst/>
          </a:prstGeom>
          <a:noFill/>
        </p:spPr>
        <p:txBody>
          <a:bodyPr wrap="square" lIns="9144" rIns="9144" tIns="18288" bIns="18288">
            <a:spAutoFit/>
          </a:bodyPr>
          <a:lstStyle/>
          <a:p>
            <a:pPr algn="l">
              <a:lnSpc>
                <a:spcPct val="112000"/>
              </a:lnSpc>
              <a:spcAft>
                <a:spcPts val="400"/>
              </a:spcAft>
            </a:pPr>
            <a:r>
              <a:rPr sz="3100" b="1">
                <a:solidFill>
                  <a:srgbClr val="F4F8FF"/>
                </a:solidFill>
                <a:latin typeface="Segoe UI"/>
              </a:rPr>
              <a:t>Know the limits before committing the architecture</a:t>
            </a:r>
          </a:p>
        </p:txBody>
      </p:sp>
      <p:sp>
        <p:nvSpPr>
          <p:cNvPr id="5" name="TextBox 4"/>
          <p:cNvSpPr txBox="1"/>
          <p:nvPr/>
        </p:nvSpPr>
        <p:spPr>
          <a:xfrm>
            <a:off x="521207" y="1508760"/>
            <a:ext cx="11064240" cy="576072"/>
          </a:xfrm>
          <a:prstGeom prst="rect">
            <a:avLst/>
          </a:prstGeom>
          <a:noFill/>
        </p:spPr>
        <p:txBody>
          <a:bodyPr wrap="square" lIns="9144" rIns="9144" tIns="18288" bIns="18288">
            <a:spAutoFit/>
          </a:bodyPr>
          <a:lstStyle/>
          <a:p>
            <a:pPr algn="l">
              <a:lnSpc>
                <a:spcPct val="112000"/>
              </a:lnSpc>
              <a:spcAft>
                <a:spcPts val="400"/>
              </a:spcAft>
            </a:pPr>
            <a:r>
              <a:rPr sz="1700" b="0">
                <a:solidFill>
                  <a:srgbClr val="A5B9D0"/>
                </a:solidFill>
                <a:latin typeface="Segoe UI"/>
              </a:rPr>
              <a:t>Scale-out means more single-GPU replicas, not a larger multi-GPU replica.</a:t>
            </a:r>
          </a:p>
        </p:txBody>
      </p:sp>
      <p:cxnSp>
        <p:nvCxnSpPr>
          <p:cNvPr id="6" name="Connector 5"/>
          <p:cNvCxnSpPr/>
          <p:nvPr/>
        </p:nvCxnSpPr>
        <p:spPr>
          <a:xfrm>
            <a:off x="502920" y="6327648"/>
            <a:ext cx="11155680" cy="0"/>
          </a:xfrm>
          <a:prstGeom prst="line">
            <a:avLst/>
          </a:prstGeom>
          <a:ln w="10160">
            <a:solidFill>
              <a:srgbClr val="29435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21207" y="6473952"/>
            <a:ext cx="5303520" cy="201168"/>
          </a:xfrm>
          <a:prstGeom prst="rect">
            <a:avLst/>
          </a:prstGeom>
          <a:noFill/>
        </p:spPr>
        <p:txBody>
          <a:bodyPr wrap="square" lIns="9144" rIns="9144" tIns="18288" bIns="18288">
            <a:spAutoFit/>
          </a:bodyPr>
          <a:lstStyle/>
          <a:p>
            <a:pPr algn="l">
              <a:lnSpc>
                <a:spcPct val="112000"/>
              </a:lnSpc>
              <a:spcAft>
                <a:spcPts val="400"/>
              </a:spcAft>
            </a:pPr>
            <a:r>
              <a:rPr sz="900" b="0">
                <a:solidFill>
                  <a:srgbClr val="A5B9D0"/>
                </a:solidFill>
                <a:latin typeface="Segoe UI"/>
              </a:rPr>
              <a:t>AZURE CONTAINER APPS  /  SERVERLESS GPU</a:t>
            </a:r>
          </a:p>
        </p:txBody>
      </p:sp>
      <p:sp>
        <p:nvSpPr>
          <p:cNvPr id="8" name="TextBox 7"/>
          <p:cNvSpPr txBox="1"/>
          <p:nvPr/>
        </p:nvSpPr>
        <p:spPr>
          <a:xfrm>
            <a:off x="5486400" y="6455664"/>
            <a:ext cx="5303520" cy="256032"/>
          </a:xfrm>
          <a:prstGeom prst="rect">
            <a:avLst/>
          </a:prstGeom>
          <a:noFill/>
        </p:spPr>
        <p:txBody>
          <a:bodyPr wrap="square" lIns="9144" rIns="9144" tIns="18288" bIns="18288">
            <a:spAutoFit/>
          </a:bodyPr>
          <a:lstStyle/>
          <a:p>
            <a:pPr algn="r">
              <a:lnSpc>
                <a:spcPct val="112000"/>
              </a:lnSpc>
              <a:spcAft>
                <a:spcPts val="400"/>
              </a:spcAft>
            </a:pPr>
            <a:r>
              <a:rPr sz="900" b="0">
                <a:solidFill>
                  <a:srgbClr val="A5B9D0"/>
                </a:solidFill>
                <a:latin typeface="Segoe UI"/>
                <a:hlinkClick r:id="rId2"/>
              </a:rPr>
              <a:t>Source: GPU overview | Health probes</a:t>
            </a:r>
          </a:p>
        </p:txBody>
      </p:sp>
      <p:sp>
        <p:nvSpPr>
          <p:cNvPr id="9" name="TextBox 8"/>
          <p:cNvSpPr txBox="1"/>
          <p:nvPr/>
        </p:nvSpPr>
        <p:spPr>
          <a:xfrm>
            <a:off x="11082528" y="6428232"/>
            <a:ext cx="548640" cy="274320"/>
          </a:xfrm>
          <a:prstGeom prst="rect">
            <a:avLst/>
          </a:prstGeom>
          <a:noFill/>
        </p:spPr>
        <p:txBody>
          <a:bodyPr wrap="square" lIns="9144" rIns="9144" tIns="18288" bIns="18288">
            <a:spAutoFit/>
          </a:bodyPr>
          <a:lstStyle/>
          <a:p>
            <a:pPr algn="r">
              <a:lnSpc>
                <a:spcPct val="112000"/>
              </a:lnSpc>
              <a:spcAft>
                <a:spcPts val="400"/>
              </a:spcAft>
            </a:pPr>
            <a:r>
              <a:rPr sz="1200" b="0">
                <a:solidFill>
                  <a:srgbClr val="53D5F5"/>
                </a:solidFill>
                <a:latin typeface="Segoe UI"/>
              </a:rPr>
              <a:t>16</a:t>
            </a:r>
          </a:p>
        </p:txBody>
      </p:sp>
      <p:sp>
        <p:nvSpPr>
          <p:cNvPr id="10" name="Oval 9"/>
          <p:cNvSpPr/>
          <p:nvPr/>
        </p:nvSpPr>
        <p:spPr>
          <a:xfrm>
            <a:off x="594360" y="2240280"/>
            <a:ext cx="438912" cy="43891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272284"/>
            <a:ext cx="438912" cy="292608"/>
          </a:xfrm>
          <a:prstGeom prst="rect">
            <a:avLst/>
          </a:prstGeom>
          <a:noFill/>
        </p:spPr>
        <p:txBody>
          <a:bodyPr wrap="square" lIns="9144" rIns="9144" tIns="18288" bIns="18288">
            <a:spAutoFit/>
          </a:bodyPr>
          <a:lstStyle/>
          <a:p>
            <a:pPr algn="ctr">
              <a:lnSpc>
                <a:spcPct val="112000"/>
              </a:lnSpc>
              <a:spcAft>
                <a:spcPts val="400"/>
              </a:spcAft>
            </a:pPr>
            <a:r>
              <a:rPr sz="1600" b="1">
                <a:solidFill>
                  <a:srgbClr val="F4F8FF"/>
                </a:solidFill>
                <a:latin typeface="Segoe UI"/>
              </a:rPr>
              <a:t>1</a:t>
            </a:r>
          </a:p>
        </p:txBody>
      </p:sp>
      <p:sp>
        <p:nvSpPr>
          <p:cNvPr id="12" name="TextBox 11"/>
          <p:cNvSpPr txBox="1"/>
          <p:nvPr/>
        </p:nvSpPr>
        <p:spPr>
          <a:xfrm>
            <a:off x="1252728" y="2226564"/>
            <a:ext cx="10195560" cy="347472"/>
          </a:xfrm>
          <a:prstGeom prst="rect">
            <a:avLst/>
          </a:prstGeom>
          <a:noFill/>
        </p:spPr>
        <p:txBody>
          <a:bodyPr wrap="square" lIns="9144" rIns="9144" tIns="18288" bIns="18288">
            <a:spAutoFit/>
          </a:bodyPr>
          <a:lstStyle/>
          <a:p>
            <a:pPr algn="l">
              <a:lnSpc>
                <a:spcPct val="112000"/>
              </a:lnSpc>
              <a:spcAft>
                <a:spcPts val="400"/>
              </a:spcAft>
            </a:pPr>
            <a:r>
              <a:rPr sz="2000" b="1">
                <a:solidFill>
                  <a:srgbClr val="F4F8FF"/>
                </a:solidFill>
                <a:latin typeface="Segoe UI"/>
              </a:rPr>
              <a:t>One GPU per replica; no multi-GPU or fractional-GPU replicas</a:t>
            </a:r>
          </a:p>
        </p:txBody>
      </p:sp>
      <p:sp>
        <p:nvSpPr>
          <p:cNvPr id="13" name="TextBox 12"/>
          <p:cNvSpPr txBox="1"/>
          <p:nvPr/>
        </p:nvSpPr>
        <p:spPr>
          <a:xfrm>
            <a:off x="1252728" y="2606040"/>
            <a:ext cx="10195560" cy="621792"/>
          </a:xfrm>
          <a:prstGeom prst="rect">
            <a:avLst/>
          </a:prstGeom>
          <a:noFill/>
        </p:spPr>
        <p:txBody>
          <a:bodyPr wrap="square" lIns="9144" rIns="9144" tIns="18288" bIns="18288">
            <a:spAutoFit/>
          </a:bodyPr>
          <a:lstStyle/>
          <a:p>
            <a:pPr algn="l">
              <a:lnSpc>
                <a:spcPct val="112000"/>
              </a:lnSpc>
              <a:spcAft>
                <a:spcPts val="400"/>
              </a:spcAft>
            </a:pPr>
            <a:r>
              <a:rPr sz="1600" b="0">
                <a:solidFill>
                  <a:srgbClr val="A5B9D0"/>
                </a:solidFill>
                <a:latin typeface="Segoe UI"/>
              </a:rPr>
              <a:t>Plan memory fit on one GPU. More replicas do not automatically shard a large model.</a:t>
            </a:r>
          </a:p>
        </p:txBody>
      </p:sp>
      <p:sp>
        <p:nvSpPr>
          <p:cNvPr id="14" name="Oval 13"/>
          <p:cNvSpPr/>
          <p:nvPr/>
        </p:nvSpPr>
        <p:spPr>
          <a:xfrm>
            <a:off x="594360" y="3255264"/>
            <a:ext cx="438912" cy="43891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287268"/>
            <a:ext cx="438912" cy="292608"/>
          </a:xfrm>
          <a:prstGeom prst="rect">
            <a:avLst/>
          </a:prstGeom>
          <a:noFill/>
        </p:spPr>
        <p:txBody>
          <a:bodyPr wrap="square" lIns="9144" rIns="9144" tIns="18288" bIns="18288">
            <a:spAutoFit/>
          </a:bodyPr>
          <a:lstStyle/>
          <a:p>
            <a:pPr algn="ctr">
              <a:lnSpc>
                <a:spcPct val="112000"/>
              </a:lnSpc>
              <a:spcAft>
                <a:spcPts val="400"/>
              </a:spcAft>
            </a:pPr>
            <a:r>
              <a:rPr sz="1600" b="1">
                <a:solidFill>
                  <a:srgbClr val="F4F8FF"/>
                </a:solidFill>
                <a:latin typeface="Segoe UI"/>
              </a:rPr>
              <a:t>2</a:t>
            </a:r>
          </a:p>
        </p:txBody>
      </p:sp>
      <p:sp>
        <p:nvSpPr>
          <p:cNvPr id="16" name="TextBox 15"/>
          <p:cNvSpPr txBox="1"/>
          <p:nvPr/>
        </p:nvSpPr>
        <p:spPr>
          <a:xfrm>
            <a:off x="1252728" y="3241548"/>
            <a:ext cx="10195560" cy="347472"/>
          </a:xfrm>
          <a:prstGeom prst="rect">
            <a:avLst/>
          </a:prstGeom>
          <a:noFill/>
        </p:spPr>
        <p:txBody>
          <a:bodyPr wrap="square" lIns="9144" rIns="9144" tIns="18288" bIns="18288">
            <a:spAutoFit/>
          </a:bodyPr>
          <a:lstStyle/>
          <a:p>
            <a:pPr algn="l">
              <a:lnSpc>
                <a:spcPct val="112000"/>
              </a:lnSpc>
              <a:spcAft>
                <a:spcPts val="400"/>
              </a:spcAft>
            </a:pPr>
            <a:r>
              <a:rPr sz="2000" b="1">
                <a:solidFill>
                  <a:srgbClr val="F4F8FF"/>
                </a:solidFill>
                <a:latin typeface="Segoe UI"/>
              </a:rPr>
              <a:t>Only the first container in the app gets GPU access</a:t>
            </a:r>
          </a:p>
        </p:txBody>
      </p:sp>
      <p:sp>
        <p:nvSpPr>
          <p:cNvPr id="17" name="TextBox 16"/>
          <p:cNvSpPr txBox="1"/>
          <p:nvPr/>
        </p:nvSpPr>
        <p:spPr>
          <a:xfrm>
            <a:off x="1252728" y="3621024"/>
            <a:ext cx="10195560" cy="621792"/>
          </a:xfrm>
          <a:prstGeom prst="rect">
            <a:avLst/>
          </a:prstGeom>
          <a:noFill/>
        </p:spPr>
        <p:txBody>
          <a:bodyPr wrap="square" lIns="9144" rIns="9144" tIns="18288" bIns="18288">
            <a:spAutoFit/>
          </a:bodyPr>
          <a:lstStyle/>
          <a:p>
            <a:pPr algn="l">
              <a:lnSpc>
                <a:spcPct val="112000"/>
              </a:lnSpc>
              <a:spcAft>
                <a:spcPts val="400"/>
              </a:spcAft>
            </a:pPr>
            <a:r>
              <a:rPr sz="1600" b="0">
                <a:solidFill>
                  <a:srgbClr val="A5B9D0"/>
                </a:solidFill>
                <a:latin typeface="Segoe UI"/>
              </a:rPr>
              <a:t>Place the inference container first. Sharing a GPU profile does not mean sharing one replica.</a:t>
            </a:r>
          </a:p>
        </p:txBody>
      </p:sp>
      <p:sp>
        <p:nvSpPr>
          <p:cNvPr id="18" name="Oval 17"/>
          <p:cNvSpPr/>
          <p:nvPr/>
        </p:nvSpPr>
        <p:spPr>
          <a:xfrm>
            <a:off x="594360" y="4270248"/>
            <a:ext cx="438912" cy="43891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4302252"/>
            <a:ext cx="438912" cy="292608"/>
          </a:xfrm>
          <a:prstGeom prst="rect">
            <a:avLst/>
          </a:prstGeom>
          <a:noFill/>
        </p:spPr>
        <p:txBody>
          <a:bodyPr wrap="square" lIns="9144" rIns="9144" tIns="18288" bIns="18288">
            <a:spAutoFit/>
          </a:bodyPr>
          <a:lstStyle/>
          <a:p>
            <a:pPr algn="ctr">
              <a:lnSpc>
                <a:spcPct val="112000"/>
              </a:lnSpc>
              <a:spcAft>
                <a:spcPts val="400"/>
              </a:spcAft>
            </a:pPr>
            <a:r>
              <a:rPr sz="1600" b="1">
                <a:solidFill>
                  <a:srgbClr val="F4F8FF"/>
                </a:solidFill>
                <a:latin typeface="Segoe UI"/>
              </a:rPr>
              <a:t>3</a:t>
            </a:r>
          </a:p>
        </p:txBody>
      </p:sp>
      <p:sp>
        <p:nvSpPr>
          <p:cNvPr id="20" name="TextBox 19"/>
          <p:cNvSpPr txBox="1"/>
          <p:nvPr/>
        </p:nvSpPr>
        <p:spPr>
          <a:xfrm>
            <a:off x="1252728" y="4256532"/>
            <a:ext cx="10195560" cy="347472"/>
          </a:xfrm>
          <a:prstGeom prst="rect">
            <a:avLst/>
          </a:prstGeom>
          <a:noFill/>
        </p:spPr>
        <p:txBody>
          <a:bodyPr wrap="square" lIns="9144" rIns="9144" tIns="18288" bIns="18288">
            <a:spAutoFit/>
          </a:bodyPr>
          <a:lstStyle/>
          <a:p>
            <a:pPr algn="l">
              <a:lnSpc>
                <a:spcPct val="112000"/>
              </a:lnSpc>
              <a:spcAft>
                <a:spcPts val="400"/>
              </a:spcAft>
            </a:pPr>
            <a:r>
              <a:rPr sz="2000" b="1">
                <a:solidFill>
                  <a:srgbClr val="F4F8FF"/>
                </a:solidFill>
                <a:latin typeface="Segoe UI"/>
              </a:rPr>
              <a:t>The platform GPU software stack evolves</a:t>
            </a:r>
          </a:p>
        </p:txBody>
      </p:sp>
      <p:sp>
        <p:nvSpPr>
          <p:cNvPr id="21" name="TextBox 20"/>
          <p:cNvSpPr txBox="1"/>
          <p:nvPr/>
        </p:nvSpPr>
        <p:spPr>
          <a:xfrm>
            <a:off x="1252728" y="4636008"/>
            <a:ext cx="10195560" cy="621792"/>
          </a:xfrm>
          <a:prstGeom prst="rect">
            <a:avLst/>
          </a:prstGeom>
          <a:noFill/>
        </p:spPr>
        <p:txBody>
          <a:bodyPr wrap="square" lIns="9144" rIns="9144" tIns="18288" bIns="18288">
            <a:spAutoFit/>
          </a:bodyPr>
          <a:lstStyle/>
          <a:p>
            <a:pPr algn="l">
              <a:lnSpc>
                <a:spcPct val="112000"/>
              </a:lnSpc>
              <a:spcAft>
                <a:spcPts val="400"/>
              </a:spcAft>
            </a:pPr>
            <a:r>
              <a:rPr sz="1600" b="0">
                <a:solidFill>
                  <a:srgbClr val="A5B9D0"/>
                </a:solidFill>
                <a:latin typeface="Segoe UI"/>
              </a:rPr>
              <a:t>Pin container dependencies and test driver/runtime compatibility before platform transitions.</a:t>
            </a:r>
          </a:p>
        </p:txBody>
      </p:sp>
      <p:sp>
        <p:nvSpPr>
          <p:cNvPr id="22" name="Rounded Rectangle 21"/>
          <p:cNvSpPr/>
          <p:nvPr/>
        </p:nvSpPr>
        <p:spPr>
          <a:xfrm>
            <a:off x="512064" y="5623560"/>
            <a:ext cx="11109960" cy="45720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687568"/>
            <a:ext cx="10744200" cy="310896"/>
          </a:xfrm>
          <a:prstGeom prst="rect">
            <a:avLst/>
          </a:prstGeom>
          <a:noFill/>
        </p:spPr>
        <p:txBody>
          <a:bodyPr wrap="square" lIns="9144" rIns="9144" tIns="18288" bIns="18288">
            <a:spAutoFit/>
          </a:bodyPr>
          <a:lstStyle/>
          <a:p>
            <a:pPr algn="l">
              <a:lnSpc>
                <a:spcPct val="112000"/>
              </a:lnSpc>
              <a:spcAft>
                <a:spcPts val="400"/>
              </a:spcAft>
            </a:pPr>
            <a:r>
              <a:rPr sz="1500" b="1">
                <a:solidFill>
                  <a:srgbClr val="FFC66D"/>
                </a:solidFill>
                <a:latin typeface="Segoe UI"/>
              </a:rPr>
              <a:t>VNet integration consumes one IP per Consumption GPU replica; include scale-out in subnet planning.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9182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548640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53D5F5"/>
                </a:solidFill>
                <a:latin typeface="Segoe UI"/>
              </a:rPr>
              <a:t>16 / WORKLOAD FIT</a:t>
            </a:r>
          </a:p>
        </p:txBody>
      </p:sp>
      <p:sp>
        <p:nvSpPr>
          <p:cNvPr id="4" name="TextBox 3"/>
          <p:cNvSpPr txBox="1"/>
          <p:nvPr/>
        </p:nvSpPr>
        <p:spPr>
          <a:xfrm>
            <a:off x="502920" y="786384"/>
            <a:ext cx="11109960" cy="658368"/>
          </a:xfrm>
          <a:prstGeom prst="rect">
            <a:avLst/>
          </a:prstGeom>
          <a:noFill/>
        </p:spPr>
        <p:txBody>
          <a:bodyPr wrap="square" lIns="9144" rIns="9144" tIns="18288" bIns="18288">
            <a:spAutoFit/>
          </a:bodyPr>
          <a:lstStyle/>
          <a:p>
            <a:pPr algn="l">
              <a:lnSpc>
                <a:spcPct val="112000"/>
              </a:lnSpc>
              <a:spcAft>
                <a:spcPts val="400"/>
              </a:spcAft>
            </a:pPr>
            <a:r>
              <a:rPr sz="3100" b="1">
                <a:solidFill>
                  <a:srgbClr val="F4F8FF"/>
                </a:solidFill>
                <a:latin typeface="Segoe UI"/>
              </a:rPr>
              <a:t>Use demand shape and runtime needs to make the call</a:t>
            </a:r>
          </a:p>
        </p:txBody>
      </p:sp>
      <p:sp>
        <p:nvSpPr>
          <p:cNvPr id="5" name="TextBox 4"/>
          <p:cNvSpPr txBox="1"/>
          <p:nvPr/>
        </p:nvSpPr>
        <p:spPr>
          <a:xfrm>
            <a:off x="521207" y="1508760"/>
            <a:ext cx="11064240" cy="576072"/>
          </a:xfrm>
          <a:prstGeom prst="rect">
            <a:avLst/>
          </a:prstGeom>
          <a:noFill/>
        </p:spPr>
        <p:txBody>
          <a:bodyPr wrap="square" lIns="9144" rIns="9144" tIns="18288" bIns="18288">
            <a:spAutoFit/>
          </a:bodyPr>
          <a:lstStyle/>
          <a:p>
            <a:pPr algn="l">
              <a:lnSpc>
                <a:spcPct val="112000"/>
              </a:lnSpc>
              <a:spcAft>
                <a:spcPts val="400"/>
              </a:spcAft>
            </a:pPr>
            <a:r>
              <a:rPr sz="1700" b="0">
                <a:solidFill>
                  <a:srgbClr val="A5B9D0"/>
                </a:solidFill>
                <a:latin typeface="Segoe UI"/>
              </a:rPr>
              <a:t>Architectural guidance: validate with a workload-specific proof of concept.</a:t>
            </a:r>
          </a:p>
        </p:txBody>
      </p:sp>
      <p:cxnSp>
        <p:nvCxnSpPr>
          <p:cNvPr id="6" name="Connector 5"/>
          <p:cNvCxnSpPr/>
          <p:nvPr/>
        </p:nvCxnSpPr>
        <p:spPr>
          <a:xfrm>
            <a:off x="502920" y="6327648"/>
            <a:ext cx="11155680" cy="0"/>
          </a:xfrm>
          <a:prstGeom prst="line">
            <a:avLst/>
          </a:prstGeom>
          <a:ln w="10160">
            <a:solidFill>
              <a:srgbClr val="29435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21207" y="6473952"/>
            <a:ext cx="5303520" cy="201168"/>
          </a:xfrm>
          <a:prstGeom prst="rect">
            <a:avLst/>
          </a:prstGeom>
          <a:noFill/>
        </p:spPr>
        <p:txBody>
          <a:bodyPr wrap="square" lIns="9144" rIns="9144" tIns="18288" bIns="18288">
            <a:spAutoFit/>
          </a:bodyPr>
          <a:lstStyle/>
          <a:p>
            <a:pPr algn="l">
              <a:lnSpc>
                <a:spcPct val="112000"/>
              </a:lnSpc>
              <a:spcAft>
                <a:spcPts val="400"/>
              </a:spcAft>
            </a:pPr>
            <a:r>
              <a:rPr sz="900" b="0">
                <a:solidFill>
                  <a:srgbClr val="A5B9D0"/>
                </a:solidFill>
                <a:latin typeface="Segoe UI"/>
              </a:rPr>
              <a:t>AZURE CONTAINER APPS  /  SERVERLESS GPU</a:t>
            </a:r>
          </a:p>
        </p:txBody>
      </p:sp>
      <p:sp>
        <p:nvSpPr>
          <p:cNvPr id="8" name="TextBox 7"/>
          <p:cNvSpPr txBox="1"/>
          <p:nvPr/>
        </p:nvSpPr>
        <p:spPr>
          <a:xfrm>
            <a:off x="5486400" y="6455664"/>
            <a:ext cx="5303520" cy="256032"/>
          </a:xfrm>
          <a:prstGeom prst="rect">
            <a:avLst/>
          </a:prstGeom>
          <a:noFill/>
        </p:spPr>
        <p:txBody>
          <a:bodyPr wrap="square" lIns="9144" rIns="9144" tIns="18288" bIns="18288">
            <a:spAutoFit/>
          </a:bodyPr>
          <a:lstStyle/>
          <a:p>
            <a:pPr algn="r">
              <a:lnSpc>
                <a:spcPct val="112000"/>
              </a:lnSpc>
              <a:spcAft>
                <a:spcPts val="400"/>
              </a:spcAft>
            </a:pPr>
            <a:r>
              <a:rPr sz="900" b="0">
                <a:solidFill>
                  <a:srgbClr val="A5B9D0"/>
                </a:solidFill>
                <a:latin typeface="Segoe UI"/>
                <a:hlinkClick r:id="rId2"/>
              </a:rPr>
              <a:t>Source: GPU overview | Workload profiles</a:t>
            </a:r>
          </a:p>
        </p:txBody>
      </p:sp>
      <p:sp>
        <p:nvSpPr>
          <p:cNvPr id="9" name="TextBox 8"/>
          <p:cNvSpPr txBox="1"/>
          <p:nvPr/>
        </p:nvSpPr>
        <p:spPr>
          <a:xfrm>
            <a:off x="11082528" y="6428232"/>
            <a:ext cx="548640" cy="274320"/>
          </a:xfrm>
          <a:prstGeom prst="rect">
            <a:avLst/>
          </a:prstGeom>
          <a:noFill/>
        </p:spPr>
        <p:txBody>
          <a:bodyPr wrap="square" lIns="9144" rIns="9144" tIns="18288" bIns="18288">
            <a:spAutoFit/>
          </a:bodyPr>
          <a:lstStyle/>
          <a:p>
            <a:pPr algn="r">
              <a:lnSpc>
                <a:spcPct val="112000"/>
              </a:lnSpc>
              <a:spcAft>
                <a:spcPts val="400"/>
              </a:spcAft>
            </a:pPr>
            <a:r>
              <a:rPr sz="1200" b="0">
                <a:solidFill>
                  <a:srgbClr val="53D5F5"/>
                </a:solidFill>
                <a:latin typeface="Segoe UI"/>
              </a:rPr>
              <a:t>17</a:t>
            </a:r>
          </a:p>
        </p:txBody>
      </p:sp>
      <p:sp>
        <p:nvSpPr>
          <p:cNvPr id="10" name="Rounded Rectangle 9"/>
          <p:cNvSpPr/>
          <p:nvPr/>
        </p:nvSpPr>
        <p:spPr>
          <a:xfrm>
            <a:off x="530352" y="2267712"/>
            <a:ext cx="3456432" cy="502920"/>
          </a:xfrm>
          <a:prstGeom prst="roundRect">
            <a:avLst>
              <a:gd name="adj" fmla="val 8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368296"/>
            <a:ext cx="3182112" cy="274320"/>
          </a:xfrm>
          <a:prstGeom prst="rect">
            <a:avLst/>
          </a:prstGeom>
          <a:noFill/>
        </p:spPr>
        <p:txBody>
          <a:bodyPr wrap="square" lIns="9144" rIns="9144" tIns="18288" bIns="18288">
            <a:spAutoFit/>
          </a:bodyPr>
          <a:lstStyle/>
          <a:p>
            <a:pPr algn="l">
              <a:lnSpc>
                <a:spcPct val="112000"/>
              </a:lnSpc>
              <a:spcAft>
                <a:spcPts val="400"/>
              </a:spcAft>
            </a:pPr>
            <a:r>
              <a:rPr sz="1400" b="1">
                <a:solidFill>
                  <a:srgbClr val="F4F8FF"/>
                </a:solidFill>
                <a:latin typeface="Segoe UI"/>
              </a:rPr>
              <a:t>WORKLOAD</a:t>
            </a:r>
          </a:p>
        </p:txBody>
      </p:sp>
      <p:sp>
        <p:nvSpPr>
          <p:cNvPr id="12" name="Rounded Rectangle 11"/>
          <p:cNvSpPr/>
          <p:nvPr/>
        </p:nvSpPr>
        <p:spPr>
          <a:xfrm>
            <a:off x="4123944" y="2267712"/>
            <a:ext cx="3474720" cy="502920"/>
          </a:xfrm>
          <a:prstGeom prst="roundRect">
            <a:avLst>
              <a:gd name="adj" fmla="val 8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61104" y="2368296"/>
            <a:ext cx="3200400" cy="274320"/>
          </a:xfrm>
          <a:prstGeom prst="rect">
            <a:avLst/>
          </a:prstGeom>
          <a:noFill/>
        </p:spPr>
        <p:txBody>
          <a:bodyPr wrap="square" lIns="9144" rIns="9144" tIns="18288" bIns="18288">
            <a:spAutoFit/>
          </a:bodyPr>
          <a:lstStyle/>
          <a:p>
            <a:pPr algn="l">
              <a:lnSpc>
                <a:spcPct val="112000"/>
              </a:lnSpc>
              <a:spcAft>
                <a:spcPts val="400"/>
              </a:spcAft>
            </a:pPr>
            <a:r>
              <a:rPr sz="1400" b="1">
                <a:solidFill>
                  <a:srgbClr val="F4F8FF"/>
                </a:solidFill>
                <a:latin typeface="Segoe UI"/>
              </a:rPr>
              <a:t>INITIAL DIRECTION</a:t>
            </a:r>
          </a:p>
        </p:txBody>
      </p:sp>
      <p:sp>
        <p:nvSpPr>
          <p:cNvPr id="14" name="Rounded Rectangle 13"/>
          <p:cNvSpPr/>
          <p:nvPr/>
        </p:nvSpPr>
        <p:spPr>
          <a:xfrm>
            <a:off x="7735824" y="2267712"/>
            <a:ext cx="3858768" cy="502920"/>
          </a:xfrm>
          <a:prstGeom prst="roundRect">
            <a:avLst>
              <a:gd name="adj" fmla="val 8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72984" y="2368296"/>
            <a:ext cx="3584448" cy="274320"/>
          </a:xfrm>
          <a:prstGeom prst="rect">
            <a:avLst/>
          </a:prstGeom>
          <a:noFill/>
        </p:spPr>
        <p:txBody>
          <a:bodyPr wrap="square" lIns="9144" rIns="9144" tIns="18288" bIns="18288">
            <a:spAutoFit/>
          </a:bodyPr>
          <a:lstStyle/>
          <a:p>
            <a:pPr algn="l">
              <a:lnSpc>
                <a:spcPct val="112000"/>
              </a:lnSpc>
              <a:spcAft>
                <a:spcPts val="400"/>
              </a:spcAft>
            </a:pPr>
            <a:r>
              <a:rPr sz="1400" b="1">
                <a:solidFill>
                  <a:srgbClr val="F4F8FF"/>
                </a:solidFill>
                <a:latin typeface="Segoe UI"/>
              </a:rPr>
              <a:t>WHAT TO VALIDATE</a:t>
            </a:r>
          </a:p>
        </p:txBody>
      </p:sp>
      <p:sp>
        <p:nvSpPr>
          <p:cNvPr id="16" name="Rectangle 15"/>
          <p:cNvSpPr/>
          <p:nvPr/>
        </p:nvSpPr>
        <p:spPr>
          <a:xfrm>
            <a:off x="530352" y="2880360"/>
            <a:ext cx="3456432" cy="429768"/>
          </a:xfrm>
          <a:prstGeom prst="rect">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2939796"/>
            <a:ext cx="3182112" cy="310896"/>
          </a:xfrm>
          <a:prstGeom prst="rect">
            <a:avLst/>
          </a:prstGeom>
          <a:noFill/>
        </p:spPr>
        <p:txBody>
          <a:bodyPr wrap="square" lIns="9144" rIns="9144" tIns="18288" bIns="18288">
            <a:spAutoFit/>
          </a:bodyPr>
          <a:lstStyle/>
          <a:p>
            <a:pPr algn="l">
              <a:lnSpc>
                <a:spcPct val="112000"/>
              </a:lnSpc>
              <a:spcAft>
                <a:spcPts val="400"/>
              </a:spcAft>
            </a:pPr>
            <a:r>
              <a:rPr sz="1300" b="0">
                <a:solidFill>
                  <a:srgbClr val="F4F8FF"/>
                </a:solidFill>
                <a:latin typeface="Segoe UI"/>
              </a:rPr>
              <a:t>Bursty custom-model API</a:t>
            </a:r>
          </a:p>
        </p:txBody>
      </p:sp>
      <p:sp>
        <p:nvSpPr>
          <p:cNvPr id="18" name="Rectangle 17"/>
          <p:cNvSpPr/>
          <p:nvPr/>
        </p:nvSpPr>
        <p:spPr>
          <a:xfrm>
            <a:off x="4123944" y="2880360"/>
            <a:ext cx="3474720" cy="429768"/>
          </a:xfrm>
          <a:prstGeom prst="rect">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61104" y="2939796"/>
            <a:ext cx="3200400" cy="310896"/>
          </a:xfrm>
          <a:prstGeom prst="rect">
            <a:avLst/>
          </a:prstGeom>
          <a:noFill/>
        </p:spPr>
        <p:txBody>
          <a:bodyPr wrap="square" lIns="9144" rIns="9144" tIns="18288" bIns="18288">
            <a:spAutoFit/>
          </a:bodyPr>
          <a:lstStyle/>
          <a:p>
            <a:pPr algn="l">
              <a:lnSpc>
                <a:spcPct val="112000"/>
              </a:lnSpc>
              <a:spcAft>
                <a:spcPts val="400"/>
              </a:spcAft>
            </a:pPr>
            <a:r>
              <a:rPr sz="1300" b="0">
                <a:solidFill>
                  <a:srgbClr val="F4F8FF"/>
                </a:solidFill>
                <a:latin typeface="Segoe UI"/>
              </a:rPr>
              <a:t>ACA serverless GPU</a:t>
            </a:r>
          </a:p>
        </p:txBody>
      </p:sp>
      <p:sp>
        <p:nvSpPr>
          <p:cNvPr id="20" name="Rectangle 19"/>
          <p:cNvSpPr/>
          <p:nvPr/>
        </p:nvSpPr>
        <p:spPr>
          <a:xfrm>
            <a:off x="7735824" y="2880360"/>
            <a:ext cx="3858768" cy="429768"/>
          </a:xfrm>
          <a:prstGeom prst="rect">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72984" y="2939796"/>
            <a:ext cx="3584448" cy="310896"/>
          </a:xfrm>
          <a:prstGeom prst="rect">
            <a:avLst/>
          </a:prstGeom>
          <a:noFill/>
        </p:spPr>
        <p:txBody>
          <a:bodyPr wrap="square" lIns="9144" rIns="9144" tIns="18288" bIns="18288">
            <a:spAutoFit/>
          </a:bodyPr>
          <a:lstStyle/>
          <a:p>
            <a:pPr algn="l">
              <a:lnSpc>
                <a:spcPct val="112000"/>
              </a:lnSpc>
              <a:spcAft>
                <a:spcPts val="400"/>
              </a:spcAft>
            </a:pPr>
            <a:r>
              <a:rPr sz="1300" b="0">
                <a:solidFill>
                  <a:srgbClr val="F4F8FF"/>
                </a:solidFill>
                <a:latin typeface="Segoe UI"/>
              </a:rPr>
              <a:t>Memory fit + cold-start tolerance</a:t>
            </a:r>
          </a:p>
        </p:txBody>
      </p:sp>
      <p:sp>
        <p:nvSpPr>
          <p:cNvPr id="22" name="Rectangle 21"/>
          <p:cNvSpPr/>
          <p:nvPr/>
        </p:nvSpPr>
        <p:spPr>
          <a:xfrm>
            <a:off x="530352" y="3364991"/>
            <a:ext cx="3456432" cy="429768"/>
          </a:xfrm>
          <a:prstGeom prst="rect">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 y="3424427"/>
            <a:ext cx="3182112" cy="310896"/>
          </a:xfrm>
          <a:prstGeom prst="rect">
            <a:avLst/>
          </a:prstGeom>
          <a:noFill/>
        </p:spPr>
        <p:txBody>
          <a:bodyPr wrap="square" lIns="9144" rIns="9144" tIns="18288" bIns="18288">
            <a:spAutoFit/>
          </a:bodyPr>
          <a:lstStyle/>
          <a:p>
            <a:pPr algn="l">
              <a:lnSpc>
                <a:spcPct val="112000"/>
              </a:lnSpc>
              <a:spcAft>
                <a:spcPts val="400"/>
              </a:spcAft>
            </a:pPr>
            <a:r>
              <a:rPr sz="1300" b="0">
                <a:solidFill>
                  <a:srgbClr val="F4F8FF"/>
                </a:solidFill>
                <a:latin typeface="Segoe UI"/>
              </a:rPr>
              <a:t>Long image / media tasks</a:t>
            </a:r>
          </a:p>
        </p:txBody>
      </p:sp>
      <p:sp>
        <p:nvSpPr>
          <p:cNvPr id="24" name="Rectangle 23"/>
          <p:cNvSpPr/>
          <p:nvPr/>
        </p:nvSpPr>
        <p:spPr>
          <a:xfrm>
            <a:off x="4123944" y="3364991"/>
            <a:ext cx="3474720" cy="429768"/>
          </a:xfrm>
          <a:prstGeom prst="rect">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61104" y="3424427"/>
            <a:ext cx="3200400" cy="310896"/>
          </a:xfrm>
          <a:prstGeom prst="rect">
            <a:avLst/>
          </a:prstGeom>
          <a:noFill/>
        </p:spPr>
        <p:txBody>
          <a:bodyPr wrap="square" lIns="9144" rIns="9144" tIns="18288" bIns="18288">
            <a:spAutoFit/>
          </a:bodyPr>
          <a:lstStyle/>
          <a:p>
            <a:pPr algn="l">
              <a:lnSpc>
                <a:spcPct val="112000"/>
              </a:lnSpc>
              <a:spcAft>
                <a:spcPts val="400"/>
              </a:spcAft>
            </a:pPr>
            <a:r>
              <a:rPr sz="1300" b="0">
                <a:solidFill>
                  <a:srgbClr val="F4F8FF"/>
                </a:solidFill>
                <a:latin typeface="Segoe UI"/>
              </a:rPr>
              <a:t>Queue + GPU worker</a:t>
            </a:r>
          </a:p>
        </p:txBody>
      </p:sp>
      <p:sp>
        <p:nvSpPr>
          <p:cNvPr id="26" name="Rectangle 25"/>
          <p:cNvSpPr/>
          <p:nvPr/>
        </p:nvSpPr>
        <p:spPr>
          <a:xfrm>
            <a:off x="7735824" y="3364991"/>
            <a:ext cx="3858768" cy="429768"/>
          </a:xfrm>
          <a:prstGeom prst="rect">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72984" y="3424427"/>
            <a:ext cx="3584448" cy="310896"/>
          </a:xfrm>
          <a:prstGeom prst="rect">
            <a:avLst/>
          </a:prstGeom>
          <a:noFill/>
        </p:spPr>
        <p:txBody>
          <a:bodyPr wrap="square" lIns="9144" rIns="9144" tIns="18288" bIns="18288">
            <a:spAutoFit/>
          </a:bodyPr>
          <a:lstStyle/>
          <a:p>
            <a:pPr algn="l">
              <a:lnSpc>
                <a:spcPct val="112000"/>
              </a:lnSpc>
              <a:spcAft>
                <a:spcPts val="400"/>
              </a:spcAft>
            </a:pPr>
            <a:r>
              <a:rPr sz="1300" b="0">
                <a:solidFill>
                  <a:srgbClr val="F4F8FF"/>
                </a:solidFill>
                <a:latin typeface="Segoe UI"/>
              </a:rPr>
              <a:t>Durability + retry behavior</a:t>
            </a:r>
          </a:p>
        </p:txBody>
      </p:sp>
      <p:sp>
        <p:nvSpPr>
          <p:cNvPr id="28" name="Rectangle 27"/>
          <p:cNvSpPr/>
          <p:nvPr/>
        </p:nvSpPr>
        <p:spPr>
          <a:xfrm>
            <a:off x="530352" y="3849624"/>
            <a:ext cx="3456432" cy="429768"/>
          </a:xfrm>
          <a:prstGeom prst="rect">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 y="3909060"/>
            <a:ext cx="3182112" cy="310896"/>
          </a:xfrm>
          <a:prstGeom prst="rect">
            <a:avLst/>
          </a:prstGeom>
          <a:noFill/>
        </p:spPr>
        <p:txBody>
          <a:bodyPr wrap="square" lIns="9144" rIns="9144" tIns="18288" bIns="18288">
            <a:spAutoFit/>
          </a:bodyPr>
          <a:lstStyle/>
          <a:p>
            <a:pPr algn="l">
              <a:lnSpc>
                <a:spcPct val="112000"/>
              </a:lnSpc>
              <a:spcAft>
                <a:spcPts val="400"/>
              </a:spcAft>
            </a:pPr>
            <a:r>
              <a:rPr sz="1300" b="0">
                <a:solidFill>
                  <a:srgbClr val="F4F8FF"/>
                </a:solidFill>
                <a:latin typeface="Segoe UI"/>
              </a:rPr>
              <a:t>Steady high GPU utilization</a:t>
            </a:r>
          </a:p>
        </p:txBody>
      </p:sp>
      <p:sp>
        <p:nvSpPr>
          <p:cNvPr id="30" name="Rectangle 29"/>
          <p:cNvSpPr/>
          <p:nvPr/>
        </p:nvSpPr>
        <p:spPr>
          <a:xfrm>
            <a:off x="4123944" y="3849624"/>
            <a:ext cx="3474720" cy="429768"/>
          </a:xfrm>
          <a:prstGeom prst="rect">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61104" y="3909060"/>
            <a:ext cx="3200400" cy="310896"/>
          </a:xfrm>
          <a:prstGeom prst="rect">
            <a:avLst/>
          </a:prstGeom>
          <a:noFill/>
        </p:spPr>
        <p:txBody>
          <a:bodyPr wrap="square" lIns="9144" rIns="9144" tIns="18288" bIns="18288">
            <a:spAutoFit/>
          </a:bodyPr>
          <a:lstStyle/>
          <a:p>
            <a:pPr algn="l">
              <a:lnSpc>
                <a:spcPct val="112000"/>
              </a:lnSpc>
              <a:spcAft>
                <a:spcPts val="400"/>
              </a:spcAft>
            </a:pPr>
            <a:r>
              <a:rPr sz="1300" b="0">
                <a:solidFill>
                  <a:srgbClr val="F4F8FF"/>
                </a:solidFill>
                <a:latin typeface="Segoe UI"/>
              </a:rPr>
              <a:t>Compare dedicated options</a:t>
            </a:r>
          </a:p>
        </p:txBody>
      </p:sp>
      <p:sp>
        <p:nvSpPr>
          <p:cNvPr id="32" name="Rectangle 31"/>
          <p:cNvSpPr/>
          <p:nvPr/>
        </p:nvSpPr>
        <p:spPr>
          <a:xfrm>
            <a:off x="7735824" y="3849624"/>
            <a:ext cx="3858768" cy="429768"/>
          </a:xfrm>
          <a:prstGeom prst="rect">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72984" y="3909060"/>
            <a:ext cx="3584448" cy="310896"/>
          </a:xfrm>
          <a:prstGeom prst="rect">
            <a:avLst/>
          </a:prstGeom>
          <a:noFill/>
        </p:spPr>
        <p:txBody>
          <a:bodyPr wrap="square" lIns="9144" rIns="9144" tIns="18288" bIns="18288">
            <a:spAutoFit/>
          </a:bodyPr>
          <a:lstStyle/>
          <a:p>
            <a:pPr algn="l">
              <a:lnSpc>
                <a:spcPct val="112000"/>
              </a:lnSpc>
              <a:spcAft>
                <a:spcPts val="400"/>
              </a:spcAft>
            </a:pPr>
            <a:r>
              <a:rPr sz="1300" b="0">
                <a:solidFill>
                  <a:srgbClr val="F4F8FF"/>
                </a:solidFill>
                <a:latin typeface="Segoe UI"/>
              </a:rPr>
              <a:t>Measured total cost and utilization</a:t>
            </a:r>
          </a:p>
        </p:txBody>
      </p:sp>
      <p:sp>
        <p:nvSpPr>
          <p:cNvPr id="34" name="Rectangle 33"/>
          <p:cNvSpPr/>
          <p:nvPr/>
        </p:nvSpPr>
        <p:spPr>
          <a:xfrm>
            <a:off x="530352" y="4334256"/>
            <a:ext cx="3456432" cy="429768"/>
          </a:xfrm>
          <a:prstGeom prst="rect">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7512" y="4393692"/>
            <a:ext cx="3182112" cy="310896"/>
          </a:xfrm>
          <a:prstGeom prst="rect">
            <a:avLst/>
          </a:prstGeom>
          <a:noFill/>
        </p:spPr>
        <p:txBody>
          <a:bodyPr wrap="square" lIns="9144" rIns="9144" tIns="18288" bIns="18288">
            <a:spAutoFit/>
          </a:bodyPr>
          <a:lstStyle/>
          <a:p>
            <a:pPr algn="l">
              <a:lnSpc>
                <a:spcPct val="112000"/>
              </a:lnSpc>
              <a:spcAft>
                <a:spcPts val="400"/>
              </a:spcAft>
            </a:pPr>
            <a:r>
              <a:rPr sz="1300" b="0">
                <a:solidFill>
                  <a:srgbClr val="F4F8FF"/>
                </a:solidFill>
                <a:latin typeface="Segoe UI"/>
              </a:rPr>
              <a:t>Strict always-fast response</a:t>
            </a:r>
          </a:p>
        </p:txBody>
      </p:sp>
      <p:sp>
        <p:nvSpPr>
          <p:cNvPr id="36" name="Rectangle 35"/>
          <p:cNvSpPr/>
          <p:nvPr/>
        </p:nvSpPr>
        <p:spPr>
          <a:xfrm>
            <a:off x="4123944" y="4334256"/>
            <a:ext cx="3474720" cy="429768"/>
          </a:xfrm>
          <a:prstGeom prst="rect">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261104" y="4393692"/>
            <a:ext cx="3200400" cy="310896"/>
          </a:xfrm>
          <a:prstGeom prst="rect">
            <a:avLst/>
          </a:prstGeom>
          <a:noFill/>
        </p:spPr>
        <p:txBody>
          <a:bodyPr wrap="square" lIns="9144" rIns="9144" tIns="18288" bIns="18288">
            <a:spAutoFit/>
          </a:bodyPr>
          <a:lstStyle/>
          <a:p>
            <a:pPr algn="l">
              <a:lnSpc>
                <a:spcPct val="112000"/>
              </a:lnSpc>
              <a:spcAft>
                <a:spcPts val="400"/>
              </a:spcAft>
            </a:pPr>
            <a:r>
              <a:rPr sz="1300" b="0">
                <a:solidFill>
                  <a:srgbClr val="F4F8FF"/>
                </a:solidFill>
                <a:latin typeface="Segoe UI"/>
              </a:rPr>
              <a:t>Warm capacity or another tier</a:t>
            </a:r>
          </a:p>
        </p:txBody>
      </p:sp>
      <p:sp>
        <p:nvSpPr>
          <p:cNvPr id="38" name="Rectangle 37"/>
          <p:cNvSpPr/>
          <p:nvPr/>
        </p:nvSpPr>
        <p:spPr>
          <a:xfrm>
            <a:off x="7735824" y="4334256"/>
            <a:ext cx="3858768" cy="429768"/>
          </a:xfrm>
          <a:prstGeom prst="rect">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72984" y="4393692"/>
            <a:ext cx="3584448" cy="310896"/>
          </a:xfrm>
          <a:prstGeom prst="rect">
            <a:avLst/>
          </a:prstGeom>
          <a:noFill/>
        </p:spPr>
        <p:txBody>
          <a:bodyPr wrap="square" lIns="9144" rIns="9144" tIns="18288" bIns="18288">
            <a:spAutoFit/>
          </a:bodyPr>
          <a:lstStyle/>
          <a:p>
            <a:pPr algn="l">
              <a:lnSpc>
                <a:spcPct val="112000"/>
              </a:lnSpc>
              <a:spcAft>
                <a:spcPts val="400"/>
              </a:spcAft>
            </a:pPr>
            <a:r>
              <a:rPr sz="1300" b="0">
                <a:solidFill>
                  <a:srgbClr val="F4F8FF"/>
                </a:solidFill>
                <a:latin typeface="Segoe UI"/>
              </a:rPr>
              <a:t>Tail latency + availability needs</a:t>
            </a:r>
          </a:p>
        </p:txBody>
      </p:sp>
      <p:sp>
        <p:nvSpPr>
          <p:cNvPr id="40" name="Rectangle 39"/>
          <p:cNvSpPr/>
          <p:nvPr/>
        </p:nvSpPr>
        <p:spPr>
          <a:xfrm>
            <a:off x="530352" y="4818888"/>
            <a:ext cx="3456432" cy="429768"/>
          </a:xfrm>
          <a:prstGeom prst="rect">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7512" y="4878324"/>
            <a:ext cx="3182112" cy="310896"/>
          </a:xfrm>
          <a:prstGeom prst="rect">
            <a:avLst/>
          </a:prstGeom>
          <a:noFill/>
        </p:spPr>
        <p:txBody>
          <a:bodyPr wrap="square" lIns="9144" rIns="9144" tIns="18288" bIns="18288">
            <a:spAutoFit/>
          </a:bodyPr>
          <a:lstStyle/>
          <a:p>
            <a:pPr algn="l">
              <a:lnSpc>
                <a:spcPct val="112000"/>
              </a:lnSpc>
              <a:spcAft>
                <a:spcPts val="400"/>
              </a:spcAft>
            </a:pPr>
            <a:r>
              <a:rPr sz="1300" b="0">
                <a:solidFill>
                  <a:srgbClr val="F4F8FF"/>
                </a:solidFill>
                <a:latin typeface="Segoe UI"/>
              </a:rPr>
              <a:t>Distributed multi-GPU training</a:t>
            </a:r>
          </a:p>
        </p:txBody>
      </p:sp>
      <p:sp>
        <p:nvSpPr>
          <p:cNvPr id="42" name="Rectangle 41"/>
          <p:cNvSpPr/>
          <p:nvPr/>
        </p:nvSpPr>
        <p:spPr>
          <a:xfrm>
            <a:off x="4123944" y="4818888"/>
            <a:ext cx="3474720" cy="429768"/>
          </a:xfrm>
          <a:prstGeom prst="rect">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261104" y="4878324"/>
            <a:ext cx="3200400" cy="310896"/>
          </a:xfrm>
          <a:prstGeom prst="rect">
            <a:avLst/>
          </a:prstGeom>
          <a:noFill/>
        </p:spPr>
        <p:txBody>
          <a:bodyPr wrap="square" lIns="9144" rIns="9144" tIns="18288" bIns="18288">
            <a:spAutoFit/>
          </a:bodyPr>
          <a:lstStyle/>
          <a:p>
            <a:pPr algn="l">
              <a:lnSpc>
                <a:spcPct val="112000"/>
              </a:lnSpc>
              <a:spcAft>
                <a:spcPts val="400"/>
              </a:spcAft>
            </a:pPr>
            <a:r>
              <a:rPr sz="1300" b="0">
                <a:solidFill>
                  <a:srgbClr val="F4F8FF"/>
                </a:solidFill>
                <a:latin typeface="Segoe UI"/>
              </a:rPr>
              <a:t>Evaluate AKS / Azure ML / VMs</a:t>
            </a:r>
          </a:p>
        </p:txBody>
      </p:sp>
      <p:sp>
        <p:nvSpPr>
          <p:cNvPr id="44" name="Rectangle 43"/>
          <p:cNvSpPr/>
          <p:nvPr/>
        </p:nvSpPr>
        <p:spPr>
          <a:xfrm>
            <a:off x="7735824" y="4818888"/>
            <a:ext cx="3858768" cy="429768"/>
          </a:xfrm>
          <a:prstGeom prst="rect">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72984" y="4878324"/>
            <a:ext cx="3584448" cy="310896"/>
          </a:xfrm>
          <a:prstGeom prst="rect">
            <a:avLst/>
          </a:prstGeom>
          <a:noFill/>
        </p:spPr>
        <p:txBody>
          <a:bodyPr wrap="square" lIns="9144" rIns="9144" tIns="18288" bIns="18288">
            <a:spAutoFit/>
          </a:bodyPr>
          <a:lstStyle/>
          <a:p>
            <a:pPr algn="l">
              <a:lnSpc>
                <a:spcPct val="112000"/>
              </a:lnSpc>
              <a:spcAft>
                <a:spcPts val="400"/>
              </a:spcAft>
            </a:pPr>
            <a:r>
              <a:rPr sz="1300" b="0">
                <a:solidFill>
                  <a:srgbClr val="F4F8FF"/>
                </a:solidFill>
                <a:latin typeface="Segoe UI"/>
              </a:rPr>
              <a:t>Topology + scheduler requirements</a:t>
            </a:r>
          </a:p>
        </p:txBody>
      </p:sp>
      <p:sp>
        <p:nvSpPr>
          <p:cNvPr id="46" name="Rounded Rectangle 45"/>
          <p:cNvSpPr/>
          <p:nvPr/>
        </p:nvSpPr>
        <p:spPr>
          <a:xfrm>
            <a:off x="512064" y="5623560"/>
            <a:ext cx="11109960" cy="45720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85800" y="5687568"/>
            <a:ext cx="10744200" cy="310896"/>
          </a:xfrm>
          <a:prstGeom prst="rect">
            <a:avLst/>
          </a:prstGeom>
          <a:noFill/>
        </p:spPr>
        <p:txBody>
          <a:bodyPr wrap="square" lIns="9144" rIns="9144" tIns="18288" bIns="18288">
            <a:spAutoFit/>
          </a:bodyPr>
          <a:lstStyle/>
          <a:p>
            <a:pPr algn="l">
              <a:lnSpc>
                <a:spcPct val="112000"/>
              </a:lnSpc>
              <a:spcAft>
                <a:spcPts val="400"/>
              </a:spcAft>
            </a:pPr>
            <a:r>
              <a:rPr sz="1500" b="1">
                <a:solidFill>
                  <a:srgbClr val="53D5F5"/>
                </a:solidFill>
                <a:latin typeface="Segoe UI"/>
              </a:rPr>
              <a:t>Fit is a combination of control, GPU memory, demand variability, latency and operational effort.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9182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548640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53D5F5"/>
                </a:solidFill>
                <a:latin typeface="Segoe UI"/>
              </a:rPr>
              <a:t>17 / PRODUCTION CHECKLIST</a:t>
            </a:r>
          </a:p>
        </p:txBody>
      </p:sp>
      <p:sp>
        <p:nvSpPr>
          <p:cNvPr id="4" name="TextBox 3"/>
          <p:cNvSpPr txBox="1"/>
          <p:nvPr/>
        </p:nvSpPr>
        <p:spPr>
          <a:xfrm>
            <a:off x="502920" y="786384"/>
            <a:ext cx="11109960" cy="658368"/>
          </a:xfrm>
          <a:prstGeom prst="rect">
            <a:avLst/>
          </a:prstGeom>
          <a:noFill/>
        </p:spPr>
        <p:txBody>
          <a:bodyPr wrap="square" lIns="9144" rIns="9144" tIns="18288" bIns="18288">
            <a:spAutoFit/>
          </a:bodyPr>
          <a:lstStyle/>
          <a:p>
            <a:pPr algn="l">
              <a:lnSpc>
                <a:spcPct val="112000"/>
              </a:lnSpc>
              <a:spcAft>
                <a:spcPts val="400"/>
              </a:spcAft>
            </a:pPr>
            <a:r>
              <a:rPr sz="3100" b="1">
                <a:solidFill>
                  <a:srgbClr val="F4F8FF"/>
                </a:solidFill>
                <a:latin typeface="Segoe UI"/>
              </a:rPr>
              <a:t>Before launch: clear six acceptance gates</a:t>
            </a:r>
          </a:p>
        </p:txBody>
      </p:sp>
      <p:sp>
        <p:nvSpPr>
          <p:cNvPr id="5" name="TextBox 4"/>
          <p:cNvSpPr txBox="1"/>
          <p:nvPr/>
        </p:nvSpPr>
        <p:spPr>
          <a:xfrm>
            <a:off x="521207" y="1508760"/>
            <a:ext cx="11064240" cy="576072"/>
          </a:xfrm>
          <a:prstGeom prst="rect">
            <a:avLst/>
          </a:prstGeom>
          <a:noFill/>
        </p:spPr>
        <p:txBody>
          <a:bodyPr wrap="square" lIns="9144" rIns="9144" tIns="18288" bIns="18288">
            <a:spAutoFit/>
          </a:bodyPr>
          <a:lstStyle/>
          <a:p>
            <a:pPr algn="l">
              <a:lnSpc>
                <a:spcPct val="112000"/>
              </a:lnSpc>
              <a:spcAft>
                <a:spcPts val="400"/>
              </a:spcAft>
            </a:pPr>
            <a:r>
              <a:rPr sz="1700" b="0">
                <a:solidFill>
                  <a:srgbClr val="A5B9D0"/>
                </a:solidFill>
                <a:latin typeface="Segoe UI"/>
              </a:rPr>
              <a:t>Define explicit pass/fail criteria before exposing a production endpoint.</a:t>
            </a:r>
          </a:p>
        </p:txBody>
      </p:sp>
      <p:cxnSp>
        <p:nvCxnSpPr>
          <p:cNvPr id="6" name="Connector 5"/>
          <p:cNvCxnSpPr/>
          <p:nvPr/>
        </p:nvCxnSpPr>
        <p:spPr>
          <a:xfrm>
            <a:off x="502920" y="6327648"/>
            <a:ext cx="11155680" cy="0"/>
          </a:xfrm>
          <a:prstGeom prst="line">
            <a:avLst/>
          </a:prstGeom>
          <a:ln w="10160">
            <a:solidFill>
              <a:srgbClr val="29435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21207" y="6473952"/>
            <a:ext cx="5303520" cy="201168"/>
          </a:xfrm>
          <a:prstGeom prst="rect">
            <a:avLst/>
          </a:prstGeom>
          <a:noFill/>
        </p:spPr>
        <p:txBody>
          <a:bodyPr wrap="square" lIns="9144" rIns="9144" tIns="18288" bIns="18288">
            <a:spAutoFit/>
          </a:bodyPr>
          <a:lstStyle/>
          <a:p>
            <a:pPr algn="l">
              <a:lnSpc>
                <a:spcPct val="112000"/>
              </a:lnSpc>
              <a:spcAft>
                <a:spcPts val="400"/>
              </a:spcAft>
            </a:pPr>
            <a:r>
              <a:rPr sz="900" b="0">
                <a:solidFill>
                  <a:srgbClr val="A5B9D0"/>
                </a:solidFill>
                <a:latin typeface="Segoe UI"/>
              </a:rPr>
              <a:t>AZURE CONTAINER APPS  /  SERVERLESS GPU</a:t>
            </a:r>
          </a:p>
        </p:txBody>
      </p:sp>
      <p:sp>
        <p:nvSpPr>
          <p:cNvPr id="8" name="TextBox 7"/>
          <p:cNvSpPr txBox="1"/>
          <p:nvPr/>
        </p:nvSpPr>
        <p:spPr>
          <a:xfrm>
            <a:off x="5486400" y="6455664"/>
            <a:ext cx="5303520" cy="256032"/>
          </a:xfrm>
          <a:prstGeom prst="rect">
            <a:avLst/>
          </a:prstGeom>
          <a:noFill/>
        </p:spPr>
        <p:txBody>
          <a:bodyPr wrap="square" lIns="9144" rIns="9144" tIns="18288" bIns="18288">
            <a:spAutoFit/>
          </a:bodyPr>
          <a:lstStyle/>
          <a:p>
            <a:pPr algn="r">
              <a:lnSpc>
                <a:spcPct val="112000"/>
              </a:lnSpc>
              <a:spcAft>
                <a:spcPts val="400"/>
              </a:spcAft>
            </a:pPr>
            <a:r>
              <a:rPr sz="900" b="0">
                <a:solidFill>
                  <a:srgbClr val="A5B9D0"/>
                </a:solidFill>
                <a:latin typeface="Segoe UI"/>
                <a:hlinkClick r:id="rId2"/>
              </a:rPr>
              <a:t>Source: GPU overview | Scaling | Billing | Health probes</a:t>
            </a:r>
          </a:p>
        </p:txBody>
      </p:sp>
      <p:sp>
        <p:nvSpPr>
          <p:cNvPr id="9" name="TextBox 8"/>
          <p:cNvSpPr txBox="1"/>
          <p:nvPr/>
        </p:nvSpPr>
        <p:spPr>
          <a:xfrm>
            <a:off x="11082528" y="6428232"/>
            <a:ext cx="548640" cy="274320"/>
          </a:xfrm>
          <a:prstGeom prst="rect">
            <a:avLst/>
          </a:prstGeom>
          <a:noFill/>
        </p:spPr>
        <p:txBody>
          <a:bodyPr wrap="square" lIns="9144" rIns="9144" tIns="18288" bIns="18288">
            <a:spAutoFit/>
          </a:bodyPr>
          <a:lstStyle/>
          <a:p>
            <a:pPr algn="r">
              <a:lnSpc>
                <a:spcPct val="112000"/>
              </a:lnSpc>
              <a:spcAft>
                <a:spcPts val="400"/>
              </a:spcAft>
            </a:pPr>
            <a:r>
              <a:rPr sz="1200" b="0">
                <a:solidFill>
                  <a:srgbClr val="53D5F5"/>
                </a:solidFill>
                <a:latin typeface="Segoe UI"/>
              </a:rPr>
              <a:t>18</a:t>
            </a:r>
          </a:p>
        </p:txBody>
      </p:sp>
      <p:sp>
        <p:nvSpPr>
          <p:cNvPr id="10" name="Rounded Rectangle 9"/>
          <p:cNvSpPr/>
          <p:nvPr/>
        </p:nvSpPr>
        <p:spPr>
          <a:xfrm>
            <a:off x="530352" y="2240280"/>
            <a:ext cx="5413248" cy="859536"/>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2359152"/>
            <a:ext cx="160020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70E0BA"/>
                </a:solidFill>
                <a:latin typeface="Segoe UI"/>
              </a:rPr>
              <a:t>CAPACITY</a:t>
            </a:r>
          </a:p>
        </p:txBody>
      </p:sp>
      <p:sp>
        <p:nvSpPr>
          <p:cNvPr id="12" name="TextBox 11"/>
          <p:cNvSpPr txBox="1"/>
          <p:nvPr/>
        </p:nvSpPr>
        <p:spPr>
          <a:xfrm>
            <a:off x="2313432" y="2368296"/>
            <a:ext cx="3456432" cy="676656"/>
          </a:xfrm>
          <a:prstGeom prst="rect">
            <a:avLst/>
          </a:prstGeom>
          <a:noFill/>
        </p:spPr>
        <p:txBody>
          <a:bodyPr wrap="square" lIns="9144" rIns="9144" tIns="18288" bIns="18288">
            <a:spAutoFit/>
          </a:bodyPr>
          <a:lstStyle/>
          <a:p>
            <a:pPr algn="l">
              <a:lnSpc>
                <a:spcPct val="112000"/>
              </a:lnSpc>
              <a:spcAft>
                <a:spcPts val="400"/>
              </a:spcAft>
            </a:pPr>
            <a:r>
              <a:rPr sz="1400" b="0">
                <a:solidFill>
                  <a:srgbClr val="F4F8FF"/>
                </a:solidFill>
                <a:latin typeface="Segoe UI"/>
              </a:rPr>
              <a:t>Region and environment verified;</a:t>
            </a:r>
          </a:p>
          <a:p>
            <a:pPr algn="l">
              <a:lnSpc>
                <a:spcPct val="112000"/>
              </a:lnSpc>
              <a:spcAft>
                <a:spcPts val="400"/>
              </a:spcAft>
            </a:pPr>
            <a:r>
              <a:rPr sz="1400" b="0">
                <a:solidFill>
                  <a:srgbClr val="F4F8FF"/>
                </a:solidFill>
                <a:latin typeface="Segoe UI"/>
              </a:rPr>
              <a:t>quota covers planned peak replicas.</a:t>
            </a:r>
          </a:p>
        </p:txBody>
      </p:sp>
      <p:sp>
        <p:nvSpPr>
          <p:cNvPr id="13" name="Rounded Rectangle 12"/>
          <p:cNvSpPr/>
          <p:nvPr/>
        </p:nvSpPr>
        <p:spPr>
          <a:xfrm>
            <a:off x="530352" y="3246120"/>
            <a:ext cx="5413248" cy="859536"/>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3364992"/>
            <a:ext cx="160020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70E0BA"/>
                </a:solidFill>
                <a:latin typeface="Segoe UI"/>
              </a:rPr>
              <a:t>COMPATIBILITY</a:t>
            </a:r>
          </a:p>
        </p:txBody>
      </p:sp>
      <p:sp>
        <p:nvSpPr>
          <p:cNvPr id="15" name="TextBox 14"/>
          <p:cNvSpPr txBox="1"/>
          <p:nvPr/>
        </p:nvSpPr>
        <p:spPr>
          <a:xfrm>
            <a:off x="2313432" y="3374136"/>
            <a:ext cx="3456432" cy="676656"/>
          </a:xfrm>
          <a:prstGeom prst="rect">
            <a:avLst/>
          </a:prstGeom>
          <a:noFill/>
        </p:spPr>
        <p:txBody>
          <a:bodyPr wrap="square" lIns="9144" rIns="9144" tIns="18288" bIns="18288">
            <a:spAutoFit/>
          </a:bodyPr>
          <a:lstStyle/>
          <a:p>
            <a:pPr algn="l">
              <a:lnSpc>
                <a:spcPct val="112000"/>
              </a:lnSpc>
              <a:spcAft>
                <a:spcPts val="400"/>
              </a:spcAft>
            </a:pPr>
            <a:r>
              <a:rPr sz="1400" b="0">
                <a:solidFill>
                  <a:srgbClr val="F4F8FF"/>
                </a:solidFill>
                <a:latin typeface="Segoe UI"/>
              </a:rPr>
              <a:t>Pinned image and model tested;</a:t>
            </a:r>
          </a:p>
          <a:p>
            <a:pPr algn="l">
              <a:lnSpc>
                <a:spcPct val="112000"/>
              </a:lnSpc>
              <a:spcAft>
                <a:spcPts val="400"/>
              </a:spcAft>
            </a:pPr>
            <a:r>
              <a:rPr sz="1400" b="0">
                <a:solidFill>
                  <a:srgbClr val="F4F8FF"/>
                </a:solidFill>
                <a:latin typeface="Segoe UI"/>
              </a:rPr>
              <a:t>GPU memory and CUDA fit confirmed.</a:t>
            </a:r>
          </a:p>
        </p:txBody>
      </p:sp>
      <p:sp>
        <p:nvSpPr>
          <p:cNvPr id="16" name="Rounded Rectangle 15"/>
          <p:cNvSpPr/>
          <p:nvPr/>
        </p:nvSpPr>
        <p:spPr>
          <a:xfrm>
            <a:off x="530352" y="4251960"/>
            <a:ext cx="5413248" cy="859536"/>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4370832"/>
            <a:ext cx="160020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70E0BA"/>
                </a:solidFill>
                <a:latin typeface="Segoe UI"/>
              </a:rPr>
              <a:t>LATENCY</a:t>
            </a:r>
          </a:p>
        </p:txBody>
      </p:sp>
      <p:sp>
        <p:nvSpPr>
          <p:cNvPr id="18" name="TextBox 17"/>
          <p:cNvSpPr txBox="1"/>
          <p:nvPr/>
        </p:nvSpPr>
        <p:spPr>
          <a:xfrm>
            <a:off x="2313432" y="4379976"/>
            <a:ext cx="3456432" cy="676656"/>
          </a:xfrm>
          <a:prstGeom prst="rect">
            <a:avLst/>
          </a:prstGeom>
          <a:noFill/>
        </p:spPr>
        <p:txBody>
          <a:bodyPr wrap="square" lIns="9144" rIns="9144" tIns="18288" bIns="18288">
            <a:spAutoFit/>
          </a:bodyPr>
          <a:lstStyle/>
          <a:p>
            <a:pPr algn="l">
              <a:lnSpc>
                <a:spcPct val="112000"/>
              </a:lnSpc>
              <a:spcAft>
                <a:spcPts val="400"/>
              </a:spcAft>
            </a:pPr>
            <a:r>
              <a:rPr sz="1400" b="0">
                <a:solidFill>
                  <a:srgbClr val="F4F8FF"/>
                </a:solidFill>
                <a:latin typeface="Segoe UI"/>
              </a:rPr>
              <a:t>Cold and warm p95 measured;</a:t>
            </a:r>
          </a:p>
          <a:p>
            <a:pPr algn="l">
              <a:lnSpc>
                <a:spcPct val="112000"/>
              </a:lnSpc>
              <a:spcAft>
                <a:spcPts val="400"/>
              </a:spcAft>
            </a:pPr>
            <a:r>
              <a:rPr sz="1400" b="0">
                <a:solidFill>
                  <a:srgbClr val="F4F8FF"/>
                </a:solidFill>
                <a:latin typeface="Segoe UI"/>
              </a:rPr>
              <a:t>startup / readiness probes verified.</a:t>
            </a:r>
          </a:p>
        </p:txBody>
      </p:sp>
      <p:sp>
        <p:nvSpPr>
          <p:cNvPr id="19" name="Rounded Rectangle 18"/>
          <p:cNvSpPr/>
          <p:nvPr/>
        </p:nvSpPr>
        <p:spPr>
          <a:xfrm>
            <a:off x="6199632" y="2240280"/>
            <a:ext cx="5413248" cy="859536"/>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64224" y="2359152"/>
            <a:ext cx="160020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70E0BA"/>
                </a:solidFill>
                <a:latin typeface="Segoe UI"/>
              </a:rPr>
              <a:t>RESILIENCE</a:t>
            </a:r>
          </a:p>
        </p:txBody>
      </p:sp>
      <p:sp>
        <p:nvSpPr>
          <p:cNvPr id="21" name="TextBox 20"/>
          <p:cNvSpPr txBox="1"/>
          <p:nvPr/>
        </p:nvSpPr>
        <p:spPr>
          <a:xfrm>
            <a:off x="7982712" y="2368296"/>
            <a:ext cx="3456432" cy="676656"/>
          </a:xfrm>
          <a:prstGeom prst="rect">
            <a:avLst/>
          </a:prstGeom>
          <a:noFill/>
        </p:spPr>
        <p:txBody>
          <a:bodyPr wrap="square" lIns="9144" rIns="9144" tIns="18288" bIns="18288">
            <a:spAutoFit/>
          </a:bodyPr>
          <a:lstStyle/>
          <a:p>
            <a:pPr algn="l">
              <a:lnSpc>
                <a:spcPct val="112000"/>
              </a:lnSpc>
              <a:spcAft>
                <a:spcPts val="400"/>
              </a:spcAft>
            </a:pPr>
            <a:r>
              <a:rPr sz="1400" b="0">
                <a:solidFill>
                  <a:srgbClr val="F4F8FF"/>
                </a:solidFill>
                <a:latin typeface="Segoe UI"/>
              </a:rPr>
              <a:t>Timeouts, retries and saturation tested;</a:t>
            </a:r>
          </a:p>
          <a:p>
            <a:pPr algn="l">
              <a:lnSpc>
                <a:spcPct val="112000"/>
              </a:lnSpc>
              <a:spcAft>
                <a:spcPts val="400"/>
              </a:spcAft>
            </a:pPr>
            <a:r>
              <a:rPr sz="1400" b="0">
                <a:solidFill>
                  <a:srgbClr val="F4F8FF"/>
                </a:solidFill>
                <a:latin typeface="Segoe UI"/>
              </a:rPr>
              <a:t>queue and output durability validated.</a:t>
            </a:r>
          </a:p>
        </p:txBody>
      </p:sp>
      <p:sp>
        <p:nvSpPr>
          <p:cNvPr id="22" name="Rounded Rectangle 21"/>
          <p:cNvSpPr/>
          <p:nvPr/>
        </p:nvSpPr>
        <p:spPr>
          <a:xfrm>
            <a:off x="6199632" y="3246120"/>
            <a:ext cx="5413248" cy="859536"/>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64224" y="3364992"/>
            <a:ext cx="160020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70E0BA"/>
                </a:solidFill>
                <a:latin typeface="Segoe UI"/>
              </a:rPr>
              <a:t>SECURITY</a:t>
            </a:r>
          </a:p>
        </p:txBody>
      </p:sp>
      <p:sp>
        <p:nvSpPr>
          <p:cNvPr id="24" name="TextBox 23"/>
          <p:cNvSpPr txBox="1"/>
          <p:nvPr/>
        </p:nvSpPr>
        <p:spPr>
          <a:xfrm>
            <a:off x="7982712" y="3374136"/>
            <a:ext cx="3456432" cy="676656"/>
          </a:xfrm>
          <a:prstGeom prst="rect">
            <a:avLst/>
          </a:prstGeom>
          <a:noFill/>
        </p:spPr>
        <p:txBody>
          <a:bodyPr wrap="square" lIns="9144" rIns="9144" tIns="18288" bIns="18288">
            <a:spAutoFit/>
          </a:bodyPr>
          <a:lstStyle/>
          <a:p>
            <a:pPr algn="l">
              <a:lnSpc>
                <a:spcPct val="112000"/>
              </a:lnSpc>
              <a:spcAft>
                <a:spcPts val="400"/>
              </a:spcAft>
            </a:pPr>
            <a:r>
              <a:rPr sz="1400" b="0">
                <a:solidFill>
                  <a:srgbClr val="F4F8FF"/>
                </a:solidFill>
                <a:latin typeface="Segoe UI"/>
              </a:rPr>
              <a:t>Caller authorization verified;</a:t>
            </a:r>
          </a:p>
          <a:p>
            <a:pPr algn="l">
              <a:lnSpc>
                <a:spcPct val="112000"/>
              </a:lnSpc>
              <a:spcAft>
                <a:spcPts val="400"/>
              </a:spcAft>
            </a:pPr>
            <a:r>
              <a:rPr sz="1400" b="0">
                <a:solidFill>
                  <a:srgbClr val="F4F8FF"/>
                </a:solidFill>
                <a:latin typeface="Segoe UI"/>
              </a:rPr>
              <a:t>data flows and license approved.</a:t>
            </a:r>
          </a:p>
        </p:txBody>
      </p:sp>
      <p:sp>
        <p:nvSpPr>
          <p:cNvPr id="25" name="Rounded Rectangle 24"/>
          <p:cNvSpPr/>
          <p:nvPr/>
        </p:nvSpPr>
        <p:spPr>
          <a:xfrm>
            <a:off x="6199632" y="4251960"/>
            <a:ext cx="5413248" cy="859536"/>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4224" y="4370832"/>
            <a:ext cx="160020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70E0BA"/>
                </a:solidFill>
                <a:latin typeface="Segoe UI"/>
              </a:rPr>
              <a:t>COST</a:t>
            </a:r>
          </a:p>
        </p:txBody>
      </p:sp>
      <p:sp>
        <p:nvSpPr>
          <p:cNvPr id="27" name="TextBox 26"/>
          <p:cNvSpPr txBox="1"/>
          <p:nvPr/>
        </p:nvSpPr>
        <p:spPr>
          <a:xfrm>
            <a:off x="7982712" y="4379976"/>
            <a:ext cx="3456432" cy="676656"/>
          </a:xfrm>
          <a:prstGeom prst="rect">
            <a:avLst/>
          </a:prstGeom>
          <a:noFill/>
        </p:spPr>
        <p:txBody>
          <a:bodyPr wrap="square" lIns="9144" rIns="9144" tIns="18288" bIns="18288">
            <a:spAutoFit/>
          </a:bodyPr>
          <a:lstStyle/>
          <a:p>
            <a:pPr algn="l">
              <a:lnSpc>
                <a:spcPct val="112000"/>
              </a:lnSpc>
              <a:spcAft>
                <a:spcPts val="400"/>
              </a:spcAft>
            </a:pPr>
            <a:r>
              <a:rPr sz="1400" b="0">
                <a:solidFill>
                  <a:srgbClr val="F4F8FF"/>
                </a:solidFill>
                <a:latin typeface="Segoe UI"/>
              </a:rPr>
              <a:t>Replica and revision caps checked;</a:t>
            </a:r>
          </a:p>
          <a:p>
            <a:pPr algn="l">
              <a:lnSpc>
                <a:spcPct val="112000"/>
              </a:lnSpc>
              <a:spcAft>
                <a:spcPts val="400"/>
              </a:spcAft>
            </a:pPr>
            <a:r>
              <a:rPr sz="1400" b="0">
                <a:solidFill>
                  <a:srgbClr val="F4F8FF"/>
                </a:solidFill>
                <a:latin typeface="Segoe UI"/>
              </a:rPr>
              <a:t>alerts and cost model ready.</a:t>
            </a:r>
          </a:p>
        </p:txBody>
      </p:sp>
      <p:sp>
        <p:nvSpPr>
          <p:cNvPr id="28" name="Rounded Rectangle 27"/>
          <p:cNvSpPr/>
          <p:nvPr/>
        </p:nvSpPr>
        <p:spPr>
          <a:xfrm>
            <a:off x="512064" y="5623560"/>
            <a:ext cx="11109960" cy="45720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5687568"/>
            <a:ext cx="10744200" cy="310896"/>
          </a:xfrm>
          <a:prstGeom prst="rect">
            <a:avLst/>
          </a:prstGeom>
          <a:noFill/>
        </p:spPr>
        <p:txBody>
          <a:bodyPr wrap="square" lIns="9144" rIns="9144" tIns="18288" bIns="18288">
            <a:spAutoFit/>
          </a:bodyPr>
          <a:lstStyle/>
          <a:p>
            <a:pPr algn="l">
              <a:lnSpc>
                <a:spcPct val="112000"/>
              </a:lnSpc>
              <a:spcAft>
                <a:spcPts val="400"/>
              </a:spcAft>
            </a:pPr>
            <a:r>
              <a:rPr sz="1500" b="1">
                <a:solidFill>
                  <a:srgbClr val="53D5F5"/>
                </a:solidFill>
                <a:latin typeface="Segoe UI"/>
              </a:rPr>
              <a:t>A deployment that returns HTTP 200 is not yet a production-readiness test.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9182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548640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53D5F5"/>
                </a:solidFill>
                <a:latin typeface="Segoe UI"/>
              </a:rPr>
              <a:t>18 / TAKEAWAYS</a:t>
            </a:r>
          </a:p>
        </p:txBody>
      </p:sp>
      <p:sp>
        <p:nvSpPr>
          <p:cNvPr id="4" name="TextBox 3"/>
          <p:cNvSpPr txBox="1"/>
          <p:nvPr/>
        </p:nvSpPr>
        <p:spPr>
          <a:xfrm>
            <a:off x="502920" y="786384"/>
            <a:ext cx="11109960" cy="658368"/>
          </a:xfrm>
          <a:prstGeom prst="rect">
            <a:avLst/>
          </a:prstGeom>
          <a:noFill/>
        </p:spPr>
        <p:txBody>
          <a:bodyPr wrap="square" lIns="9144" rIns="9144" tIns="18288" bIns="18288">
            <a:spAutoFit/>
          </a:bodyPr>
          <a:lstStyle/>
          <a:p>
            <a:pPr algn="l">
              <a:lnSpc>
                <a:spcPct val="112000"/>
              </a:lnSpc>
              <a:spcAft>
                <a:spcPts val="400"/>
              </a:spcAft>
            </a:pPr>
            <a:r>
              <a:rPr sz="3100" b="1">
                <a:solidFill>
                  <a:srgbClr val="F4F8FF"/>
                </a:solidFill>
                <a:latin typeface="Segoe UI"/>
              </a:rPr>
              <a:t>Bring the model. Engineer the service.</a:t>
            </a:r>
          </a:p>
        </p:txBody>
      </p:sp>
      <p:sp>
        <p:nvSpPr>
          <p:cNvPr id="5" name="TextBox 4"/>
          <p:cNvSpPr txBox="1"/>
          <p:nvPr/>
        </p:nvSpPr>
        <p:spPr>
          <a:xfrm>
            <a:off x="521207" y="1508760"/>
            <a:ext cx="11064240" cy="576072"/>
          </a:xfrm>
          <a:prstGeom prst="rect">
            <a:avLst/>
          </a:prstGeom>
          <a:noFill/>
        </p:spPr>
        <p:txBody>
          <a:bodyPr wrap="square" lIns="9144" rIns="9144" tIns="18288" bIns="18288">
            <a:spAutoFit/>
          </a:bodyPr>
          <a:lstStyle/>
          <a:p>
            <a:pPr algn="l">
              <a:lnSpc>
                <a:spcPct val="112000"/>
              </a:lnSpc>
              <a:spcAft>
                <a:spcPts val="400"/>
              </a:spcAft>
            </a:pPr>
            <a:r>
              <a:rPr sz="1700" b="0">
                <a:solidFill>
                  <a:srgbClr val="A5B9D0"/>
                </a:solidFill>
                <a:latin typeface="Segoe UI"/>
              </a:rPr>
              <a:t>Serverless GPU is most compelling when elasticity and container control both matter.</a:t>
            </a:r>
          </a:p>
        </p:txBody>
      </p:sp>
      <p:cxnSp>
        <p:nvCxnSpPr>
          <p:cNvPr id="6" name="Connector 5"/>
          <p:cNvCxnSpPr/>
          <p:nvPr/>
        </p:nvCxnSpPr>
        <p:spPr>
          <a:xfrm>
            <a:off x="502920" y="6327648"/>
            <a:ext cx="11155680" cy="0"/>
          </a:xfrm>
          <a:prstGeom prst="line">
            <a:avLst/>
          </a:prstGeom>
          <a:ln w="10160">
            <a:solidFill>
              <a:srgbClr val="29435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21207" y="6473952"/>
            <a:ext cx="5303520" cy="201168"/>
          </a:xfrm>
          <a:prstGeom prst="rect">
            <a:avLst/>
          </a:prstGeom>
          <a:noFill/>
        </p:spPr>
        <p:txBody>
          <a:bodyPr wrap="square" lIns="9144" rIns="9144" tIns="18288" bIns="18288">
            <a:spAutoFit/>
          </a:bodyPr>
          <a:lstStyle/>
          <a:p>
            <a:pPr algn="l">
              <a:lnSpc>
                <a:spcPct val="112000"/>
              </a:lnSpc>
              <a:spcAft>
                <a:spcPts val="400"/>
              </a:spcAft>
            </a:pPr>
            <a:r>
              <a:rPr sz="900" b="0">
                <a:solidFill>
                  <a:srgbClr val="A5B9D0"/>
                </a:solidFill>
                <a:latin typeface="Segoe UI"/>
              </a:rPr>
              <a:t>AZURE CONTAINER APPS  /  SERVERLESS GPU</a:t>
            </a:r>
          </a:p>
        </p:txBody>
      </p:sp>
      <p:sp>
        <p:nvSpPr>
          <p:cNvPr id="8" name="TextBox 7"/>
          <p:cNvSpPr txBox="1"/>
          <p:nvPr/>
        </p:nvSpPr>
        <p:spPr>
          <a:xfrm>
            <a:off x="5486400" y="6455664"/>
            <a:ext cx="5303520" cy="256032"/>
          </a:xfrm>
          <a:prstGeom prst="rect">
            <a:avLst/>
          </a:prstGeom>
          <a:noFill/>
        </p:spPr>
        <p:txBody>
          <a:bodyPr wrap="square" lIns="9144" rIns="9144" tIns="18288" bIns="18288">
            <a:spAutoFit/>
          </a:bodyPr>
          <a:lstStyle/>
          <a:p>
            <a:pPr algn="r">
              <a:lnSpc>
                <a:spcPct val="112000"/>
              </a:lnSpc>
              <a:spcAft>
                <a:spcPts val="400"/>
              </a:spcAft>
            </a:pPr>
            <a:r>
              <a:rPr sz="900" b="0">
                <a:solidFill>
                  <a:srgbClr val="A5B9D0"/>
                </a:solidFill>
                <a:latin typeface="Segoe UI"/>
                <a:hlinkClick r:id="rId2"/>
              </a:rPr>
              <a:t>Source: GPU overview | Billing</a:t>
            </a:r>
          </a:p>
        </p:txBody>
      </p:sp>
      <p:sp>
        <p:nvSpPr>
          <p:cNvPr id="9" name="TextBox 8"/>
          <p:cNvSpPr txBox="1"/>
          <p:nvPr/>
        </p:nvSpPr>
        <p:spPr>
          <a:xfrm>
            <a:off x="11082528" y="6428232"/>
            <a:ext cx="548640" cy="274320"/>
          </a:xfrm>
          <a:prstGeom prst="rect">
            <a:avLst/>
          </a:prstGeom>
          <a:noFill/>
        </p:spPr>
        <p:txBody>
          <a:bodyPr wrap="square" lIns="9144" rIns="9144" tIns="18288" bIns="18288">
            <a:spAutoFit/>
          </a:bodyPr>
          <a:lstStyle/>
          <a:p>
            <a:pPr algn="r">
              <a:lnSpc>
                <a:spcPct val="112000"/>
              </a:lnSpc>
              <a:spcAft>
                <a:spcPts val="400"/>
              </a:spcAft>
            </a:pPr>
            <a:r>
              <a:rPr sz="1200" b="0">
                <a:solidFill>
                  <a:srgbClr val="53D5F5"/>
                </a:solidFill>
                <a:latin typeface="Segoe UI"/>
              </a:rPr>
              <a:t>19</a:t>
            </a:r>
          </a:p>
        </p:txBody>
      </p:sp>
      <p:sp>
        <p:nvSpPr>
          <p:cNvPr id="10" name="TextBox 9"/>
          <p:cNvSpPr txBox="1"/>
          <p:nvPr/>
        </p:nvSpPr>
        <p:spPr>
          <a:xfrm>
            <a:off x="530352" y="2606040"/>
            <a:ext cx="347472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53D5F5"/>
                </a:solidFill>
                <a:latin typeface="Segoe UI"/>
              </a:rPr>
              <a:t>CONTROL</a:t>
            </a:r>
          </a:p>
        </p:txBody>
      </p:sp>
      <p:sp>
        <p:nvSpPr>
          <p:cNvPr id="11" name="TextBox 10"/>
          <p:cNvSpPr txBox="1"/>
          <p:nvPr/>
        </p:nvSpPr>
        <p:spPr>
          <a:xfrm>
            <a:off x="530352" y="3182112"/>
            <a:ext cx="3493008" cy="1737360"/>
          </a:xfrm>
          <a:prstGeom prst="rect">
            <a:avLst/>
          </a:prstGeom>
          <a:noFill/>
        </p:spPr>
        <p:txBody>
          <a:bodyPr wrap="square" lIns="9144" rIns="9144" tIns="18288" bIns="18288">
            <a:spAutoFit/>
          </a:bodyPr>
          <a:lstStyle/>
          <a:p>
            <a:pPr algn="l">
              <a:lnSpc>
                <a:spcPct val="112000"/>
              </a:lnSpc>
              <a:spcAft>
                <a:spcPts val="400"/>
              </a:spcAft>
            </a:pPr>
            <a:r>
              <a:rPr sz="2300" b="1">
                <a:solidFill>
                  <a:srgbClr val="F4F8FF"/>
                </a:solidFill>
                <a:latin typeface="Segoe UI"/>
              </a:rPr>
              <a:t>Own the model and runtime.</a:t>
            </a:r>
          </a:p>
          <a:p>
            <a:pPr algn="l">
              <a:lnSpc>
                <a:spcPct val="112000"/>
              </a:lnSpc>
              <a:spcAft>
                <a:spcPts val="400"/>
              </a:spcAft>
            </a:pPr>
            <a:r>
              <a:rPr sz="2300" b="1">
                <a:solidFill>
                  <a:srgbClr val="F4F8FF"/>
                </a:solidFill>
                <a:latin typeface="Segoe UI"/>
              </a:rPr>
              <a:t>Azure manages GPU hosts.</a:t>
            </a:r>
          </a:p>
        </p:txBody>
      </p:sp>
      <p:sp>
        <p:nvSpPr>
          <p:cNvPr id="12" name="TextBox 11"/>
          <p:cNvSpPr txBox="1"/>
          <p:nvPr/>
        </p:nvSpPr>
        <p:spPr>
          <a:xfrm>
            <a:off x="4334256" y="2606040"/>
            <a:ext cx="347472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70E0BA"/>
                </a:solidFill>
                <a:latin typeface="Segoe UI"/>
              </a:rPr>
              <a:t>ELASTICITY</a:t>
            </a:r>
          </a:p>
        </p:txBody>
      </p:sp>
      <p:sp>
        <p:nvSpPr>
          <p:cNvPr id="13" name="TextBox 12"/>
          <p:cNvSpPr txBox="1"/>
          <p:nvPr/>
        </p:nvSpPr>
        <p:spPr>
          <a:xfrm>
            <a:off x="4334256" y="3182112"/>
            <a:ext cx="3493008" cy="1737360"/>
          </a:xfrm>
          <a:prstGeom prst="rect">
            <a:avLst/>
          </a:prstGeom>
          <a:noFill/>
        </p:spPr>
        <p:txBody>
          <a:bodyPr wrap="square" lIns="9144" rIns="9144" tIns="18288" bIns="18288">
            <a:spAutoFit/>
          </a:bodyPr>
          <a:lstStyle/>
          <a:p>
            <a:pPr algn="l">
              <a:lnSpc>
                <a:spcPct val="112000"/>
              </a:lnSpc>
              <a:spcAft>
                <a:spcPts val="400"/>
              </a:spcAft>
            </a:pPr>
            <a:r>
              <a:rPr sz="2300" b="1">
                <a:solidFill>
                  <a:srgbClr val="F4F8FF"/>
                </a:solidFill>
                <a:latin typeface="Segoe UI"/>
              </a:rPr>
              <a:t>Scale single-GPU replicas.</a:t>
            </a:r>
          </a:p>
          <a:p>
            <a:pPr algn="l">
              <a:lnSpc>
                <a:spcPct val="112000"/>
              </a:lnSpc>
              <a:spcAft>
                <a:spcPts val="400"/>
              </a:spcAft>
            </a:pPr>
            <a:r>
              <a:rPr sz="2300" b="1">
                <a:solidFill>
                  <a:srgbClr val="F4F8FF"/>
                </a:solidFill>
                <a:latin typeface="Segoe UI"/>
              </a:rPr>
              <a:t>Measure startup and load.</a:t>
            </a:r>
          </a:p>
        </p:txBody>
      </p:sp>
      <p:sp>
        <p:nvSpPr>
          <p:cNvPr id="14" name="TextBox 13"/>
          <p:cNvSpPr txBox="1"/>
          <p:nvPr/>
        </p:nvSpPr>
        <p:spPr>
          <a:xfrm>
            <a:off x="8138160" y="2606040"/>
            <a:ext cx="347472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FFC66D"/>
                </a:solidFill>
                <a:latin typeface="Segoe UI"/>
              </a:rPr>
              <a:t>ECONOMICS</a:t>
            </a:r>
          </a:p>
        </p:txBody>
      </p:sp>
      <p:sp>
        <p:nvSpPr>
          <p:cNvPr id="15" name="TextBox 14"/>
          <p:cNvSpPr txBox="1"/>
          <p:nvPr/>
        </p:nvSpPr>
        <p:spPr>
          <a:xfrm>
            <a:off x="8138160" y="3182112"/>
            <a:ext cx="3493008" cy="1737360"/>
          </a:xfrm>
          <a:prstGeom prst="rect">
            <a:avLst/>
          </a:prstGeom>
          <a:noFill/>
        </p:spPr>
        <p:txBody>
          <a:bodyPr wrap="square" lIns="9144" rIns="9144" tIns="18288" bIns="18288">
            <a:spAutoFit/>
          </a:bodyPr>
          <a:lstStyle/>
          <a:p>
            <a:pPr algn="l">
              <a:lnSpc>
                <a:spcPct val="112000"/>
              </a:lnSpc>
              <a:spcAft>
                <a:spcPts val="400"/>
              </a:spcAft>
            </a:pPr>
            <a:r>
              <a:rPr sz="2300" b="1">
                <a:solidFill>
                  <a:srgbClr val="F4F8FF"/>
                </a:solidFill>
                <a:latin typeface="Segoe UI"/>
              </a:rPr>
              <a:t>Pay for allocated time.</a:t>
            </a:r>
          </a:p>
          <a:p>
            <a:pPr algn="l">
              <a:lnSpc>
                <a:spcPct val="112000"/>
              </a:lnSpc>
              <a:spcAft>
                <a:spcPts val="400"/>
              </a:spcAft>
            </a:pPr>
            <a:r>
              <a:rPr sz="2300" b="1">
                <a:solidFill>
                  <a:srgbClr val="F4F8FF"/>
                </a:solidFill>
                <a:latin typeface="Segoe UI"/>
              </a:rPr>
              <a:t>Scale GPU replicas to zero.</a:t>
            </a:r>
          </a:p>
        </p:txBody>
      </p:sp>
      <p:sp>
        <p:nvSpPr>
          <p:cNvPr id="16" name="Rounded Rectangle 15"/>
          <p:cNvSpPr/>
          <p:nvPr/>
        </p:nvSpPr>
        <p:spPr>
          <a:xfrm>
            <a:off x="530352" y="5074920"/>
            <a:ext cx="11082528" cy="841248"/>
          </a:xfrm>
          <a:prstGeom prst="roundRect">
            <a:avLst>
              <a:gd name="adj" fmla="val 8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5294376"/>
            <a:ext cx="10588752" cy="411480"/>
          </a:xfrm>
          <a:prstGeom prst="rect">
            <a:avLst/>
          </a:prstGeom>
          <a:noFill/>
        </p:spPr>
        <p:txBody>
          <a:bodyPr wrap="square" lIns="9144" rIns="9144" tIns="18288" bIns="18288">
            <a:spAutoFit/>
          </a:bodyPr>
          <a:lstStyle/>
          <a:p>
            <a:pPr algn="l">
              <a:lnSpc>
                <a:spcPct val="112000"/>
              </a:lnSpc>
              <a:spcAft>
                <a:spcPts val="400"/>
              </a:spcAft>
            </a:pPr>
            <a:r>
              <a:rPr sz="2100" b="1">
                <a:solidFill>
                  <a:srgbClr val="F4F8FF"/>
                </a:solidFill>
                <a:latin typeface="Segoe UI"/>
              </a:rPr>
              <a:t>Next: prove one model, one region and one representative traffic pattern.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9182D"/>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5486400" cy="274320"/>
          </a:xfrm>
          <a:prstGeom prst="rect">
            <a:avLst/>
          </a:prstGeom>
          <a:noFill/>
        </p:spPr>
        <p:txBody>
          <a:bodyPr wrap="square" lIns="9144" rIns="9144" tIns="18288" bIns="18288">
            <a:spAutoFit/>
          </a:bodyPr>
          <a:lstStyle/>
          <a:p>
            <a:pPr algn="l">
              <a:lnSpc>
                <a:spcPct val="112000"/>
              </a:lnSpc>
              <a:spcAft>
                <a:spcPts val="400"/>
              </a:spcAft>
            </a:pPr>
            <a:r>
              <a:rPr sz="1100" b="1">
                <a:solidFill>
                  <a:srgbClr val="53D5F5"/>
                </a:solidFill>
                <a:latin typeface="Segoe UI"/>
              </a:rPr>
              <a:t>19 / SOURCES &amp; FURTHER READING</a:t>
            </a:r>
          </a:p>
        </p:txBody>
      </p:sp>
      <p:sp>
        <p:nvSpPr>
          <p:cNvPr id="4" name="TextBox 3"/>
          <p:cNvSpPr txBox="1"/>
          <p:nvPr/>
        </p:nvSpPr>
        <p:spPr>
          <a:xfrm>
            <a:off x="502920" y="786384"/>
            <a:ext cx="11109960" cy="658368"/>
          </a:xfrm>
          <a:prstGeom prst="rect">
            <a:avLst/>
          </a:prstGeom>
          <a:noFill/>
        </p:spPr>
        <p:txBody>
          <a:bodyPr wrap="square" lIns="9144" rIns="9144" tIns="18288" bIns="18288">
            <a:spAutoFit/>
          </a:bodyPr>
          <a:lstStyle/>
          <a:p>
            <a:pPr algn="l">
              <a:lnSpc>
                <a:spcPct val="112000"/>
              </a:lnSpc>
              <a:spcAft>
                <a:spcPts val="400"/>
              </a:spcAft>
            </a:pPr>
            <a:r>
              <a:rPr sz="3100" b="1">
                <a:solidFill>
                  <a:srgbClr val="F4F8FF"/>
                </a:solidFill>
                <a:latin typeface="Segoe UI"/>
              </a:rPr>
              <a:t>Official references</a:t>
            </a:r>
          </a:p>
        </p:txBody>
      </p:sp>
      <p:sp>
        <p:nvSpPr>
          <p:cNvPr id="5" name="TextBox 4"/>
          <p:cNvSpPr txBox="1"/>
          <p:nvPr/>
        </p:nvSpPr>
        <p:spPr>
          <a:xfrm>
            <a:off x="521207" y="1508760"/>
            <a:ext cx="11064240" cy="576072"/>
          </a:xfrm>
          <a:prstGeom prst="rect">
            <a:avLst/>
          </a:prstGeom>
          <a:noFill/>
        </p:spPr>
        <p:txBody>
          <a:bodyPr wrap="square" lIns="9144" rIns="9144" tIns="18288" bIns="18288">
            <a:spAutoFit/>
          </a:bodyPr>
          <a:lstStyle/>
          <a:p>
            <a:pPr algn="l">
              <a:lnSpc>
                <a:spcPct val="112000"/>
              </a:lnSpc>
              <a:spcAft>
                <a:spcPts val="400"/>
              </a:spcAft>
            </a:pPr>
            <a:r>
              <a:rPr sz="1700" b="0">
                <a:solidFill>
                  <a:srgbClr val="A5B9D0"/>
                </a:solidFill>
                <a:latin typeface="Segoe UI"/>
              </a:rPr>
              <a:t>Microsoft documentation consulted 20 October 2026. Links below are clickable.</a:t>
            </a:r>
          </a:p>
        </p:txBody>
      </p:sp>
      <p:cxnSp>
        <p:nvCxnSpPr>
          <p:cNvPr id="6" name="Connector 5"/>
          <p:cNvCxnSpPr/>
          <p:nvPr/>
        </p:nvCxnSpPr>
        <p:spPr>
          <a:xfrm>
            <a:off x="502920" y="6327648"/>
            <a:ext cx="11155680" cy="0"/>
          </a:xfrm>
          <a:prstGeom prst="line">
            <a:avLst/>
          </a:prstGeom>
          <a:ln w="10160">
            <a:solidFill>
              <a:srgbClr val="29435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21207" y="6473952"/>
            <a:ext cx="5303520" cy="201168"/>
          </a:xfrm>
          <a:prstGeom prst="rect">
            <a:avLst/>
          </a:prstGeom>
          <a:noFill/>
        </p:spPr>
        <p:txBody>
          <a:bodyPr wrap="square" lIns="9144" rIns="9144" tIns="18288" bIns="18288">
            <a:spAutoFit/>
          </a:bodyPr>
          <a:lstStyle/>
          <a:p>
            <a:pPr algn="l">
              <a:lnSpc>
                <a:spcPct val="112000"/>
              </a:lnSpc>
              <a:spcAft>
                <a:spcPts val="400"/>
              </a:spcAft>
            </a:pPr>
            <a:r>
              <a:rPr sz="900" b="0">
                <a:solidFill>
                  <a:srgbClr val="A5B9D0"/>
                </a:solidFill>
                <a:latin typeface="Segoe UI"/>
              </a:rPr>
              <a:t>AZURE CONTAINER APPS  /  SERVERLESS GPU</a:t>
            </a:r>
          </a:p>
        </p:txBody>
      </p:sp>
      <p:sp>
        <p:nvSpPr>
          <p:cNvPr id="8" name="TextBox 7"/>
          <p:cNvSpPr txBox="1"/>
          <p:nvPr/>
        </p:nvSpPr>
        <p:spPr>
          <a:xfrm>
            <a:off x="5486400" y="6455664"/>
            <a:ext cx="5303520" cy="256032"/>
          </a:xfrm>
          <a:prstGeom prst="rect">
            <a:avLst/>
          </a:prstGeom>
          <a:noFill/>
        </p:spPr>
        <p:txBody>
          <a:bodyPr wrap="square" lIns="9144" rIns="9144" tIns="18288" bIns="18288">
            <a:spAutoFit/>
          </a:bodyPr>
          <a:lstStyle/>
          <a:p>
            <a:pPr algn="r">
              <a:lnSpc>
                <a:spcPct val="112000"/>
              </a:lnSpc>
              <a:spcAft>
                <a:spcPts val="400"/>
              </a:spcAft>
            </a:pPr>
            <a:r>
              <a:rPr sz="900" b="0">
                <a:solidFill>
                  <a:srgbClr val="A5B9D0"/>
                </a:solidFill>
                <a:latin typeface="Segoe UI"/>
                <a:hlinkClick r:id="rId2"/>
              </a:rPr>
              <a:t>Source: GPU overview</a:t>
            </a:r>
          </a:p>
        </p:txBody>
      </p:sp>
      <p:sp>
        <p:nvSpPr>
          <p:cNvPr id="9" name="TextBox 8"/>
          <p:cNvSpPr txBox="1"/>
          <p:nvPr/>
        </p:nvSpPr>
        <p:spPr>
          <a:xfrm>
            <a:off x="11082528" y="6428232"/>
            <a:ext cx="548640" cy="274320"/>
          </a:xfrm>
          <a:prstGeom prst="rect">
            <a:avLst/>
          </a:prstGeom>
          <a:noFill/>
        </p:spPr>
        <p:txBody>
          <a:bodyPr wrap="square" lIns="9144" rIns="9144" tIns="18288" bIns="18288">
            <a:spAutoFit/>
          </a:bodyPr>
          <a:lstStyle/>
          <a:p>
            <a:pPr algn="r">
              <a:lnSpc>
                <a:spcPct val="112000"/>
              </a:lnSpc>
              <a:spcAft>
                <a:spcPts val="400"/>
              </a:spcAft>
            </a:pPr>
            <a:r>
              <a:rPr sz="1200" b="0">
                <a:solidFill>
                  <a:srgbClr val="53D5F5"/>
                </a:solidFill>
                <a:latin typeface="Segoe UI"/>
              </a:rPr>
              <a:t>20</a:t>
            </a:r>
          </a:p>
        </p:txBody>
      </p:sp>
      <p:sp>
        <p:nvSpPr>
          <p:cNvPr id="10" name="TextBox 9"/>
          <p:cNvSpPr txBox="1"/>
          <p:nvPr/>
        </p:nvSpPr>
        <p:spPr>
          <a:xfrm>
            <a:off x="566928" y="2240280"/>
            <a:ext cx="5303520" cy="329184"/>
          </a:xfrm>
          <a:prstGeom prst="rect">
            <a:avLst/>
          </a:prstGeom>
          <a:noFill/>
        </p:spPr>
        <p:txBody>
          <a:bodyPr wrap="square" lIns="9144" rIns="9144" tIns="18288" bIns="18288">
            <a:spAutoFit/>
          </a:bodyPr>
          <a:lstStyle/>
          <a:p>
            <a:pPr algn="l">
              <a:lnSpc>
                <a:spcPct val="112000"/>
              </a:lnSpc>
              <a:spcAft>
                <a:spcPts val="400"/>
              </a:spcAft>
            </a:pPr>
            <a:r>
              <a:rPr sz="1900" b="1">
                <a:solidFill>
                  <a:srgbClr val="53D5F5"/>
                </a:solidFill>
                <a:latin typeface="Segoe UI"/>
                <a:hlinkClick r:id="rId2"/>
              </a:rPr>
              <a:t>GPU overview</a:t>
            </a:r>
          </a:p>
        </p:txBody>
      </p:sp>
      <p:sp>
        <p:nvSpPr>
          <p:cNvPr id="11" name="TextBox 10"/>
          <p:cNvSpPr txBox="1"/>
          <p:nvPr/>
        </p:nvSpPr>
        <p:spPr>
          <a:xfrm>
            <a:off x="566928" y="2596896"/>
            <a:ext cx="5303520" cy="384048"/>
          </a:xfrm>
          <a:prstGeom prst="rect">
            <a:avLst/>
          </a:prstGeom>
          <a:noFill/>
        </p:spPr>
        <p:txBody>
          <a:bodyPr wrap="square" lIns="9144" rIns="9144" tIns="18288" bIns="18288">
            <a:spAutoFit/>
          </a:bodyPr>
          <a:lstStyle/>
          <a:p>
            <a:pPr algn="l">
              <a:lnSpc>
                <a:spcPct val="112000"/>
              </a:lnSpc>
              <a:spcAft>
                <a:spcPts val="400"/>
              </a:spcAft>
            </a:pPr>
            <a:r>
              <a:rPr sz="1100" b="0">
                <a:solidFill>
                  <a:srgbClr val="A5B9D0"/>
                </a:solidFill>
                <a:latin typeface="Segoe UI"/>
                <a:hlinkClick r:id="rId2"/>
              </a:rPr>
              <a:t>azure/container-apps/gpu-serverless-overview</a:t>
            </a:r>
          </a:p>
        </p:txBody>
      </p:sp>
      <p:sp>
        <p:nvSpPr>
          <p:cNvPr id="12" name="TextBox 11"/>
          <p:cNvSpPr txBox="1"/>
          <p:nvPr/>
        </p:nvSpPr>
        <p:spPr>
          <a:xfrm>
            <a:off x="566928" y="3026664"/>
            <a:ext cx="5303520" cy="329184"/>
          </a:xfrm>
          <a:prstGeom prst="rect">
            <a:avLst/>
          </a:prstGeom>
          <a:noFill/>
        </p:spPr>
        <p:txBody>
          <a:bodyPr wrap="square" lIns="9144" rIns="9144" tIns="18288" bIns="18288">
            <a:spAutoFit/>
          </a:bodyPr>
          <a:lstStyle/>
          <a:p>
            <a:pPr algn="l">
              <a:lnSpc>
                <a:spcPct val="112000"/>
              </a:lnSpc>
              <a:spcAft>
                <a:spcPts val="400"/>
              </a:spcAft>
            </a:pPr>
            <a:r>
              <a:rPr sz="1900" b="1">
                <a:solidFill>
                  <a:srgbClr val="53D5F5"/>
                </a:solidFill>
                <a:latin typeface="Segoe UI"/>
                <a:hlinkClick r:id="rId3"/>
              </a:rPr>
              <a:t>GPU comparison</a:t>
            </a:r>
          </a:p>
        </p:txBody>
      </p:sp>
      <p:sp>
        <p:nvSpPr>
          <p:cNvPr id="13" name="TextBox 12"/>
          <p:cNvSpPr txBox="1"/>
          <p:nvPr/>
        </p:nvSpPr>
        <p:spPr>
          <a:xfrm>
            <a:off x="566928" y="3383280"/>
            <a:ext cx="5303520" cy="384048"/>
          </a:xfrm>
          <a:prstGeom prst="rect">
            <a:avLst/>
          </a:prstGeom>
          <a:noFill/>
        </p:spPr>
        <p:txBody>
          <a:bodyPr wrap="square" lIns="9144" rIns="9144" tIns="18288" bIns="18288">
            <a:spAutoFit/>
          </a:bodyPr>
          <a:lstStyle/>
          <a:p>
            <a:pPr algn="l">
              <a:lnSpc>
                <a:spcPct val="112000"/>
              </a:lnSpc>
              <a:spcAft>
                <a:spcPts val="400"/>
              </a:spcAft>
            </a:pPr>
            <a:r>
              <a:rPr sz="1100" b="0">
                <a:solidFill>
                  <a:srgbClr val="A5B9D0"/>
                </a:solidFill>
                <a:latin typeface="Segoe UI"/>
                <a:hlinkClick r:id="rId3"/>
              </a:rPr>
              <a:t>azure/container-apps/gpu-types</a:t>
            </a:r>
          </a:p>
        </p:txBody>
      </p:sp>
      <p:sp>
        <p:nvSpPr>
          <p:cNvPr id="14" name="TextBox 13"/>
          <p:cNvSpPr txBox="1"/>
          <p:nvPr/>
        </p:nvSpPr>
        <p:spPr>
          <a:xfrm>
            <a:off x="566928" y="3813048"/>
            <a:ext cx="5303520" cy="329184"/>
          </a:xfrm>
          <a:prstGeom prst="rect">
            <a:avLst/>
          </a:prstGeom>
          <a:noFill/>
        </p:spPr>
        <p:txBody>
          <a:bodyPr wrap="square" lIns="9144" rIns="9144" tIns="18288" bIns="18288">
            <a:spAutoFit/>
          </a:bodyPr>
          <a:lstStyle/>
          <a:p>
            <a:pPr algn="l">
              <a:lnSpc>
                <a:spcPct val="112000"/>
              </a:lnSpc>
              <a:spcAft>
                <a:spcPts val="400"/>
              </a:spcAft>
            </a:pPr>
            <a:r>
              <a:rPr sz="1900" b="1">
                <a:solidFill>
                  <a:srgbClr val="53D5F5"/>
                </a:solidFill>
                <a:latin typeface="Segoe UI"/>
                <a:hlinkClick r:id="rId4"/>
              </a:rPr>
              <a:t>Workload profiles</a:t>
            </a:r>
          </a:p>
        </p:txBody>
      </p:sp>
      <p:sp>
        <p:nvSpPr>
          <p:cNvPr id="15" name="TextBox 14"/>
          <p:cNvSpPr txBox="1"/>
          <p:nvPr/>
        </p:nvSpPr>
        <p:spPr>
          <a:xfrm>
            <a:off x="566928" y="4169663"/>
            <a:ext cx="5303520" cy="384048"/>
          </a:xfrm>
          <a:prstGeom prst="rect">
            <a:avLst/>
          </a:prstGeom>
          <a:noFill/>
        </p:spPr>
        <p:txBody>
          <a:bodyPr wrap="square" lIns="9144" rIns="9144" tIns="18288" bIns="18288">
            <a:spAutoFit/>
          </a:bodyPr>
          <a:lstStyle/>
          <a:p>
            <a:pPr algn="l">
              <a:lnSpc>
                <a:spcPct val="112000"/>
              </a:lnSpc>
              <a:spcAft>
                <a:spcPts val="400"/>
              </a:spcAft>
            </a:pPr>
            <a:r>
              <a:rPr sz="1100" b="0">
                <a:solidFill>
                  <a:srgbClr val="A5B9D0"/>
                </a:solidFill>
                <a:latin typeface="Segoe UI"/>
                <a:hlinkClick r:id="rId4"/>
              </a:rPr>
              <a:t>azure/container-apps/workload-profiles-overview</a:t>
            </a:r>
          </a:p>
        </p:txBody>
      </p:sp>
      <p:sp>
        <p:nvSpPr>
          <p:cNvPr id="16" name="TextBox 15"/>
          <p:cNvSpPr txBox="1"/>
          <p:nvPr/>
        </p:nvSpPr>
        <p:spPr>
          <a:xfrm>
            <a:off x="566928" y="4599432"/>
            <a:ext cx="5303520" cy="329184"/>
          </a:xfrm>
          <a:prstGeom prst="rect">
            <a:avLst/>
          </a:prstGeom>
          <a:noFill/>
        </p:spPr>
        <p:txBody>
          <a:bodyPr wrap="square" lIns="9144" rIns="9144" tIns="18288" bIns="18288">
            <a:spAutoFit/>
          </a:bodyPr>
          <a:lstStyle/>
          <a:p>
            <a:pPr algn="l">
              <a:lnSpc>
                <a:spcPct val="112000"/>
              </a:lnSpc>
              <a:spcAft>
                <a:spcPts val="400"/>
              </a:spcAft>
            </a:pPr>
            <a:r>
              <a:rPr sz="1900" b="1">
                <a:solidFill>
                  <a:srgbClr val="53D5F5"/>
                </a:solidFill>
                <a:latin typeface="Segoe UI"/>
                <a:hlinkClick r:id="rId5"/>
              </a:rPr>
              <a:t>Scaling</a:t>
            </a:r>
          </a:p>
        </p:txBody>
      </p:sp>
      <p:sp>
        <p:nvSpPr>
          <p:cNvPr id="17" name="TextBox 16"/>
          <p:cNvSpPr txBox="1"/>
          <p:nvPr/>
        </p:nvSpPr>
        <p:spPr>
          <a:xfrm>
            <a:off x="566928" y="4956048"/>
            <a:ext cx="5303520" cy="384048"/>
          </a:xfrm>
          <a:prstGeom prst="rect">
            <a:avLst/>
          </a:prstGeom>
          <a:noFill/>
        </p:spPr>
        <p:txBody>
          <a:bodyPr wrap="square" lIns="9144" rIns="9144" tIns="18288" bIns="18288">
            <a:spAutoFit/>
          </a:bodyPr>
          <a:lstStyle/>
          <a:p>
            <a:pPr algn="l">
              <a:lnSpc>
                <a:spcPct val="112000"/>
              </a:lnSpc>
              <a:spcAft>
                <a:spcPts val="400"/>
              </a:spcAft>
            </a:pPr>
            <a:r>
              <a:rPr sz="1100" b="0">
                <a:solidFill>
                  <a:srgbClr val="A5B9D0"/>
                </a:solidFill>
                <a:latin typeface="Segoe UI"/>
                <a:hlinkClick r:id="rId5"/>
              </a:rPr>
              <a:t>azure/container-apps/scale-app</a:t>
            </a:r>
          </a:p>
        </p:txBody>
      </p:sp>
      <p:sp>
        <p:nvSpPr>
          <p:cNvPr id="18" name="TextBox 17"/>
          <p:cNvSpPr txBox="1"/>
          <p:nvPr/>
        </p:nvSpPr>
        <p:spPr>
          <a:xfrm>
            <a:off x="6236208" y="2240280"/>
            <a:ext cx="5303520" cy="329184"/>
          </a:xfrm>
          <a:prstGeom prst="rect">
            <a:avLst/>
          </a:prstGeom>
          <a:noFill/>
        </p:spPr>
        <p:txBody>
          <a:bodyPr wrap="square" lIns="9144" rIns="9144" tIns="18288" bIns="18288">
            <a:spAutoFit/>
          </a:bodyPr>
          <a:lstStyle/>
          <a:p>
            <a:pPr algn="l">
              <a:lnSpc>
                <a:spcPct val="112000"/>
              </a:lnSpc>
              <a:spcAft>
                <a:spcPts val="400"/>
              </a:spcAft>
            </a:pPr>
            <a:r>
              <a:rPr sz="1900" b="1">
                <a:solidFill>
                  <a:srgbClr val="53D5F5"/>
                </a:solidFill>
                <a:latin typeface="Segoe UI"/>
                <a:hlinkClick r:id="rId6"/>
              </a:rPr>
              <a:t>Cold starts</a:t>
            </a:r>
          </a:p>
        </p:txBody>
      </p:sp>
      <p:sp>
        <p:nvSpPr>
          <p:cNvPr id="19" name="TextBox 18"/>
          <p:cNvSpPr txBox="1"/>
          <p:nvPr/>
        </p:nvSpPr>
        <p:spPr>
          <a:xfrm>
            <a:off x="6236208" y="2596896"/>
            <a:ext cx="5303520" cy="384048"/>
          </a:xfrm>
          <a:prstGeom prst="rect">
            <a:avLst/>
          </a:prstGeom>
          <a:noFill/>
        </p:spPr>
        <p:txBody>
          <a:bodyPr wrap="square" lIns="9144" rIns="9144" tIns="18288" bIns="18288">
            <a:spAutoFit/>
          </a:bodyPr>
          <a:lstStyle/>
          <a:p>
            <a:pPr algn="l">
              <a:lnSpc>
                <a:spcPct val="112000"/>
              </a:lnSpc>
              <a:spcAft>
                <a:spcPts val="400"/>
              </a:spcAft>
            </a:pPr>
            <a:r>
              <a:rPr sz="1100" b="0">
                <a:solidFill>
                  <a:srgbClr val="A5B9D0"/>
                </a:solidFill>
                <a:latin typeface="Segoe UI"/>
                <a:hlinkClick r:id="rId6"/>
              </a:rPr>
              <a:t>azure/container-apps/cold-start</a:t>
            </a:r>
          </a:p>
        </p:txBody>
      </p:sp>
      <p:sp>
        <p:nvSpPr>
          <p:cNvPr id="20" name="TextBox 19"/>
          <p:cNvSpPr txBox="1"/>
          <p:nvPr/>
        </p:nvSpPr>
        <p:spPr>
          <a:xfrm>
            <a:off x="6236208" y="3026664"/>
            <a:ext cx="5303520" cy="329184"/>
          </a:xfrm>
          <a:prstGeom prst="rect">
            <a:avLst/>
          </a:prstGeom>
          <a:noFill/>
        </p:spPr>
        <p:txBody>
          <a:bodyPr wrap="square" lIns="9144" rIns="9144" tIns="18288" bIns="18288">
            <a:spAutoFit/>
          </a:bodyPr>
          <a:lstStyle/>
          <a:p>
            <a:pPr algn="l">
              <a:lnSpc>
                <a:spcPct val="112000"/>
              </a:lnSpc>
              <a:spcAft>
                <a:spcPts val="400"/>
              </a:spcAft>
            </a:pPr>
            <a:r>
              <a:rPr sz="1900" b="1">
                <a:solidFill>
                  <a:srgbClr val="53D5F5"/>
                </a:solidFill>
                <a:latin typeface="Segoe UI"/>
                <a:hlinkClick r:id="rId7"/>
              </a:rPr>
              <a:t>Billing</a:t>
            </a:r>
          </a:p>
        </p:txBody>
      </p:sp>
      <p:sp>
        <p:nvSpPr>
          <p:cNvPr id="21" name="TextBox 20"/>
          <p:cNvSpPr txBox="1"/>
          <p:nvPr/>
        </p:nvSpPr>
        <p:spPr>
          <a:xfrm>
            <a:off x="6236208" y="3383280"/>
            <a:ext cx="5303520" cy="384048"/>
          </a:xfrm>
          <a:prstGeom prst="rect">
            <a:avLst/>
          </a:prstGeom>
          <a:noFill/>
        </p:spPr>
        <p:txBody>
          <a:bodyPr wrap="square" lIns="9144" rIns="9144" tIns="18288" bIns="18288">
            <a:spAutoFit/>
          </a:bodyPr>
          <a:lstStyle/>
          <a:p>
            <a:pPr algn="l">
              <a:lnSpc>
                <a:spcPct val="112000"/>
              </a:lnSpc>
              <a:spcAft>
                <a:spcPts val="400"/>
              </a:spcAft>
            </a:pPr>
            <a:r>
              <a:rPr sz="1100" b="0">
                <a:solidFill>
                  <a:srgbClr val="A5B9D0"/>
                </a:solidFill>
                <a:latin typeface="Segoe UI"/>
                <a:hlinkClick r:id="rId7"/>
              </a:rPr>
              <a:t>azure/container-apps/billing</a:t>
            </a:r>
          </a:p>
        </p:txBody>
      </p:sp>
      <p:sp>
        <p:nvSpPr>
          <p:cNvPr id="22" name="TextBox 21"/>
          <p:cNvSpPr txBox="1"/>
          <p:nvPr/>
        </p:nvSpPr>
        <p:spPr>
          <a:xfrm>
            <a:off x="6236208" y="3813048"/>
            <a:ext cx="5303520" cy="329184"/>
          </a:xfrm>
          <a:prstGeom prst="rect">
            <a:avLst/>
          </a:prstGeom>
          <a:noFill/>
        </p:spPr>
        <p:txBody>
          <a:bodyPr wrap="square" lIns="9144" rIns="9144" tIns="18288" bIns="18288">
            <a:spAutoFit/>
          </a:bodyPr>
          <a:lstStyle/>
          <a:p>
            <a:pPr algn="l">
              <a:lnSpc>
                <a:spcPct val="112000"/>
              </a:lnSpc>
              <a:spcAft>
                <a:spcPts val="400"/>
              </a:spcAft>
            </a:pPr>
            <a:r>
              <a:rPr sz="1900" b="1">
                <a:solidFill>
                  <a:srgbClr val="53D5F5"/>
                </a:solidFill>
                <a:latin typeface="Segoe UI"/>
                <a:hlinkClick r:id="rId8"/>
              </a:rPr>
              <a:t>Health probes</a:t>
            </a:r>
          </a:p>
        </p:txBody>
      </p:sp>
      <p:sp>
        <p:nvSpPr>
          <p:cNvPr id="23" name="TextBox 22"/>
          <p:cNvSpPr txBox="1"/>
          <p:nvPr/>
        </p:nvSpPr>
        <p:spPr>
          <a:xfrm>
            <a:off x="6236208" y="4169663"/>
            <a:ext cx="5303520" cy="384048"/>
          </a:xfrm>
          <a:prstGeom prst="rect">
            <a:avLst/>
          </a:prstGeom>
          <a:noFill/>
        </p:spPr>
        <p:txBody>
          <a:bodyPr wrap="square" lIns="9144" rIns="9144" tIns="18288" bIns="18288">
            <a:spAutoFit/>
          </a:bodyPr>
          <a:lstStyle/>
          <a:p>
            <a:pPr algn="l">
              <a:lnSpc>
                <a:spcPct val="112000"/>
              </a:lnSpc>
              <a:spcAft>
                <a:spcPts val="400"/>
              </a:spcAft>
            </a:pPr>
            <a:r>
              <a:rPr sz="1100" b="0">
                <a:solidFill>
                  <a:srgbClr val="A5B9D0"/>
                </a:solidFill>
                <a:latin typeface="Segoe UI"/>
                <a:hlinkClick r:id="rId8"/>
              </a:rPr>
              <a:t>azure/container-apps/health-probes</a:t>
            </a:r>
          </a:p>
        </p:txBody>
      </p:sp>
      <p:sp>
        <p:nvSpPr>
          <p:cNvPr id="24" name="TextBox 23"/>
          <p:cNvSpPr txBox="1"/>
          <p:nvPr/>
        </p:nvSpPr>
        <p:spPr>
          <a:xfrm>
            <a:off x="6236208" y="4599432"/>
            <a:ext cx="5303520" cy="329184"/>
          </a:xfrm>
          <a:prstGeom prst="rect">
            <a:avLst/>
          </a:prstGeom>
          <a:noFill/>
        </p:spPr>
        <p:txBody>
          <a:bodyPr wrap="square" lIns="9144" rIns="9144" tIns="18288" bIns="18288">
            <a:spAutoFit/>
          </a:bodyPr>
          <a:lstStyle/>
          <a:p>
            <a:pPr algn="l">
              <a:lnSpc>
                <a:spcPct val="112000"/>
              </a:lnSpc>
              <a:spcAft>
                <a:spcPts val="400"/>
              </a:spcAft>
            </a:pPr>
            <a:r>
              <a:rPr sz="1900" b="1">
                <a:solidFill>
                  <a:srgbClr val="53D5F5"/>
                </a:solidFill>
                <a:latin typeface="Segoe UI"/>
                <a:hlinkClick r:id="rId9"/>
              </a:rPr>
              <a:t>Pricing</a:t>
            </a:r>
          </a:p>
        </p:txBody>
      </p:sp>
      <p:sp>
        <p:nvSpPr>
          <p:cNvPr id="25" name="TextBox 24"/>
          <p:cNvSpPr txBox="1"/>
          <p:nvPr/>
        </p:nvSpPr>
        <p:spPr>
          <a:xfrm>
            <a:off x="6236208" y="4956048"/>
            <a:ext cx="5303520" cy="384048"/>
          </a:xfrm>
          <a:prstGeom prst="rect">
            <a:avLst/>
          </a:prstGeom>
          <a:noFill/>
        </p:spPr>
        <p:txBody>
          <a:bodyPr wrap="square" lIns="9144" rIns="9144" tIns="18288" bIns="18288">
            <a:spAutoFit/>
          </a:bodyPr>
          <a:lstStyle/>
          <a:p>
            <a:pPr algn="l">
              <a:lnSpc>
                <a:spcPct val="112000"/>
              </a:lnSpc>
              <a:spcAft>
                <a:spcPts val="400"/>
              </a:spcAft>
            </a:pPr>
            <a:r>
              <a:rPr sz="1100" b="0">
                <a:solidFill>
                  <a:srgbClr val="A5B9D0"/>
                </a:solidFill>
                <a:latin typeface="Segoe UI"/>
                <a:hlinkClick r:id="rId9"/>
              </a:rPr>
              <a:t>azure.microsoft.com/en-us/pricing/details/container-apps/</a:t>
            </a:r>
          </a:p>
        </p:txBody>
      </p:sp>
      <p:sp>
        <p:nvSpPr>
          <p:cNvPr id="26" name="Rounded Rectangle 25"/>
          <p:cNvSpPr/>
          <p:nvPr/>
        </p:nvSpPr>
        <p:spPr>
          <a:xfrm>
            <a:off x="512064" y="5623560"/>
            <a:ext cx="11109960" cy="457200"/>
          </a:xfrm>
          <a:prstGeom prst="roundRect">
            <a:avLst>
              <a:gd name="adj" fmla="val 8000"/>
            </a:avLst>
          </a:prstGeom>
          <a:solidFill>
            <a:srgbClr val="11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687568"/>
            <a:ext cx="10744200" cy="310896"/>
          </a:xfrm>
          <a:prstGeom prst="rect">
            <a:avLst/>
          </a:prstGeom>
          <a:noFill/>
        </p:spPr>
        <p:txBody>
          <a:bodyPr wrap="square" lIns="9144" rIns="9144" tIns="18288" bIns="18288">
            <a:spAutoFit/>
          </a:bodyPr>
          <a:lstStyle/>
          <a:p>
            <a:pPr algn="l">
              <a:lnSpc>
                <a:spcPct val="112000"/>
              </a:lnSpc>
              <a:spcAft>
                <a:spcPts val="400"/>
              </a:spcAft>
            </a:pPr>
            <a:r>
              <a:rPr sz="1500" b="1">
                <a:solidFill>
                  <a:srgbClr val="FFC66D"/>
                </a:solidFill>
                <a:latin typeface="Segoe UI"/>
              </a:rPr>
              <a:t>Recheck the live regional matrix, quota, software-stack guidance and prices before deployment.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53D5F5"/>
      </a:hlink>
      <a:folHlink>
        <a:srgbClr val="70E0B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Container Apps | Serverless GPU</dc:title>
  <dc:subject>Architecture, scaling, economics, and production readiness</dc:subject>
  <dc:creator>AI Course</dc:creator>
  <cp:keywords>Azure, Container Apps, serverless GPU, NVIDIA, T4, A100</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