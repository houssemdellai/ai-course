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B900"/>
                </a:solidFill>
                <a:latin typeface="Segoe UI"/>
              </a:rPr>
              <a:t>UDEMY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29184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Develop &amp; Deploy AI Agents on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32918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with LangChain, Python
and Azure AI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Segoe UI"/>
              </a:rPr>
              <a:t>From zero to a production multi-agent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15 modules · 16 hands-on notebooks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Infrastructure as code (Terraform)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Foundry-hosted AND self-hosted GPU LLMs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Tools · MCP · Dynamic Sessions · Memory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Multi-agent with sub-agents and A2A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Observability with OpenTelemetry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66928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6575"/>
                </a:solidFill>
                <a:latin typeface="Segoe UI"/>
              </a:rPr>
              <a:t>© 2026  ·  Hands-on Azure AI Agents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Course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1   </a:t>
            </a:r>
            <a:r>
              <a:rPr sz="1600">
                <a:solidFill>
                  <a:srgbClr val="1F2D3D"/>
                </a:solidFill>
                <a:latin typeface="Segoe UI"/>
              </a:rPr>
              <a:t>What is an AI Agent?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2a   </a:t>
            </a:r>
            <a:r>
              <a:rPr sz="1600">
                <a:solidFill>
                  <a:srgbClr val="1F2D3D"/>
                </a:solidFill>
                <a:latin typeface="Segoe UI"/>
              </a:rPr>
              <a:t>LLM model in Azure AI Foundry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2b   </a:t>
            </a:r>
            <a:r>
              <a:rPr sz="1600">
                <a:solidFill>
                  <a:srgbClr val="1F2D3D"/>
                </a:solidFill>
                <a:latin typeface="Segoe UI"/>
              </a:rPr>
              <a:t>LLM model in Container Apps with GPU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3   </a:t>
            </a:r>
            <a:r>
              <a:rPr sz="1600">
                <a:solidFill>
                  <a:srgbClr val="1F2D3D"/>
                </a:solidFill>
                <a:latin typeface="Segoe UI"/>
              </a:rPr>
              <a:t>First agent with LangChain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4   </a:t>
            </a:r>
            <a:r>
              <a:rPr sz="1600">
                <a:solidFill>
                  <a:srgbClr val="1F2D3D"/>
                </a:solidFill>
                <a:latin typeface="Segoe UI"/>
              </a:rPr>
              <a:t>First agent in Foundry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5   </a:t>
            </a:r>
            <a:r>
              <a:rPr sz="1600">
                <a:solidFill>
                  <a:srgbClr val="1F2D3D"/>
                </a:solidFill>
                <a:latin typeface="Segoe UI"/>
              </a:rPr>
              <a:t>Adding tools to an agent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6   </a:t>
            </a:r>
            <a:r>
              <a:rPr sz="1600">
                <a:solidFill>
                  <a:srgbClr val="1F2D3D"/>
                </a:solidFill>
                <a:latin typeface="Segoe UI"/>
              </a:rPr>
              <a:t>Working with MCP servers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7   </a:t>
            </a:r>
            <a:r>
              <a:rPr sz="1600">
                <a:solidFill>
                  <a:srgbClr val="1F2D3D"/>
                </a:solidFill>
                <a:latin typeface="Segoe UI"/>
              </a:rPr>
              <a:t>Deploying an MCP server to ACA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8   </a:t>
            </a:r>
            <a:r>
              <a:rPr sz="1600">
                <a:solidFill>
                  <a:srgbClr val="1F2D3D"/>
                </a:solidFill>
                <a:latin typeface="Segoe UI"/>
              </a:rPr>
              <a:t>Adding MCP to an agent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 9   </a:t>
            </a:r>
            <a:r>
              <a:rPr sz="1600">
                <a:solidFill>
                  <a:srgbClr val="1F2D3D"/>
                </a:solidFill>
                <a:latin typeface="Segoe UI"/>
              </a:rPr>
              <a:t>Python dynamic session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10   </a:t>
            </a:r>
            <a:r>
              <a:rPr sz="1600">
                <a:solidFill>
                  <a:srgbClr val="1F2D3D"/>
                </a:solidFill>
                <a:latin typeface="Segoe UI"/>
              </a:rPr>
              <a:t>Shell dynamic session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11   </a:t>
            </a:r>
            <a:r>
              <a:rPr sz="1600">
                <a:solidFill>
                  <a:srgbClr val="1F2D3D"/>
                </a:solidFill>
                <a:latin typeface="Segoe UI"/>
              </a:rPr>
              <a:t>Adding memory to an agent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12   </a:t>
            </a:r>
            <a:r>
              <a:rPr sz="1600">
                <a:solidFill>
                  <a:srgbClr val="1F2D3D"/>
                </a:solidFill>
                <a:latin typeface="Segoe UI"/>
              </a:rPr>
              <a:t>Sub-agent pattern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13   </a:t>
            </a:r>
            <a:r>
              <a:rPr sz="1600">
                <a:solidFill>
                  <a:srgbClr val="1F2D3D"/>
                </a:solidFill>
                <a:latin typeface="Segoe UI"/>
              </a:rPr>
              <a:t>Multi-agents with A2A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14   </a:t>
            </a:r>
            <a:r>
              <a:rPr sz="1600">
                <a:solidFill>
                  <a:srgbClr val="1F2D3D"/>
                </a:solidFill>
                <a:latin typeface="Segoe UI"/>
              </a:rPr>
              <a:t>Logging AI agents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78D4"/>
                </a:solidFill>
                <a:latin typeface="Consolas"/>
              </a:rPr>
              <a:t> 15   </a:t>
            </a:r>
            <a:r>
              <a:rPr sz="1600">
                <a:solidFill>
                  <a:srgbClr val="1F2D3D"/>
                </a:solidFill>
                <a:latin typeface="Segoe UI"/>
              </a:rPr>
              <a:t>Closeout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What is an AI Agent?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The mental model behind everything you'll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Segoe UI"/>
              </a:rPr>
              <a:t>An AI agent is a software system where an LLM autonomously decides — step by step — which tools to call, with which arguments, until a user's goal is reached.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autonomously  →  no hard-coded flow chart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tools         →  functions, APIs, MCP servers, sub-agents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step by step  →  the LLM runs in a loop, feeding tool results back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An LLM can think. An agent can 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38328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user ─►  System prompt + conversation + tool descriptions
             │
             ▼
          ┌──────────────┐
          │     LLM      │  ◄────── tool result
          └──────┬───────┘             │
                 │ "call X(args)"      │
                 ▼                     │
         ┌───────────────┐             │
         │  Tool runtime │ ────────────┘
         └───────────────┘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575"/>
                </a:solidFill>
                <a:latin typeface="Segoe UI"/>
              </a:rPr>
              <a:t>The loop stops when the LLM emits a final assistant message — or when a max-step guardrail fires.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5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🧠  Key concepts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9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1.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Foundry  OR  Gemma on ACA + GPU (modules 2a/2b)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2. Orchestration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LangChain · LangGraph · create_agent (module 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3.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@tool functions · MCP · Dynamic Sessions (5–10)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4. Memory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Checkpointers + Cosmos DB (module 11)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5. 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OpenTelemetry · App Insights · LangSmith (14)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6575"/>
                </a:solidFill>
                <a:latin typeface="Segoe UI"/>
              </a:rPr>
              <a:t>Add multi-agent on top (modules 12 &amp; 13) and you have a production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Agents vs chatbots vs RAG vs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Pick the simplest pattern that works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3152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Single LLM call · Q&amp;A on training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Hard-coded pipeline · Q&amp;A on YOUR docs · cheap, deterministic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You define the DAG · Repeatable business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AI Agent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The LLM picks the next step · Open-ended tasks · branching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Segoe UI"/>
              </a:rPr>
              <a:t>Rule of thumb: use an agent only when you really need autonomy.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LLM model in Azure AI Foundry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Managed model deployment, OpenAI-compatible endpoint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Create an Azure AI Foundry project with Terraform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Deploy a chat model (GPT-class)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Retrieve the endpoint and API key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Call the model from Python via the OpenAI-compatible API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Understand the difference between a raw LLM call and an agent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🧠  Key concepts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3152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Azure AI Foundry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Managed Azure service hosting foundation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Workspace grouping models · datasets · agents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Model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A specific model version exposed with a quota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OpenAI-compatible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Foundry exposes /openai/v1/...  → ChatOpenAI just works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Call the model in 4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langchain_openai import ChatOpenAI
model = ChatOpenAI(
    base_url=f"{foundry_endpoint}/openai/v1",
    api_key=foundry_api_key,
    model=llm_model_deployment_name,
)
model.invoke("Tell me about yourself.")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2a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LLM in Container Apps with Serverless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Self-host Gemma 3 on Azure — scale to zero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Deploy Gemma 3 on ACA with a T4 or A100 serverless GPU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Mount Azure Files for persistent model weights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Expose an OpenAI-compatible endpoint via vLLM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Understand cost trade-offs vs Foundry-hosted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Cost: serverless GPU on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💰  Why self-host? Pay only for the seconds the container actually runs.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VM SKU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VM Regular / mo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VM Spot / mo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ACA Serverless / mo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NC8as_T4_v3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$362 – $1,179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NC24ads_A100_v4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$3,388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$610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$1,836 – $4,987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NC40ads_H100_v5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$6,531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$4,703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6575"/>
                </a:solidFill>
                <a:latin typeface="Segoe UI"/>
              </a:rPr>
              <a:t>⚠  Gemma 3 4B (E4B) weights exceed T4 (16 GB) → use A100 for the 4B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329184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┌────────────────┐    pull weights    ┌──────────────┐
│  ACA container │ ─────────────────► │ Azure Files  │
│   (vLLM)       │ ◄───────────────── │ (50 GB share)│
└────────┬───────┘                    └──────────────┘
         │  OpenAI-compatible /v1
         ▼
    your LangChain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2b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First agent with 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create_agent + ChatOpenAI = your first agent in 10 lines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Install langchain · langchain-openai · langgraph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Wrap any OpenAI-compatible endpoint as ChatOpenAI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Build the simplest possible agent with create_agent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Stream responses token by token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Inspect the message list (Human / AI / System)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simplest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1148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langchain.agents import create_agent
from langchain_openai import ChatOpenAI
model = ChatOpenAI(base_url=..., api_key=..., model=...)
agent = create_agent(model=model, tools=[])
result = agent.invoke(
    {"messages": [{"role": "user", "content": "Hello!"}]}
)
print(result["messages"][-1].content)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First agent in Azure AI Foundry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Persistent Agents — let Azure host the agent for you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Understand Persistent Agents in Foundry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Create an agent declaratively with azure-ai-agents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Start a thread, send messages, stream a run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Inspect the server-side trace in the Foundry portal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Decide: Foundry-hosted vs LangChain-hosted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LangChain agent  vs  Foundry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Two valid choices — often combined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9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Where it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Your process / container  ·  Managed Azure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State / memory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You manage it             ·  Threads stored automatically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Built-in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None — you wire them      ·  Code Interpreter · Bing · Logic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Tracing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LangSmith / OTel          ·  Built-in in the Foundry portal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Portability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Run anywhere Python runs  ·  Azure-only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Create an agent in 6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384048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azure.ai.agents import AgentsClient
from azure.identity import DefaultAzureCredential
client = AgentsClient(endpoint=project_endpoint,
                      credential=DefaultAzureCredential())
agent = client.create_agent(
    model="gpt-4o-mini",
    name="course-agent",
    instructions="You are a friendly Azure expert.",
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Adding tools to an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Make the LLM act, not just talk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Define a tool from a Python function with @tool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Bind multiple tools and let the LLM choose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Read the tool-call trace (debugging)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Handle errors inside tools without crashing the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expanded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47120" cy="438912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User: "Weather in Paris in Fahrenheit?"
       │
       ▼
   LLM ─► call get_weather("Paris")
             │
             ▼   ToolMessage("12°C")
   LLM ─► call celsius_to_fahrenheit(12)
             │
             ▼   ToolMessage("53.6°F")
   LLM ─► "It's 53.6°F in Paris."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Best practices for writing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One clear purpose per tool — the LLM must choose between them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Type hints + docstring → become the JSON schema the LLM sees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Return plain text or simple JSON, not giant nested objects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Catch your own errors and return a string the LLM can understand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Keep tool count manageable (≤ ~15 in one agent — beyond that, use sub-agents)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Working with MCP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Model Context Protocol — USB for AI tools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What is MCP?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Segoe UI"/>
              </a:rPr>
              <a:t>MCP is a JSON-RPC protocol that lets an LLM application discover and call tools, read resources and use prompts from a separate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Segoe UI"/>
              </a:rPr>
              <a:t>MCP is to AI agents what USB is to peripherals.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┌──────────────┐  list_tools  ┌──────────────┐
│  LLM client  │ ───────────► │  MCP server  │
│   (agent)    │ ◄─────────── │              │
└──────────────┘  call_tool   └──────────────┘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Primitives and transports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🧩  Three primitives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A function the LLM can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Resource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A blob of context the LLM reads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A reusable prompt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🚚  Transports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Segoe UI"/>
              </a:rPr>
              <a:t>•  stdio          → same machine; great for demos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Segoe UI"/>
              </a:rPr>
              <a:t>•  HTTP+SSE       → legacy remote transport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D3D"/>
                </a:solidFill>
                <a:latin typeface="Segoe UI"/>
              </a:rPr>
              <a:t>•  Streamable HTTP → recommended (one /mcp endpoint)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 10-line MCP server with FastMCP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02336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fastmcp import FastMCP
mcp = FastMCP("mini-demo")
@mcp.tool
def add(a: int, b: int) -&gt; int:
    """Return the sum of a and b."""
    return a + b
if __name__ == "__main__":
    mcp.run()  # stdio by default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Deploying an MCP server to Container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Production-ready remote tools, with serverless ingress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Anatomy of an MCP server (transport, tools, resources)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Read the Terraform module aca_mcp_server_web_search.tf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Build &amp; push the container image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Verify the /mcp endpoint with curl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Wire identity, ingress and secrets in ACA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47120" cy="347472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┌──────────────────────┐    HTTPS /mcp     ┌──────────────────────┐
│  LangChain Agent     │ ────────────────► │  ACA MCP Server      │
│  (your laptop / app) │ ◄──────────────── │  (Streamable HTTP)   │
└──────────────────────┘   SSE stream      └──────────┬───────────┘
                                                      │
                                                      ▼
                                            External APIs (Bing, …)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Adding an MCP server to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One agent · many MCP servers · zero glue code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Connect to the public Microsoft Docs MCP server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Connect to the MCP server you deployed in module 7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Use langchain-mcp-adapters to convert MCP tools to LangChain tools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Pass them to create_agent like any other tool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Streamable HTTP vs stdio — when to use which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47120" cy="402336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              ┌──────────────────────────┐
                  │  Microsoft Learn MCP     │
       ┌── tools─►│  (public)                │
       │          └──────────────────────────┘
 ┌─────┴───┐
 │  Agent  │
 └─────┬───┘      ┌──────────────────────────┐
       │          │  YOUR MCP Server         │
       └── tools─►│  (Container Apps)        │
                  └──────────────────────────┘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Python dynamic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A sandboxed code interpreter for your agent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Why agents need sandboxed code execution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Provision an ACA Dynamic Sessions pool (PythonLTS)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Use SessionsPythonREPLTool as an agent tool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Upload files · run code · download results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Reason about session lifetime, isolation and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Why NOT just exec() locally?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🔐  Dynamic Sessions = Hyper-V isolation on demand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9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Local exec  vs  Dynamic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Malicious code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Runs on YOUR machine  ❌    →   Sandboxed Hyper-V VM  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Package pollution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Pollutes your env             →   Fresh container per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Resource hogging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Crashes your laptop           →   Sandbox killed at idle TTL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Multi-tenant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Impossible                    →   One session per user /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Using it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36576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langchain_azure_dynamic_sessions.tools import SessionsPythonREPLTool
from azure.identity import AzureCliCredential
tool = SessionsPythonREPLTool(
    pool_management_endpoint=sessionpool_endpoint,
    access_token_provider=lambda: cred.get_token(
        "https://dynamicsessions.io/.default").token,
)
agent = create_agent(model=model, tools=[tool])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Shell dynamic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The agent gets a full Linux box — and you stay safe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Provision a Custom-image Dynamic Sessions pool (Bash)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Use SessionsBashTool as an agent tool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Let the agent install packages, run Flask, fetch URLs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Download generated files back to your laptop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Differences vs the Python session — more freedom, more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Power vs Safety — production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Scope the Managed Identity tightly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Place the pool in a private subnet with NSG egress controls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Short idle TTL on the pool — cheaper AND safer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Prompt-level guardrails (system message: "do not …")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Audit the bash transcripts (App Insights — see module 14)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Adding memory to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Short-term threads, long-term user memory, durable in Cosmos DB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Difference between short-term (thread) and long-term memory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Add an in-memory MemorySaver checkpointer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Persist conversation state to Azure Cosmos DB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Use thread_id to switch between concurrent conversations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Summarize old messages to control prompt size &amp;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Two flavors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🧠  Key concepts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1219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Short-term (thread)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Lives inside one conversation, keyed by thread_id, stored by the Checkpointer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Long-term (user memory)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"User likes responses in French", company = Contoso, … stored by the Store (vector DB / KV)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Plug a checkpointer into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36576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langgraph.checkpoint.memory import MemorySaver
agent = create_agent(model=model, tools=[...],
                     checkpointer=MemorySaver())
config = {"configurable": {"thread_id": "alice-1"}}
agent.invoke({"messages": [...]}, config=config)
# Same thread_id → remembers. New thread_id → fresh chat.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The sub-agent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Decompose one big agent into a supervisor + specialists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Recognize when one agent is too big (too many tools)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Refactor into a supervisor + specialist sub-agents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Expose each sub-agent as a @tool of the supervisor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Pass state between supervisor and sub-agents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Reason about tokens, latency and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47120" cy="438912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                      ┌─────────────────────┐
                       │  Supervisor agent   │
                       │  (router LLM)       │
                       └──┬───────────┬──────┘
                          │           │
             call_research│           │call_coder
                          ▼           ▼
                ┌────────────┐  ┌────────────┐
                │ Researcher │  │ Coder      │
                │ sub-agent  │  │ sub-agent  │
                │ + web tool │  │ + Python   │
                │            │  │   session  │
                └────────────┘  └────────────┘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Multi-agents with A2A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Cross-process · cross-language · cross-team agent ecosystems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🎯 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What A2A is and how it complements MCP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Read an agent card at /.well-known/agent.json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Expose a LangChain agent as an A2A server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Call a remote agent using the a2a Python SDK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Pick A2A vs MCP vs sub-agent for your topology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MCP  vs  A2A — they are not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🧠  Key concepts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3152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Who's on the other side?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Tool server (no autonomy)   ·   Another AGENT (own loop)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Protocol shape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JSON-RPC                    ·   HTTP tasks/send · tasks/get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Configured client-side      ·   /.well-known/agent.json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Stateful?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No                          ·   Yes (tasks have status)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An agent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384048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{
  "name": "web-research-agent",
  "description": "Researches a topic and returns a summary.",
  "url": "https://research.contoso.com",
  "capabilities": { "streaming": true },
  "skills": [
    { "id": "research", "name": "Web research" }
  ]
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Logging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See what your agents do — in real time and in production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three observability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Segoe UI"/>
              </a:rPr>
              <a:t>🪜  For agents, traces are king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Free-form text events   →   print · logging · ACA log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Metrics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Numeric counters        →   Azure Monitor · Prometheus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Segoe UI"/>
                        </a:rPr>
                        <a:t>Spans linked into a tree →  OpenTelemetry → App Insights / LangSmith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App Insights setup in two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36576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from azure.monitor.opentelemetry import configure_azure_monitor
from opentelemetry.instrumentation.langchain import LangchainInstrumentor
configure_azure_monitor(enable_live_metrics=True)
LangchainInstrumentor().instrument()
# Every LangChain run now appears in App Insights
# → Transaction Search · End-to-end transaction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Agent KPIs to track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Task success rate — did the user actually get what they asked for?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Steps per task — outliers reveal the LLM looping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Tool error rate — alert if &gt; 5 % for 10 minutes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Tokens per task — direct $ cost (cost guardrails)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p95 latency — user experience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Refusal rate — safety filter too aggressive?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Closeout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3F4F6"/>
                </a:solidFill>
                <a:latin typeface="Segoe UI"/>
              </a:rPr>
              <a:t>What you built, what to build next, how to tear down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What you can now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 LangChain agent calling Foundry or your self-hosted Gemma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Foundry Persistent Agents with managed threads &amp; tools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Local @tool functions AND remote MCP servers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An agent that writes and runs code in a sandboxed Linux box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Conversation memory in Cosmos DB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 supervisor agent orchestrating sub-agents (local) and A2A peers (remote)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All of it logged in App Insights &amp; LangSmith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Suggested next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Knowledge-base agent  →  MCP + Azure AI Search + memory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Junior-dev agent      →  Shell session + GitHub MCP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Customer-support orchestrator  →  3 A2A peers + a router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D3D"/>
                </a:solidFill>
                <a:latin typeface="Segoe UI"/>
              </a:rPr>
              <a:t>•  DevOps agent          →  ARM/Bicep tools + Azure Monitor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Tear down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terraform -chdir=./infra destroy -auto-approve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102A43"/>
                </a:solidFill>
                <a:latin typeface="Segoe UI"/>
              </a:rPr>
              <a:t>GPU containers and Cosmos DB cost real money.
Destroy when not in use — rebuild later with terraform apply.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B900"/>
                </a:solidFill>
                <a:latin typeface="Segoe UI"/>
              </a:rPr>
              <a:t>🙏  Thank you — please rate the course on Udemy!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Develop &amp; Deploy AI Agents on Azure  ·  LangChain · Python · Foundry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B900"/>
                </a:solidFill>
                <a:latin typeface="Segoe UI"/>
              </a:rPr>
              <a:t>MODULE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